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947948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EFE6"/>
        </a:solidFill>
        <a:effectLst/>
      </p:bgPr>
    </p:bg>
    <p:spTree>
      <p:nvGrpSpPr>
        <p:cNvPr id="1" name=""/>
        <p:cNvGrpSpPr/>
        <p:nvPr/>
      </p:nvGrpSpPr>
      <p:grpSpPr>
        <a:xfrm>
          <a:off x="0" y="0"/>
          <a:ext cx="0" cy="0"/>
          <a:chOff x="0" y="0"/>
          <a:chExt cx="0" cy="0"/>
        </a:xfrm>
      </p:grpSpPr>
      <p:sp>
        <p:nvSpPr>
          <p:cNvPr id="2" name="Shape 0"/>
          <p:cNvSpPr/>
          <p:nvPr/>
        </p:nvSpPr>
        <p:spPr>
          <a:xfrm>
            <a:off x="6705432" y="0"/>
            <a:ext cx="5486263" cy="6858000"/>
          </a:xfrm>
          <a:prstGeom prst="rect">
            <a:avLst/>
          </a:prstGeom>
          <a:solidFill>
            <a:srgbClr val="B85042"/>
          </a:solidFill>
          <a:ln/>
        </p:spPr>
      </p:sp>
      <p:sp>
        <p:nvSpPr>
          <p:cNvPr id="3" name="Shape 1"/>
          <p:cNvSpPr/>
          <p:nvPr/>
        </p:nvSpPr>
        <p:spPr>
          <a:xfrm>
            <a:off x="0" y="1280160"/>
            <a:ext cx="12191695" cy="54864"/>
          </a:xfrm>
          <a:prstGeom prst="rect">
            <a:avLst/>
          </a:prstGeom>
          <a:solidFill>
            <a:srgbClr val="C9A961"/>
          </a:solidFill>
          <a:ln/>
        </p:spPr>
      </p:sp>
      <p:sp>
        <p:nvSpPr>
          <p:cNvPr id="4" name="Text 2"/>
          <p:cNvSpPr/>
          <p:nvPr/>
        </p:nvSpPr>
        <p:spPr>
          <a:xfrm>
            <a:off x="640080" y="548640"/>
            <a:ext cx="6400800" cy="274320"/>
          </a:xfrm>
          <a:prstGeom prst="rect">
            <a:avLst/>
          </a:prstGeom>
          <a:noFill/>
          <a:ln/>
        </p:spPr>
        <p:txBody>
          <a:bodyPr wrap="square" rtlCol="0" anchor="ctr"/>
          <a:lstStyle/>
          <a:p>
            <a:pPr marL="0" indent="0">
              <a:buNone/>
            </a:pPr>
            <a:r>
              <a:rPr lang="en-US" sz="1000" b="1" kern="0" spc="500" dirty="0">
                <a:solidFill>
                  <a:srgbClr val="1A1A1A"/>
                </a:solidFill>
                <a:latin typeface="Georgia" pitchFamily="34" charset="0"/>
                <a:ea typeface="Georgia" pitchFamily="34" charset="-122"/>
                <a:cs typeface="Georgia" pitchFamily="34" charset="-120"/>
              </a:rPr>
              <a:t>UNIVERSITY OF BUEA  ·  CEF 440  ·  2025 / 2026</a:t>
            </a:r>
            <a:endParaRPr lang="en-US" sz="1000" dirty="0"/>
          </a:p>
        </p:txBody>
      </p:sp>
      <p:sp>
        <p:nvSpPr>
          <p:cNvPr id="5" name="Text 3"/>
          <p:cNvSpPr/>
          <p:nvPr/>
        </p:nvSpPr>
        <p:spPr>
          <a:xfrm>
            <a:off x="640080" y="1600200"/>
            <a:ext cx="6400800" cy="1097280"/>
          </a:xfrm>
          <a:prstGeom prst="rect">
            <a:avLst/>
          </a:prstGeom>
          <a:noFill/>
          <a:ln/>
        </p:spPr>
        <p:txBody>
          <a:bodyPr wrap="square" rtlCol="0" anchor="ctr"/>
          <a:lstStyle/>
          <a:p>
            <a:pPr marL="0" indent="0">
              <a:buNone/>
            </a:pPr>
            <a:r>
              <a:rPr lang="en-US" sz="5600" b="1" dirty="0">
                <a:solidFill>
                  <a:srgbClr val="1A1A1A"/>
                </a:solidFill>
                <a:latin typeface="Georgia" pitchFamily="34" charset="0"/>
                <a:ea typeface="Georgia" pitchFamily="34" charset="-122"/>
                <a:cs typeface="Georgia" pitchFamily="34" charset="-120"/>
              </a:rPr>
              <a:t>Requirement</a:t>
            </a:r>
            <a:endParaRPr lang="en-US" sz="5600" dirty="0"/>
          </a:p>
        </p:txBody>
      </p:sp>
      <p:sp>
        <p:nvSpPr>
          <p:cNvPr id="6" name="Text 4"/>
          <p:cNvSpPr/>
          <p:nvPr/>
        </p:nvSpPr>
        <p:spPr>
          <a:xfrm>
            <a:off x="640080" y="2606040"/>
            <a:ext cx="6400800" cy="1097280"/>
          </a:xfrm>
          <a:prstGeom prst="rect">
            <a:avLst/>
          </a:prstGeom>
          <a:noFill/>
          <a:ln/>
        </p:spPr>
        <p:txBody>
          <a:bodyPr wrap="square" rtlCol="0" anchor="ctr"/>
          <a:lstStyle/>
          <a:p>
            <a:pPr marL="0" indent="0">
              <a:buNone/>
            </a:pPr>
            <a:r>
              <a:rPr lang="en-US" sz="5600" b="1" i="1" dirty="0">
                <a:solidFill>
                  <a:srgbClr val="B85042"/>
                </a:solidFill>
                <a:latin typeface="Georgia" pitchFamily="34" charset="0"/>
                <a:ea typeface="Georgia" pitchFamily="34" charset="-122"/>
                <a:cs typeface="Georgia" pitchFamily="34" charset="-120"/>
              </a:rPr>
              <a:t>Gathering.</a:t>
            </a:r>
            <a:endParaRPr lang="en-US" sz="5600" dirty="0"/>
          </a:p>
        </p:txBody>
      </p:sp>
      <p:sp>
        <p:nvSpPr>
          <p:cNvPr id="7" name="Text 5"/>
          <p:cNvSpPr/>
          <p:nvPr/>
        </p:nvSpPr>
        <p:spPr>
          <a:xfrm>
            <a:off x="640080" y="3977640"/>
            <a:ext cx="6400800" cy="365760"/>
          </a:xfrm>
          <a:prstGeom prst="rect">
            <a:avLst/>
          </a:prstGeom>
          <a:noFill/>
          <a:ln/>
        </p:spPr>
        <p:txBody>
          <a:bodyPr wrap="square" rtlCol="0" anchor="ctr"/>
          <a:lstStyle/>
          <a:p>
            <a:pPr marL="0" indent="0">
              <a:buNone/>
            </a:pPr>
            <a:r>
              <a:rPr lang="en-US" sz="1600" i="1" dirty="0">
                <a:solidFill>
                  <a:srgbClr val="2B2B2B"/>
                </a:solidFill>
                <a:latin typeface="Georgia" pitchFamily="34" charset="0"/>
                <a:ea typeface="Georgia" pitchFamily="34" charset="-122"/>
                <a:cs typeface="Georgia" pitchFamily="34" charset="-120"/>
              </a:rPr>
              <a:t>A field study toward the design of a mobile application for</a:t>
            </a:r>
            <a:endParaRPr lang="en-US" sz="1600" dirty="0"/>
          </a:p>
        </p:txBody>
      </p:sp>
      <p:sp>
        <p:nvSpPr>
          <p:cNvPr id="8" name="Text 6"/>
          <p:cNvSpPr/>
          <p:nvPr/>
        </p:nvSpPr>
        <p:spPr>
          <a:xfrm>
            <a:off x="640080" y="4297680"/>
            <a:ext cx="6400800" cy="365760"/>
          </a:xfrm>
          <a:prstGeom prst="rect">
            <a:avLst/>
          </a:prstGeom>
          <a:noFill/>
          <a:ln/>
        </p:spPr>
        <p:txBody>
          <a:bodyPr wrap="square" rtlCol="0" anchor="ctr"/>
          <a:lstStyle/>
          <a:p>
            <a:pPr marL="0" indent="0">
              <a:buNone/>
            </a:pPr>
            <a:r>
              <a:rPr lang="en-US" sz="1600" i="1" dirty="0">
                <a:solidFill>
                  <a:srgbClr val="2B2B2B"/>
                </a:solidFill>
                <a:latin typeface="Georgia" pitchFamily="34" charset="0"/>
                <a:ea typeface="Georgia" pitchFamily="34" charset="-122"/>
                <a:cs typeface="Georgia" pitchFamily="34" charset="-120"/>
              </a:rPr>
              <a:t>car fault diagnosis in Cameroon.</a:t>
            </a:r>
            <a:endParaRPr lang="en-US" sz="1600" dirty="0"/>
          </a:p>
        </p:txBody>
      </p:sp>
      <p:sp>
        <p:nvSpPr>
          <p:cNvPr id="9" name="Text 7"/>
          <p:cNvSpPr/>
          <p:nvPr/>
        </p:nvSpPr>
        <p:spPr>
          <a:xfrm>
            <a:off x="6979752" y="1371600"/>
            <a:ext cx="5029200" cy="4114800"/>
          </a:xfrm>
          <a:prstGeom prst="rect">
            <a:avLst/>
          </a:prstGeom>
          <a:noFill/>
          <a:ln/>
        </p:spPr>
        <p:txBody>
          <a:bodyPr wrap="square" rtlCol="0" anchor="t"/>
          <a:lstStyle/>
          <a:p>
            <a:pPr marL="0" indent="0" algn="l">
              <a:buNone/>
            </a:pPr>
            <a:r>
              <a:rPr lang="en-US" sz="26000" b="1" dirty="0">
                <a:solidFill>
                  <a:srgbClr val="F5EFE6"/>
                </a:solidFill>
                <a:latin typeface="Georgia" pitchFamily="34" charset="0"/>
                <a:ea typeface="Georgia" pitchFamily="34" charset="-122"/>
                <a:cs typeface="Georgia" pitchFamily="34" charset="-120"/>
              </a:rPr>
              <a:t>02</a:t>
            </a:r>
            <a:endParaRPr lang="en-US" sz="26000" dirty="0"/>
          </a:p>
        </p:txBody>
      </p:sp>
      <p:sp>
        <p:nvSpPr>
          <p:cNvPr id="10" name="Text 8"/>
          <p:cNvSpPr/>
          <p:nvPr/>
        </p:nvSpPr>
        <p:spPr>
          <a:xfrm>
            <a:off x="7162632" y="914400"/>
            <a:ext cx="4114800" cy="1691640"/>
          </a:xfrm>
          <a:prstGeom prst="rect">
            <a:avLst/>
          </a:prstGeom>
          <a:noFill/>
          <a:ln/>
        </p:spPr>
        <p:txBody>
          <a:bodyPr wrap="square" rtlCol="0" anchor="ctr"/>
          <a:lstStyle/>
          <a:p>
            <a:pPr marL="0" indent="0">
              <a:buNone/>
            </a:pPr>
            <a:r>
              <a:rPr lang="en-US" sz="3200" b="1" kern="0" spc="800" dirty="0">
                <a:solidFill>
                  <a:srgbClr val="F5EFE6"/>
                </a:solidFill>
                <a:latin typeface="Georgia" pitchFamily="34" charset="0"/>
                <a:ea typeface="Georgia" pitchFamily="34" charset="-122"/>
                <a:cs typeface="Georgia" pitchFamily="34" charset="-120"/>
              </a:rPr>
              <a:t>TASK</a:t>
            </a:r>
            <a:endParaRPr lang="en-US" sz="3200" dirty="0"/>
          </a:p>
        </p:txBody>
      </p:sp>
      <p:sp>
        <p:nvSpPr>
          <p:cNvPr id="12" name="Text 10"/>
          <p:cNvSpPr/>
          <p:nvPr/>
        </p:nvSpPr>
        <p:spPr>
          <a:xfrm>
            <a:off x="7162632" y="5440680"/>
            <a:ext cx="4754880" cy="274320"/>
          </a:xfrm>
          <a:prstGeom prst="rect">
            <a:avLst/>
          </a:prstGeom>
          <a:noFill/>
          <a:ln/>
        </p:spPr>
        <p:txBody>
          <a:bodyPr wrap="square" rtlCol="0" anchor="ctr"/>
          <a:lstStyle/>
          <a:p>
            <a:pPr marL="0" indent="0">
              <a:buNone/>
            </a:pPr>
            <a:r>
              <a:rPr lang="en-US" sz="1100" dirty="0">
                <a:solidFill>
                  <a:srgbClr val="F5EFE6"/>
                </a:solidFill>
                <a:latin typeface="Calibri" pitchFamily="34" charset="0"/>
                <a:ea typeface="Calibri" pitchFamily="34" charset="-122"/>
                <a:cs typeface="Calibri" pitchFamily="34" charset="-120"/>
              </a:rPr>
              <a:t>Stakeholders · Techniques · Data Gathering</a:t>
            </a:r>
            <a:endParaRPr lang="en-US" sz="1100" dirty="0"/>
          </a:p>
        </p:txBody>
      </p:sp>
      <p:sp>
        <p:nvSpPr>
          <p:cNvPr id="13" name="Text 11"/>
          <p:cNvSpPr/>
          <p:nvPr/>
        </p:nvSpPr>
        <p:spPr>
          <a:xfrm>
            <a:off x="7162632" y="5715000"/>
            <a:ext cx="4754880" cy="274320"/>
          </a:xfrm>
          <a:prstGeom prst="rect">
            <a:avLst/>
          </a:prstGeom>
          <a:noFill/>
          <a:ln/>
        </p:spPr>
        <p:txBody>
          <a:bodyPr wrap="square" rtlCol="0" anchor="ctr"/>
          <a:lstStyle/>
          <a:p>
            <a:pPr marL="0" indent="0">
              <a:buNone/>
            </a:pPr>
            <a:r>
              <a:rPr lang="en-US" sz="1100" dirty="0">
                <a:solidFill>
                  <a:srgbClr val="F5EFE6"/>
                </a:solidFill>
                <a:latin typeface="Calibri" pitchFamily="34" charset="0"/>
                <a:ea typeface="Calibri" pitchFamily="34" charset="-122"/>
                <a:cs typeface="Calibri" pitchFamily="34" charset="-120"/>
              </a:rPr>
              <a:t>Data Cleaning · User Reluctance Assessment</a:t>
            </a:r>
            <a:endParaRPr lang="en-US" sz="1100" dirty="0"/>
          </a:p>
        </p:txBody>
      </p:sp>
      <p:sp>
        <p:nvSpPr>
          <p:cNvPr id="14" name="Text 12"/>
          <p:cNvSpPr/>
          <p:nvPr/>
        </p:nvSpPr>
        <p:spPr>
          <a:xfrm>
            <a:off x="640080" y="6126480"/>
            <a:ext cx="4572000" cy="228600"/>
          </a:xfrm>
          <a:prstGeom prst="rect">
            <a:avLst/>
          </a:prstGeom>
          <a:noFill/>
          <a:ln/>
        </p:spPr>
        <p:txBody>
          <a:bodyPr wrap="square" rtlCol="0" anchor="ctr"/>
          <a:lstStyle/>
          <a:p>
            <a:pPr marL="0" indent="0">
              <a:buNone/>
            </a:pPr>
            <a:r>
              <a:rPr lang="en-US" sz="900" b="1" kern="0" spc="400" dirty="0">
                <a:solidFill>
                  <a:srgbClr val="5C5C5C"/>
                </a:solidFill>
                <a:latin typeface="Georgia" pitchFamily="34" charset="0"/>
                <a:ea typeface="Georgia" pitchFamily="34" charset="-122"/>
                <a:cs typeface="Georgia" pitchFamily="34" charset="-120"/>
              </a:rPr>
              <a:t>PRESENTED BY</a:t>
            </a:r>
            <a:endParaRPr lang="en-US" sz="900" dirty="0"/>
          </a:p>
        </p:txBody>
      </p:sp>
      <p:sp>
        <p:nvSpPr>
          <p:cNvPr id="15" name="Text 13"/>
          <p:cNvSpPr/>
          <p:nvPr/>
        </p:nvSpPr>
        <p:spPr>
          <a:xfrm>
            <a:off x="640080" y="6355080"/>
            <a:ext cx="5486400" cy="274320"/>
          </a:xfrm>
          <a:prstGeom prst="rect">
            <a:avLst/>
          </a:prstGeom>
          <a:noFill/>
          <a:ln/>
        </p:spPr>
        <p:txBody>
          <a:bodyPr wrap="square" rtlCol="0" anchor="ctr"/>
          <a:lstStyle/>
          <a:p>
            <a:pPr marL="0" indent="0">
              <a:buNone/>
            </a:pPr>
            <a:r>
              <a:rPr lang="en-US" sz="1200" i="1" dirty="0">
                <a:solidFill>
                  <a:srgbClr val="1A1A1A"/>
                </a:solidFill>
                <a:latin typeface="Calibri" pitchFamily="34" charset="0"/>
                <a:ea typeface="Calibri" pitchFamily="34" charset="-122"/>
                <a:cs typeface="Calibri" pitchFamily="34" charset="-120"/>
              </a:rPr>
              <a:t>Group 1 · Department of Computer Engineering</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EFE6"/>
        </a:solidFill>
        <a:effectLst/>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B85042"/>
          </a:solidFill>
          <a:ln/>
        </p:spPr>
      </p:sp>
      <p:sp>
        <p:nvSpPr>
          <p:cNvPr id="3" name="Shape 1"/>
          <p:cNvSpPr/>
          <p:nvPr/>
        </p:nvSpPr>
        <p:spPr>
          <a:xfrm>
            <a:off x="640080" y="411480"/>
            <a:ext cx="10911535" cy="0"/>
          </a:xfrm>
          <a:prstGeom prst="line">
            <a:avLst/>
          </a:prstGeom>
          <a:noFill/>
          <a:ln w="9525">
            <a:solidFill>
              <a:srgbClr val="1A1A1A"/>
            </a:solidFill>
            <a:prstDash val="solid"/>
          </a:ln>
        </p:spPr>
      </p:sp>
      <p:sp>
        <p:nvSpPr>
          <p:cNvPr id="4" name="Text 2"/>
          <p:cNvSpPr/>
          <p:nvPr/>
        </p:nvSpPr>
        <p:spPr>
          <a:xfrm>
            <a:off x="640080" y="137160"/>
            <a:ext cx="6400800" cy="274320"/>
          </a:xfrm>
          <a:prstGeom prst="rect">
            <a:avLst/>
          </a:prstGeom>
          <a:noFill/>
          <a:ln/>
        </p:spPr>
        <p:txBody>
          <a:bodyPr wrap="square" rtlCol="0" anchor="ctr"/>
          <a:lstStyle/>
          <a:p>
            <a:pPr marL="0" indent="0">
              <a:buNone/>
            </a:pPr>
            <a:r>
              <a:rPr lang="en-US" sz="900" b="1" kern="0" spc="400" dirty="0">
                <a:solidFill>
                  <a:srgbClr val="1A1A1A"/>
                </a:solidFill>
                <a:latin typeface="Georgia" pitchFamily="34" charset="0"/>
                <a:ea typeface="Georgia" pitchFamily="34" charset="-122"/>
                <a:cs typeface="Georgia" pitchFamily="34" charset="-120"/>
              </a:rPr>
              <a:t>CONTENTS</a:t>
            </a:r>
            <a:endParaRPr lang="en-US" sz="900" dirty="0"/>
          </a:p>
        </p:txBody>
      </p:sp>
      <p:sp>
        <p:nvSpPr>
          <p:cNvPr id="5" name="Text 3"/>
          <p:cNvSpPr/>
          <p:nvPr/>
        </p:nvSpPr>
        <p:spPr>
          <a:xfrm>
            <a:off x="7894015" y="137160"/>
            <a:ext cx="3657600" cy="274320"/>
          </a:xfrm>
          <a:prstGeom prst="rect">
            <a:avLst/>
          </a:prstGeom>
          <a:noFill/>
          <a:ln/>
        </p:spPr>
        <p:txBody>
          <a:bodyPr wrap="square" rtlCol="0" anchor="ctr"/>
          <a:lstStyle/>
          <a:p>
            <a:pPr marL="0" indent="0" algn="r">
              <a:buNone/>
            </a:pPr>
            <a:r>
              <a:rPr lang="en-US" sz="900" b="1" kern="0" spc="400" dirty="0">
                <a:solidFill>
                  <a:srgbClr val="5C5C5C"/>
                </a:solidFill>
                <a:latin typeface="Georgia" pitchFamily="34" charset="0"/>
                <a:ea typeface="Georgia" pitchFamily="34" charset="-122"/>
                <a:cs typeface="Georgia" pitchFamily="34" charset="-120"/>
              </a:rPr>
              <a:t>CAR FAULT DIAGNOSIS</a:t>
            </a:r>
            <a:endParaRPr lang="en-US" sz="900" dirty="0"/>
          </a:p>
        </p:txBody>
      </p:sp>
      <p:sp>
        <p:nvSpPr>
          <p:cNvPr id="6" name="Shape 4"/>
          <p:cNvSpPr/>
          <p:nvPr/>
        </p:nvSpPr>
        <p:spPr>
          <a:xfrm>
            <a:off x="640080" y="6446520"/>
            <a:ext cx="10911535" cy="0"/>
          </a:xfrm>
          <a:prstGeom prst="line">
            <a:avLst/>
          </a:prstGeom>
          <a:noFill/>
          <a:ln w="6350">
            <a:solidFill>
              <a:srgbClr val="1A1A1A"/>
            </a:solidFill>
            <a:prstDash val="solid"/>
          </a:ln>
        </p:spPr>
      </p:sp>
      <p:sp>
        <p:nvSpPr>
          <p:cNvPr id="7" name="Text 5"/>
          <p:cNvSpPr/>
          <p:nvPr/>
        </p:nvSpPr>
        <p:spPr>
          <a:xfrm>
            <a:off x="5547208" y="6510528"/>
            <a:ext cx="1097280" cy="274320"/>
          </a:xfrm>
          <a:prstGeom prst="rect">
            <a:avLst/>
          </a:prstGeom>
          <a:noFill/>
          <a:ln/>
        </p:spPr>
        <p:txBody>
          <a:bodyPr wrap="square" rtlCol="0" anchor="ctr"/>
          <a:lstStyle/>
          <a:p>
            <a:pPr marL="0" indent="0" algn="ctr">
              <a:buNone/>
            </a:pPr>
            <a:r>
              <a:rPr lang="en-US" sz="900" i="1" dirty="0">
                <a:solidFill>
                  <a:srgbClr val="5C5C5C"/>
                </a:solidFill>
                <a:latin typeface="Georgia" pitchFamily="34" charset="0"/>
                <a:ea typeface="Georgia" pitchFamily="34" charset="-122"/>
                <a:cs typeface="Georgia" pitchFamily="34" charset="-120"/>
              </a:rPr>
              <a:t>— 02 —</a:t>
            </a:r>
            <a:endParaRPr lang="en-US" sz="900" dirty="0"/>
          </a:p>
        </p:txBody>
      </p:sp>
      <p:sp>
        <p:nvSpPr>
          <p:cNvPr id="8" name="Text 6"/>
          <p:cNvSpPr/>
          <p:nvPr/>
        </p:nvSpPr>
        <p:spPr>
          <a:xfrm>
            <a:off x="640080" y="777240"/>
            <a:ext cx="4572000" cy="274320"/>
          </a:xfrm>
          <a:prstGeom prst="rect">
            <a:avLst/>
          </a:prstGeom>
          <a:noFill/>
          <a:ln/>
        </p:spPr>
        <p:txBody>
          <a:bodyPr wrap="square" rtlCol="0" anchor="ctr"/>
          <a:lstStyle/>
          <a:p>
            <a:pPr marL="0" indent="0">
              <a:buNone/>
            </a:pPr>
            <a:r>
              <a:rPr lang="en-US" sz="1100" b="1" kern="0" spc="600" dirty="0">
                <a:solidFill>
                  <a:srgbClr val="B85042"/>
                </a:solidFill>
                <a:latin typeface="Georgia" pitchFamily="34" charset="0"/>
                <a:ea typeface="Georgia" pitchFamily="34" charset="-122"/>
                <a:cs typeface="Georgia" pitchFamily="34" charset="-120"/>
              </a:rPr>
              <a:t>INSIDE THIS DECK</a:t>
            </a:r>
            <a:endParaRPr lang="en-US" sz="1100" dirty="0"/>
          </a:p>
        </p:txBody>
      </p:sp>
      <p:sp>
        <p:nvSpPr>
          <p:cNvPr id="9" name="Text 7"/>
          <p:cNvSpPr/>
          <p:nvPr/>
        </p:nvSpPr>
        <p:spPr>
          <a:xfrm>
            <a:off x="640080" y="1097280"/>
            <a:ext cx="10058400" cy="914400"/>
          </a:xfrm>
          <a:prstGeom prst="rect">
            <a:avLst/>
          </a:prstGeom>
          <a:noFill/>
          <a:ln/>
        </p:spPr>
        <p:txBody>
          <a:bodyPr wrap="square" rtlCol="0" anchor="ctr"/>
          <a:lstStyle/>
          <a:p>
            <a:pPr marL="0" indent="0" algn="l">
              <a:buNone/>
            </a:pPr>
            <a:r>
              <a:rPr lang="en-US" sz="4800" b="1" dirty="0">
                <a:solidFill>
                  <a:srgbClr val="1A1A1A"/>
                </a:solidFill>
                <a:latin typeface="Georgia" pitchFamily="34" charset="0"/>
                <a:ea typeface="Georgia" pitchFamily="34" charset="-122"/>
                <a:cs typeface="Georgia" pitchFamily="34" charset="-120"/>
              </a:rPr>
              <a:t>Five sub-tasks,</a:t>
            </a:r>
            <a:endParaRPr lang="en-US" sz="4800" dirty="0"/>
          </a:p>
        </p:txBody>
      </p:sp>
      <p:sp>
        <p:nvSpPr>
          <p:cNvPr id="10" name="Text 8"/>
          <p:cNvSpPr/>
          <p:nvPr/>
        </p:nvSpPr>
        <p:spPr>
          <a:xfrm>
            <a:off x="640080" y="1783080"/>
            <a:ext cx="10058400" cy="914400"/>
          </a:xfrm>
          <a:prstGeom prst="rect">
            <a:avLst/>
          </a:prstGeom>
          <a:noFill/>
          <a:ln/>
        </p:spPr>
        <p:txBody>
          <a:bodyPr wrap="square" rtlCol="0" anchor="ctr"/>
          <a:lstStyle/>
          <a:p>
            <a:pPr marL="0" indent="0" algn="l">
              <a:buNone/>
            </a:pPr>
            <a:r>
              <a:rPr lang="en-US" sz="4800" b="1" dirty="0">
                <a:solidFill>
                  <a:srgbClr val="B85042"/>
                </a:solidFill>
                <a:latin typeface="Georgia" pitchFamily="34" charset="0"/>
                <a:ea typeface="Georgia" pitchFamily="34" charset="-122"/>
                <a:cs typeface="Georgia" pitchFamily="34" charset="-120"/>
              </a:rPr>
              <a:t>one investigation.</a:t>
            </a:r>
            <a:endParaRPr lang="en-US" sz="4800" dirty="0"/>
          </a:p>
        </p:txBody>
      </p:sp>
      <p:sp>
        <p:nvSpPr>
          <p:cNvPr id="11" name="Text 9"/>
          <p:cNvSpPr/>
          <p:nvPr/>
        </p:nvSpPr>
        <p:spPr>
          <a:xfrm>
            <a:off x="640080" y="3017520"/>
            <a:ext cx="731520" cy="502920"/>
          </a:xfrm>
          <a:prstGeom prst="rect">
            <a:avLst/>
          </a:prstGeom>
          <a:noFill/>
          <a:ln/>
        </p:spPr>
        <p:txBody>
          <a:bodyPr wrap="square" rtlCol="0" anchor="ctr"/>
          <a:lstStyle/>
          <a:p>
            <a:pPr marL="0" indent="0">
              <a:buNone/>
            </a:pPr>
            <a:r>
              <a:rPr lang="en-US" sz="2800" b="1" dirty="0">
                <a:solidFill>
                  <a:srgbClr val="B85042"/>
                </a:solidFill>
                <a:latin typeface="Georgia" pitchFamily="34" charset="0"/>
                <a:ea typeface="Georgia" pitchFamily="34" charset="-122"/>
                <a:cs typeface="Georgia" pitchFamily="34" charset="-120"/>
              </a:rPr>
              <a:t>01</a:t>
            </a:r>
            <a:endParaRPr lang="en-US" sz="2800" dirty="0"/>
          </a:p>
        </p:txBody>
      </p:sp>
      <p:sp>
        <p:nvSpPr>
          <p:cNvPr id="12" name="Text 10"/>
          <p:cNvSpPr/>
          <p:nvPr/>
        </p:nvSpPr>
        <p:spPr>
          <a:xfrm>
            <a:off x="1554480" y="3017520"/>
            <a:ext cx="6400800" cy="320040"/>
          </a:xfrm>
          <a:prstGeom prst="rect">
            <a:avLst/>
          </a:prstGeom>
          <a:noFill/>
          <a:ln/>
        </p:spPr>
        <p:txBody>
          <a:bodyPr wrap="square" rtlCol="0" anchor="ctr"/>
          <a:lstStyle/>
          <a:p>
            <a:pPr marL="0" indent="0">
              <a:buNone/>
            </a:pPr>
            <a:r>
              <a:rPr lang="en-US" sz="1800" b="1" dirty="0">
                <a:solidFill>
                  <a:srgbClr val="1A1A1A"/>
                </a:solidFill>
                <a:latin typeface="Georgia" pitchFamily="34" charset="0"/>
                <a:ea typeface="Georgia" pitchFamily="34" charset="-122"/>
                <a:cs typeface="Georgia" pitchFamily="34" charset="-120"/>
              </a:rPr>
              <a:t>Stakeholder Identification</a:t>
            </a:r>
            <a:endParaRPr lang="en-US" sz="1800" dirty="0"/>
          </a:p>
        </p:txBody>
      </p:sp>
      <p:sp>
        <p:nvSpPr>
          <p:cNvPr id="13" name="Text 11"/>
          <p:cNvSpPr/>
          <p:nvPr/>
        </p:nvSpPr>
        <p:spPr>
          <a:xfrm>
            <a:off x="1554480" y="3337560"/>
            <a:ext cx="8229600" cy="274320"/>
          </a:xfrm>
          <a:prstGeom prst="rect">
            <a:avLst/>
          </a:prstGeom>
          <a:noFill/>
          <a:ln/>
        </p:spPr>
        <p:txBody>
          <a:bodyPr wrap="square" rtlCol="0" anchor="ctr"/>
          <a:lstStyle/>
          <a:p>
            <a:pPr marL="0" indent="0">
              <a:buNone/>
            </a:pPr>
            <a:r>
              <a:rPr lang="en-US" sz="1200" i="1" dirty="0">
                <a:solidFill>
                  <a:srgbClr val="5C5C5C"/>
                </a:solidFill>
                <a:latin typeface="Calibri" pitchFamily="34" charset="0"/>
                <a:ea typeface="Calibri" pitchFamily="34" charset="-122"/>
                <a:cs typeface="Calibri" pitchFamily="34" charset="-120"/>
              </a:rPr>
              <a:t>Three tiers of users and influencers</a:t>
            </a:r>
            <a:endParaRPr lang="en-US" sz="1200" dirty="0"/>
          </a:p>
        </p:txBody>
      </p:sp>
      <p:sp>
        <p:nvSpPr>
          <p:cNvPr id="14" name="Text 12"/>
          <p:cNvSpPr/>
          <p:nvPr/>
        </p:nvSpPr>
        <p:spPr>
          <a:xfrm>
            <a:off x="640080" y="3657600"/>
            <a:ext cx="731520" cy="502920"/>
          </a:xfrm>
          <a:prstGeom prst="rect">
            <a:avLst/>
          </a:prstGeom>
          <a:noFill/>
          <a:ln/>
        </p:spPr>
        <p:txBody>
          <a:bodyPr wrap="square" rtlCol="0" anchor="ctr"/>
          <a:lstStyle/>
          <a:p>
            <a:pPr marL="0" indent="0">
              <a:buNone/>
            </a:pPr>
            <a:r>
              <a:rPr lang="en-US" sz="2800" b="1" dirty="0">
                <a:solidFill>
                  <a:srgbClr val="B85042"/>
                </a:solidFill>
                <a:latin typeface="Georgia" pitchFamily="34" charset="0"/>
                <a:ea typeface="Georgia" pitchFamily="34" charset="-122"/>
                <a:cs typeface="Georgia" pitchFamily="34" charset="-120"/>
              </a:rPr>
              <a:t>02</a:t>
            </a:r>
            <a:endParaRPr lang="en-US" sz="2800" dirty="0"/>
          </a:p>
        </p:txBody>
      </p:sp>
      <p:sp>
        <p:nvSpPr>
          <p:cNvPr id="15" name="Text 13"/>
          <p:cNvSpPr/>
          <p:nvPr/>
        </p:nvSpPr>
        <p:spPr>
          <a:xfrm>
            <a:off x="1554480" y="3657600"/>
            <a:ext cx="6400800" cy="320040"/>
          </a:xfrm>
          <a:prstGeom prst="rect">
            <a:avLst/>
          </a:prstGeom>
          <a:noFill/>
          <a:ln/>
        </p:spPr>
        <p:txBody>
          <a:bodyPr wrap="square" rtlCol="0" anchor="ctr"/>
          <a:lstStyle/>
          <a:p>
            <a:pPr marL="0" indent="0">
              <a:buNone/>
            </a:pPr>
            <a:r>
              <a:rPr lang="en-US" sz="1800" b="1" dirty="0">
                <a:solidFill>
                  <a:srgbClr val="1A1A1A"/>
                </a:solidFill>
                <a:latin typeface="Georgia" pitchFamily="34" charset="0"/>
                <a:ea typeface="Georgia" pitchFamily="34" charset="-122"/>
                <a:cs typeface="Georgia" pitchFamily="34" charset="-120"/>
              </a:rPr>
              <a:t>Requirement Gathering Techniques</a:t>
            </a:r>
            <a:endParaRPr lang="en-US" sz="1800" dirty="0"/>
          </a:p>
        </p:txBody>
      </p:sp>
      <p:sp>
        <p:nvSpPr>
          <p:cNvPr id="16" name="Text 14"/>
          <p:cNvSpPr/>
          <p:nvPr/>
        </p:nvSpPr>
        <p:spPr>
          <a:xfrm>
            <a:off x="1554480" y="3977640"/>
            <a:ext cx="8229600" cy="274320"/>
          </a:xfrm>
          <a:prstGeom prst="rect">
            <a:avLst/>
          </a:prstGeom>
          <a:noFill/>
          <a:ln/>
        </p:spPr>
        <p:txBody>
          <a:bodyPr wrap="square" rtlCol="0" anchor="ctr"/>
          <a:lstStyle/>
          <a:p>
            <a:pPr marL="0" indent="0">
              <a:buNone/>
            </a:pPr>
            <a:r>
              <a:rPr lang="en-US" sz="1200" i="1" dirty="0">
                <a:solidFill>
                  <a:srgbClr val="5C5C5C"/>
                </a:solidFill>
                <a:latin typeface="Calibri" pitchFamily="34" charset="0"/>
                <a:ea typeface="Calibri" pitchFamily="34" charset="-122"/>
                <a:cs typeface="Calibri" pitchFamily="34" charset="-120"/>
              </a:rPr>
              <a:t>Surveys, interviews, brainstorming, observation</a:t>
            </a:r>
            <a:endParaRPr lang="en-US" sz="1200" dirty="0"/>
          </a:p>
        </p:txBody>
      </p:sp>
      <p:sp>
        <p:nvSpPr>
          <p:cNvPr id="17" name="Text 15"/>
          <p:cNvSpPr/>
          <p:nvPr/>
        </p:nvSpPr>
        <p:spPr>
          <a:xfrm>
            <a:off x="640080" y="4297680"/>
            <a:ext cx="731520" cy="502920"/>
          </a:xfrm>
          <a:prstGeom prst="rect">
            <a:avLst/>
          </a:prstGeom>
          <a:noFill/>
          <a:ln/>
        </p:spPr>
        <p:txBody>
          <a:bodyPr wrap="square" rtlCol="0" anchor="ctr"/>
          <a:lstStyle/>
          <a:p>
            <a:pPr marL="0" indent="0">
              <a:buNone/>
            </a:pPr>
            <a:r>
              <a:rPr lang="en-US" sz="2800" b="1" dirty="0">
                <a:solidFill>
                  <a:srgbClr val="B85042"/>
                </a:solidFill>
                <a:latin typeface="Georgia" pitchFamily="34" charset="0"/>
                <a:ea typeface="Georgia" pitchFamily="34" charset="-122"/>
                <a:cs typeface="Georgia" pitchFamily="34" charset="-120"/>
              </a:rPr>
              <a:t>03</a:t>
            </a:r>
            <a:endParaRPr lang="en-US" sz="2800" dirty="0"/>
          </a:p>
        </p:txBody>
      </p:sp>
      <p:sp>
        <p:nvSpPr>
          <p:cNvPr id="18" name="Text 16"/>
          <p:cNvSpPr/>
          <p:nvPr/>
        </p:nvSpPr>
        <p:spPr>
          <a:xfrm>
            <a:off x="1554480" y="4297680"/>
            <a:ext cx="6400800" cy="320040"/>
          </a:xfrm>
          <a:prstGeom prst="rect">
            <a:avLst/>
          </a:prstGeom>
          <a:noFill/>
          <a:ln/>
        </p:spPr>
        <p:txBody>
          <a:bodyPr wrap="square" rtlCol="0" anchor="ctr"/>
          <a:lstStyle/>
          <a:p>
            <a:pPr marL="0" indent="0">
              <a:buNone/>
            </a:pPr>
            <a:r>
              <a:rPr lang="en-US" sz="1800" b="1" dirty="0">
                <a:solidFill>
                  <a:srgbClr val="1A1A1A"/>
                </a:solidFill>
                <a:latin typeface="Georgia" pitchFamily="34" charset="0"/>
                <a:ea typeface="Georgia" pitchFamily="34" charset="-122"/>
                <a:cs typeface="Georgia" pitchFamily="34" charset="-120"/>
              </a:rPr>
              <a:t>Data Gathering</a:t>
            </a:r>
            <a:endParaRPr lang="en-US" sz="1800" dirty="0"/>
          </a:p>
        </p:txBody>
      </p:sp>
      <p:sp>
        <p:nvSpPr>
          <p:cNvPr id="19" name="Text 17"/>
          <p:cNvSpPr/>
          <p:nvPr/>
        </p:nvSpPr>
        <p:spPr>
          <a:xfrm>
            <a:off x="1554480" y="4617720"/>
            <a:ext cx="8229600" cy="274320"/>
          </a:xfrm>
          <a:prstGeom prst="rect">
            <a:avLst/>
          </a:prstGeom>
          <a:noFill/>
          <a:ln/>
        </p:spPr>
        <p:txBody>
          <a:bodyPr wrap="square" rtlCol="0" anchor="ctr"/>
          <a:lstStyle/>
          <a:p>
            <a:pPr marL="0" indent="0">
              <a:buNone/>
            </a:pPr>
            <a:r>
              <a:rPr lang="en-US" sz="1200" i="1" dirty="0">
                <a:solidFill>
                  <a:srgbClr val="5C5C5C"/>
                </a:solidFill>
                <a:latin typeface="Calibri" pitchFamily="34" charset="0"/>
                <a:ea typeface="Calibri" pitchFamily="34" charset="-122"/>
                <a:cs typeface="Calibri" pitchFamily="34" charset="-120"/>
              </a:rPr>
              <a:t>What we collected, from whom, with what tools</a:t>
            </a:r>
            <a:endParaRPr lang="en-US" sz="1200" dirty="0"/>
          </a:p>
        </p:txBody>
      </p:sp>
      <p:sp>
        <p:nvSpPr>
          <p:cNvPr id="20" name="Text 18"/>
          <p:cNvSpPr/>
          <p:nvPr/>
        </p:nvSpPr>
        <p:spPr>
          <a:xfrm>
            <a:off x="640080" y="4937760"/>
            <a:ext cx="731520" cy="502920"/>
          </a:xfrm>
          <a:prstGeom prst="rect">
            <a:avLst/>
          </a:prstGeom>
          <a:noFill/>
          <a:ln/>
        </p:spPr>
        <p:txBody>
          <a:bodyPr wrap="square" rtlCol="0" anchor="ctr"/>
          <a:lstStyle/>
          <a:p>
            <a:pPr marL="0" indent="0">
              <a:buNone/>
            </a:pPr>
            <a:r>
              <a:rPr lang="en-US" sz="2800" b="1" dirty="0">
                <a:solidFill>
                  <a:srgbClr val="B85042"/>
                </a:solidFill>
                <a:latin typeface="Georgia" pitchFamily="34" charset="0"/>
                <a:ea typeface="Georgia" pitchFamily="34" charset="-122"/>
                <a:cs typeface="Georgia" pitchFamily="34" charset="-120"/>
              </a:rPr>
              <a:t>04</a:t>
            </a:r>
            <a:endParaRPr lang="en-US" sz="2800" dirty="0"/>
          </a:p>
        </p:txBody>
      </p:sp>
      <p:sp>
        <p:nvSpPr>
          <p:cNvPr id="21" name="Text 19"/>
          <p:cNvSpPr/>
          <p:nvPr/>
        </p:nvSpPr>
        <p:spPr>
          <a:xfrm>
            <a:off x="1554480" y="4937760"/>
            <a:ext cx="6400800" cy="320040"/>
          </a:xfrm>
          <a:prstGeom prst="rect">
            <a:avLst/>
          </a:prstGeom>
          <a:noFill/>
          <a:ln/>
        </p:spPr>
        <p:txBody>
          <a:bodyPr wrap="square" rtlCol="0" anchor="ctr"/>
          <a:lstStyle/>
          <a:p>
            <a:pPr marL="0" indent="0">
              <a:buNone/>
            </a:pPr>
            <a:r>
              <a:rPr lang="en-US" sz="1800" b="1" dirty="0">
                <a:solidFill>
                  <a:srgbClr val="1A1A1A"/>
                </a:solidFill>
                <a:latin typeface="Georgia" pitchFamily="34" charset="0"/>
                <a:ea typeface="Georgia" pitchFamily="34" charset="-122"/>
                <a:cs typeface="Georgia" pitchFamily="34" charset="-120"/>
              </a:rPr>
              <a:t>Data Cleaning</a:t>
            </a:r>
            <a:endParaRPr lang="en-US" sz="1800" dirty="0"/>
          </a:p>
        </p:txBody>
      </p:sp>
      <p:sp>
        <p:nvSpPr>
          <p:cNvPr id="22" name="Text 20"/>
          <p:cNvSpPr/>
          <p:nvPr/>
        </p:nvSpPr>
        <p:spPr>
          <a:xfrm>
            <a:off x="1554480" y="5257800"/>
            <a:ext cx="8229600" cy="274320"/>
          </a:xfrm>
          <a:prstGeom prst="rect">
            <a:avLst/>
          </a:prstGeom>
          <a:noFill/>
          <a:ln/>
        </p:spPr>
        <p:txBody>
          <a:bodyPr wrap="square" rtlCol="0" anchor="ctr"/>
          <a:lstStyle/>
          <a:p>
            <a:pPr marL="0" indent="0">
              <a:buNone/>
            </a:pPr>
            <a:r>
              <a:rPr lang="en-US" sz="1200" i="1" dirty="0">
                <a:solidFill>
                  <a:srgbClr val="5C5C5C"/>
                </a:solidFill>
                <a:latin typeface="Calibri" pitchFamily="34" charset="0"/>
                <a:ea typeface="Calibri" pitchFamily="34" charset="-122"/>
                <a:cs typeface="Calibri" pitchFamily="34" charset="-120"/>
              </a:rPr>
              <a:t>Survey, interview, image, audio, knowledge base</a:t>
            </a:r>
            <a:endParaRPr lang="en-US" sz="1200" dirty="0"/>
          </a:p>
        </p:txBody>
      </p:sp>
      <p:sp>
        <p:nvSpPr>
          <p:cNvPr id="23" name="Text 21"/>
          <p:cNvSpPr/>
          <p:nvPr/>
        </p:nvSpPr>
        <p:spPr>
          <a:xfrm>
            <a:off x="640080" y="5577840"/>
            <a:ext cx="731520" cy="502920"/>
          </a:xfrm>
          <a:prstGeom prst="rect">
            <a:avLst/>
          </a:prstGeom>
          <a:noFill/>
          <a:ln/>
        </p:spPr>
        <p:txBody>
          <a:bodyPr wrap="square" rtlCol="0" anchor="ctr"/>
          <a:lstStyle/>
          <a:p>
            <a:pPr marL="0" indent="0">
              <a:buNone/>
            </a:pPr>
            <a:r>
              <a:rPr lang="en-US" sz="2800" b="1" dirty="0">
                <a:solidFill>
                  <a:srgbClr val="B85042"/>
                </a:solidFill>
                <a:latin typeface="Georgia" pitchFamily="34" charset="0"/>
                <a:ea typeface="Georgia" pitchFamily="34" charset="-122"/>
                <a:cs typeface="Georgia" pitchFamily="34" charset="-120"/>
              </a:rPr>
              <a:t>05</a:t>
            </a:r>
            <a:endParaRPr lang="en-US" sz="2800" dirty="0"/>
          </a:p>
        </p:txBody>
      </p:sp>
      <p:sp>
        <p:nvSpPr>
          <p:cNvPr id="24" name="Text 22"/>
          <p:cNvSpPr/>
          <p:nvPr/>
        </p:nvSpPr>
        <p:spPr>
          <a:xfrm>
            <a:off x="1554480" y="5577840"/>
            <a:ext cx="6400800" cy="320040"/>
          </a:xfrm>
          <a:prstGeom prst="rect">
            <a:avLst/>
          </a:prstGeom>
          <a:noFill/>
          <a:ln/>
        </p:spPr>
        <p:txBody>
          <a:bodyPr wrap="square" rtlCol="0" anchor="ctr"/>
          <a:lstStyle/>
          <a:p>
            <a:pPr marL="0" indent="0">
              <a:buNone/>
            </a:pPr>
            <a:r>
              <a:rPr lang="en-US" sz="1800" b="1" dirty="0">
                <a:solidFill>
                  <a:srgbClr val="1A1A1A"/>
                </a:solidFill>
                <a:latin typeface="Georgia" pitchFamily="34" charset="0"/>
                <a:ea typeface="Georgia" pitchFamily="34" charset="-122"/>
                <a:cs typeface="Georgia" pitchFamily="34" charset="-120"/>
              </a:rPr>
              <a:t>User Reluctance Assessment</a:t>
            </a:r>
            <a:endParaRPr lang="en-US" sz="1800" dirty="0"/>
          </a:p>
        </p:txBody>
      </p:sp>
      <p:sp>
        <p:nvSpPr>
          <p:cNvPr id="25" name="Text 23"/>
          <p:cNvSpPr/>
          <p:nvPr/>
        </p:nvSpPr>
        <p:spPr>
          <a:xfrm>
            <a:off x="1554480" y="5897880"/>
            <a:ext cx="8229600" cy="274320"/>
          </a:xfrm>
          <a:prstGeom prst="rect">
            <a:avLst/>
          </a:prstGeom>
          <a:noFill/>
          <a:ln/>
        </p:spPr>
        <p:txBody>
          <a:bodyPr wrap="square" rtlCol="0" anchor="ctr"/>
          <a:lstStyle/>
          <a:p>
            <a:pPr marL="0" indent="0">
              <a:buNone/>
            </a:pPr>
            <a:r>
              <a:rPr lang="en-US" sz="1200" i="1" dirty="0">
                <a:solidFill>
                  <a:srgbClr val="5C5C5C"/>
                </a:solidFill>
                <a:latin typeface="Calibri" pitchFamily="34" charset="0"/>
                <a:ea typeface="Calibri" pitchFamily="34" charset="-122"/>
                <a:cs typeface="Calibri" pitchFamily="34" charset="-120"/>
              </a:rPr>
              <a:t>Six adoption barriers and how to mitigate them</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EFE6"/>
        </a:solidFill>
        <a:effectLst/>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B85042"/>
          </a:solidFill>
          <a:ln/>
        </p:spPr>
      </p:sp>
      <p:sp>
        <p:nvSpPr>
          <p:cNvPr id="3" name="Shape 1"/>
          <p:cNvSpPr/>
          <p:nvPr/>
        </p:nvSpPr>
        <p:spPr>
          <a:xfrm>
            <a:off x="640080" y="411480"/>
            <a:ext cx="10911535" cy="0"/>
          </a:xfrm>
          <a:prstGeom prst="line">
            <a:avLst/>
          </a:prstGeom>
          <a:noFill/>
          <a:ln w="9525">
            <a:solidFill>
              <a:srgbClr val="1A1A1A"/>
            </a:solidFill>
            <a:prstDash val="solid"/>
          </a:ln>
        </p:spPr>
      </p:sp>
      <p:sp>
        <p:nvSpPr>
          <p:cNvPr id="4" name="Text 2"/>
          <p:cNvSpPr/>
          <p:nvPr/>
        </p:nvSpPr>
        <p:spPr>
          <a:xfrm>
            <a:off x="640080" y="137160"/>
            <a:ext cx="6400800" cy="274320"/>
          </a:xfrm>
          <a:prstGeom prst="rect">
            <a:avLst/>
          </a:prstGeom>
          <a:noFill/>
          <a:ln/>
        </p:spPr>
        <p:txBody>
          <a:bodyPr wrap="square" rtlCol="0" anchor="ctr"/>
          <a:lstStyle/>
          <a:p>
            <a:pPr marL="0" indent="0">
              <a:buNone/>
            </a:pPr>
            <a:r>
              <a:rPr lang="en-US" sz="900" b="1" kern="0" spc="400" dirty="0">
                <a:solidFill>
                  <a:srgbClr val="1A1A1A"/>
                </a:solidFill>
                <a:latin typeface="Georgia" pitchFamily="34" charset="0"/>
                <a:ea typeface="Georgia" pitchFamily="34" charset="-122"/>
                <a:cs typeface="Georgia" pitchFamily="34" charset="-120"/>
              </a:rPr>
              <a:t>INTRODUCTION</a:t>
            </a:r>
            <a:endParaRPr lang="en-US" sz="900" dirty="0"/>
          </a:p>
        </p:txBody>
      </p:sp>
      <p:sp>
        <p:nvSpPr>
          <p:cNvPr id="5" name="Text 3"/>
          <p:cNvSpPr/>
          <p:nvPr/>
        </p:nvSpPr>
        <p:spPr>
          <a:xfrm>
            <a:off x="7894015" y="137160"/>
            <a:ext cx="3657600" cy="274320"/>
          </a:xfrm>
          <a:prstGeom prst="rect">
            <a:avLst/>
          </a:prstGeom>
          <a:noFill/>
          <a:ln/>
        </p:spPr>
        <p:txBody>
          <a:bodyPr wrap="square" rtlCol="0" anchor="ctr"/>
          <a:lstStyle/>
          <a:p>
            <a:pPr marL="0" indent="0" algn="r">
              <a:buNone/>
            </a:pPr>
            <a:r>
              <a:rPr lang="en-US" sz="900" b="1" kern="0" spc="400" dirty="0">
                <a:solidFill>
                  <a:srgbClr val="5C5C5C"/>
                </a:solidFill>
                <a:latin typeface="Georgia" pitchFamily="34" charset="0"/>
                <a:ea typeface="Georgia" pitchFamily="34" charset="-122"/>
                <a:cs typeface="Georgia" pitchFamily="34" charset="-120"/>
              </a:rPr>
              <a:t>CAR FAULT DIAGNOSIS</a:t>
            </a:r>
            <a:endParaRPr lang="en-US" sz="900" dirty="0"/>
          </a:p>
        </p:txBody>
      </p:sp>
      <p:sp>
        <p:nvSpPr>
          <p:cNvPr id="6" name="Shape 4"/>
          <p:cNvSpPr/>
          <p:nvPr/>
        </p:nvSpPr>
        <p:spPr>
          <a:xfrm>
            <a:off x="640080" y="6446520"/>
            <a:ext cx="10911535" cy="0"/>
          </a:xfrm>
          <a:prstGeom prst="line">
            <a:avLst/>
          </a:prstGeom>
          <a:noFill/>
          <a:ln w="6350">
            <a:solidFill>
              <a:srgbClr val="1A1A1A"/>
            </a:solidFill>
            <a:prstDash val="solid"/>
          </a:ln>
        </p:spPr>
      </p:sp>
      <p:sp>
        <p:nvSpPr>
          <p:cNvPr id="7" name="Text 5"/>
          <p:cNvSpPr/>
          <p:nvPr/>
        </p:nvSpPr>
        <p:spPr>
          <a:xfrm>
            <a:off x="5547208" y="6510528"/>
            <a:ext cx="1097280" cy="274320"/>
          </a:xfrm>
          <a:prstGeom prst="rect">
            <a:avLst/>
          </a:prstGeom>
          <a:noFill/>
          <a:ln/>
        </p:spPr>
        <p:txBody>
          <a:bodyPr wrap="square" rtlCol="0" anchor="ctr"/>
          <a:lstStyle/>
          <a:p>
            <a:pPr marL="0" indent="0" algn="ctr">
              <a:buNone/>
            </a:pPr>
            <a:r>
              <a:rPr lang="en-US" sz="900" i="1" dirty="0">
                <a:solidFill>
                  <a:srgbClr val="5C5C5C"/>
                </a:solidFill>
                <a:latin typeface="Georgia" pitchFamily="34" charset="0"/>
                <a:ea typeface="Georgia" pitchFamily="34" charset="-122"/>
                <a:cs typeface="Georgia" pitchFamily="34" charset="-120"/>
              </a:rPr>
              <a:t>— 03 —</a:t>
            </a:r>
            <a:endParaRPr lang="en-US" sz="900" dirty="0"/>
          </a:p>
        </p:txBody>
      </p:sp>
      <p:sp>
        <p:nvSpPr>
          <p:cNvPr id="8" name="Text 6"/>
          <p:cNvSpPr/>
          <p:nvPr/>
        </p:nvSpPr>
        <p:spPr>
          <a:xfrm>
            <a:off x="640080" y="777240"/>
            <a:ext cx="4572000" cy="274320"/>
          </a:xfrm>
          <a:prstGeom prst="rect">
            <a:avLst/>
          </a:prstGeom>
          <a:noFill/>
          <a:ln/>
        </p:spPr>
        <p:txBody>
          <a:bodyPr wrap="square" rtlCol="0" anchor="ctr"/>
          <a:lstStyle/>
          <a:p>
            <a:pPr marL="0" indent="0">
              <a:buNone/>
            </a:pPr>
            <a:r>
              <a:rPr lang="en-US" sz="1100" b="1" kern="0" spc="600" dirty="0">
                <a:solidFill>
                  <a:srgbClr val="B85042"/>
                </a:solidFill>
                <a:latin typeface="Georgia" pitchFamily="34" charset="0"/>
                <a:ea typeface="Georgia" pitchFamily="34" charset="-122"/>
                <a:cs typeface="Georgia" pitchFamily="34" charset="-120"/>
              </a:rPr>
              <a:t>THE PROBLEM</a:t>
            </a:r>
            <a:endParaRPr lang="en-US" sz="1100" dirty="0"/>
          </a:p>
        </p:txBody>
      </p:sp>
      <p:sp>
        <p:nvSpPr>
          <p:cNvPr id="9" name="Text 7"/>
          <p:cNvSpPr/>
          <p:nvPr/>
        </p:nvSpPr>
        <p:spPr>
          <a:xfrm>
            <a:off x="640080" y="1097280"/>
            <a:ext cx="10058400" cy="914400"/>
          </a:xfrm>
          <a:prstGeom prst="rect">
            <a:avLst/>
          </a:prstGeom>
          <a:noFill/>
          <a:ln/>
        </p:spPr>
        <p:txBody>
          <a:bodyPr wrap="square" rtlCol="0" anchor="ctr"/>
          <a:lstStyle/>
          <a:p>
            <a:pPr marL="0" indent="0" algn="l">
              <a:buNone/>
            </a:pPr>
            <a:r>
              <a:rPr lang="en-US" sz="3800" b="1" dirty="0">
                <a:solidFill>
                  <a:srgbClr val="1A1A1A"/>
                </a:solidFill>
                <a:latin typeface="Georgia" pitchFamily="34" charset="0"/>
                <a:ea typeface="Georgia" pitchFamily="34" charset="-122"/>
                <a:cs typeface="Georgia" pitchFamily="34" charset="-120"/>
              </a:rPr>
              <a:t>Most drivers can't read</a:t>
            </a:r>
            <a:endParaRPr lang="en-US" sz="3800" dirty="0"/>
          </a:p>
        </p:txBody>
      </p:sp>
      <p:sp>
        <p:nvSpPr>
          <p:cNvPr id="10" name="Text 8"/>
          <p:cNvSpPr/>
          <p:nvPr/>
        </p:nvSpPr>
        <p:spPr>
          <a:xfrm>
            <a:off x="640080" y="1600200"/>
            <a:ext cx="10058400" cy="914400"/>
          </a:xfrm>
          <a:prstGeom prst="rect">
            <a:avLst/>
          </a:prstGeom>
          <a:noFill/>
          <a:ln/>
        </p:spPr>
        <p:txBody>
          <a:bodyPr wrap="square" rtlCol="0" anchor="ctr"/>
          <a:lstStyle/>
          <a:p>
            <a:pPr marL="0" indent="0" algn="l">
              <a:buNone/>
            </a:pPr>
            <a:r>
              <a:rPr lang="en-US" sz="3800" b="1" dirty="0">
                <a:solidFill>
                  <a:srgbClr val="B85042"/>
                </a:solidFill>
                <a:latin typeface="Georgia" pitchFamily="34" charset="0"/>
                <a:ea typeface="Georgia" pitchFamily="34" charset="-122"/>
                <a:cs typeface="Georgia" pitchFamily="34" charset="-120"/>
              </a:rPr>
              <a:t>their own dashboard.</a:t>
            </a:r>
            <a:endParaRPr lang="en-US" sz="3800" dirty="0"/>
          </a:p>
        </p:txBody>
      </p:sp>
      <p:sp>
        <p:nvSpPr>
          <p:cNvPr id="11" name="Shape 9"/>
          <p:cNvSpPr/>
          <p:nvPr/>
        </p:nvSpPr>
        <p:spPr>
          <a:xfrm>
            <a:off x="7132320" y="2560320"/>
            <a:ext cx="4389120" cy="3200400"/>
          </a:xfrm>
          <a:prstGeom prst="rect">
            <a:avLst/>
          </a:prstGeom>
          <a:solidFill>
            <a:srgbClr val="EDE4D3"/>
          </a:solidFill>
          <a:ln/>
        </p:spPr>
      </p:sp>
      <p:sp>
        <p:nvSpPr>
          <p:cNvPr id="12" name="Text 10"/>
          <p:cNvSpPr/>
          <p:nvPr/>
        </p:nvSpPr>
        <p:spPr>
          <a:xfrm>
            <a:off x="7223760" y="2468880"/>
            <a:ext cx="914400" cy="914400"/>
          </a:xfrm>
          <a:prstGeom prst="rect">
            <a:avLst/>
          </a:prstGeom>
          <a:noFill/>
          <a:ln/>
        </p:spPr>
        <p:txBody>
          <a:bodyPr wrap="square" rtlCol="0" anchor="ctr"/>
          <a:lstStyle/>
          <a:p>
            <a:pPr marL="0" indent="0">
              <a:buNone/>
            </a:pPr>
            <a:r>
              <a:rPr lang="en-US" sz="8000" b="1" dirty="0">
                <a:solidFill>
                  <a:srgbClr val="B85042"/>
                </a:solidFill>
                <a:latin typeface="Georgia" pitchFamily="34" charset="0"/>
                <a:ea typeface="Georgia" pitchFamily="34" charset="-122"/>
                <a:cs typeface="Georgia" pitchFamily="34" charset="-120"/>
              </a:rPr>
              <a:t>“</a:t>
            </a:r>
            <a:endParaRPr lang="en-US" sz="8000" dirty="0"/>
          </a:p>
        </p:txBody>
      </p:sp>
      <p:sp>
        <p:nvSpPr>
          <p:cNvPr id="13" name="Text 11"/>
          <p:cNvSpPr/>
          <p:nvPr/>
        </p:nvSpPr>
        <p:spPr>
          <a:xfrm>
            <a:off x="7406640" y="3291840"/>
            <a:ext cx="4023360" cy="1645920"/>
          </a:xfrm>
          <a:prstGeom prst="rect">
            <a:avLst/>
          </a:prstGeom>
          <a:noFill/>
          <a:ln/>
        </p:spPr>
        <p:txBody>
          <a:bodyPr wrap="square" rtlCol="0" anchor="ctr"/>
          <a:lstStyle/>
          <a:p>
            <a:pPr marL="0" indent="0">
              <a:buNone/>
            </a:pPr>
            <a:r>
              <a:rPr lang="en-US" sz="1400" i="1" dirty="0">
                <a:solidFill>
                  <a:srgbClr val="1A1A1A"/>
                </a:solidFill>
                <a:latin typeface="Georgia" pitchFamily="34" charset="0"/>
                <a:ea typeface="Georgia" pitchFamily="34" charset="-122"/>
                <a:cs typeface="Georgia" pitchFamily="34" charset="-120"/>
              </a:rPr>
              <a:t>Warning lights don’t really mean much to me. I drive until something goes wrong, then I call a mechanic to check out the issue</a:t>
            </a:r>
            <a:endParaRPr lang="en-US" sz="1400" dirty="0"/>
          </a:p>
        </p:txBody>
      </p:sp>
      <p:sp>
        <p:nvSpPr>
          <p:cNvPr id="14" name="Text 12"/>
          <p:cNvSpPr/>
          <p:nvPr/>
        </p:nvSpPr>
        <p:spPr>
          <a:xfrm>
            <a:off x="7406640" y="5212080"/>
            <a:ext cx="3657600" cy="274320"/>
          </a:xfrm>
          <a:prstGeom prst="rect">
            <a:avLst/>
          </a:prstGeom>
          <a:noFill/>
          <a:ln/>
        </p:spPr>
        <p:txBody>
          <a:bodyPr wrap="square" rtlCol="0" anchor="ctr"/>
          <a:lstStyle/>
          <a:p>
            <a:pPr marL="0" indent="0">
              <a:buNone/>
            </a:pPr>
            <a:r>
              <a:rPr lang="en-US" sz="1000" i="1" dirty="0">
                <a:solidFill>
                  <a:srgbClr val="5C5C5C"/>
                </a:solidFill>
                <a:latin typeface="Calibri" pitchFamily="34" charset="0"/>
                <a:ea typeface="Calibri" pitchFamily="34" charset="-122"/>
                <a:cs typeface="Calibri" pitchFamily="34" charset="-120"/>
              </a:rPr>
              <a:t>Driver interview, Buea</a:t>
            </a:r>
            <a:endParaRPr lang="en-US" sz="1000" dirty="0"/>
          </a:p>
        </p:txBody>
      </p:sp>
      <p:sp>
        <p:nvSpPr>
          <p:cNvPr id="15" name="Text 13"/>
          <p:cNvSpPr/>
          <p:nvPr/>
        </p:nvSpPr>
        <p:spPr>
          <a:xfrm>
            <a:off x="640080" y="2651760"/>
            <a:ext cx="6126480" cy="1463040"/>
          </a:xfrm>
          <a:prstGeom prst="rect">
            <a:avLst/>
          </a:prstGeom>
          <a:noFill/>
          <a:ln/>
        </p:spPr>
        <p:txBody>
          <a:bodyPr wrap="square" rtlCol="0" anchor="t"/>
          <a:lstStyle/>
          <a:p>
            <a:pPr marL="0" indent="0" algn="l">
              <a:spcAft>
                <a:spcPts val="600"/>
              </a:spcAft>
              <a:buNone/>
            </a:pPr>
            <a:r>
              <a:rPr lang="en-US" sz="1400" dirty="0">
                <a:solidFill>
                  <a:srgbClr val="1A1A1A"/>
                </a:solidFill>
                <a:latin typeface="Calibri" pitchFamily="34" charset="0"/>
                <a:ea typeface="Calibri" pitchFamily="34" charset="-122"/>
                <a:cs typeface="Calibri" pitchFamily="34" charset="-120"/>
              </a:rPr>
              <a:t>Modern vehicles surface faults through dashboard indicators and abnormal engine sounds, yet most car owners particularly in Cameroon  cannot reliably interpret either. The result is delayed maintenance, inflated repair bills, and avoidable breakdowns.</a:t>
            </a:r>
            <a:endParaRPr lang="en-US" sz="1400" dirty="0"/>
          </a:p>
        </p:txBody>
      </p:sp>
      <p:sp>
        <p:nvSpPr>
          <p:cNvPr id="16" name="Text 14"/>
          <p:cNvSpPr/>
          <p:nvPr/>
        </p:nvSpPr>
        <p:spPr>
          <a:xfrm>
            <a:off x="640080" y="4297680"/>
            <a:ext cx="6126480" cy="1463040"/>
          </a:xfrm>
          <a:prstGeom prst="rect">
            <a:avLst/>
          </a:prstGeom>
          <a:noFill/>
          <a:ln/>
        </p:spPr>
        <p:txBody>
          <a:bodyPr wrap="square" rtlCol="0" anchor="t"/>
          <a:lstStyle/>
          <a:p>
            <a:pPr marL="0" indent="0" algn="l">
              <a:spcAft>
                <a:spcPts val="600"/>
              </a:spcAft>
              <a:buNone/>
            </a:pPr>
            <a:r>
              <a:rPr lang="en-US" sz="1400" i="1" dirty="0">
                <a:solidFill>
                  <a:srgbClr val="2B2B2B"/>
                </a:solidFill>
                <a:latin typeface="Calibri" pitchFamily="34" charset="0"/>
                <a:ea typeface="Calibri" pitchFamily="34" charset="-122"/>
                <a:cs typeface="Calibri" pitchFamily="34" charset="-120"/>
              </a:rPr>
              <a:t>This investigation sets out to ground the design of a mobile diagnostic application in real evidence: who needs it, what they actually struggle with, and what would make them adopt it.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EFE6"/>
        </a:solidFill>
        <a:effectLst/>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B85042"/>
          </a:solidFill>
          <a:ln/>
        </p:spPr>
      </p:sp>
      <p:sp>
        <p:nvSpPr>
          <p:cNvPr id="3" name="Shape 1"/>
          <p:cNvSpPr/>
          <p:nvPr/>
        </p:nvSpPr>
        <p:spPr>
          <a:xfrm>
            <a:off x="640080" y="411480"/>
            <a:ext cx="10911535" cy="0"/>
          </a:xfrm>
          <a:prstGeom prst="line">
            <a:avLst/>
          </a:prstGeom>
          <a:noFill/>
          <a:ln w="9525">
            <a:solidFill>
              <a:srgbClr val="1A1A1A"/>
            </a:solidFill>
            <a:prstDash val="solid"/>
          </a:ln>
        </p:spPr>
      </p:sp>
      <p:sp>
        <p:nvSpPr>
          <p:cNvPr id="4" name="Text 2"/>
          <p:cNvSpPr/>
          <p:nvPr/>
        </p:nvSpPr>
        <p:spPr>
          <a:xfrm>
            <a:off x="640080" y="137160"/>
            <a:ext cx="6400800" cy="274320"/>
          </a:xfrm>
          <a:prstGeom prst="rect">
            <a:avLst/>
          </a:prstGeom>
          <a:noFill/>
          <a:ln/>
        </p:spPr>
        <p:txBody>
          <a:bodyPr wrap="square" rtlCol="0" anchor="ctr"/>
          <a:lstStyle/>
          <a:p>
            <a:pPr marL="0" indent="0">
              <a:buNone/>
            </a:pPr>
            <a:r>
              <a:rPr lang="en-US" sz="900" b="1" kern="0" spc="400" dirty="0">
                <a:solidFill>
                  <a:srgbClr val="1A1A1A"/>
                </a:solidFill>
                <a:latin typeface="Georgia" pitchFamily="34" charset="0"/>
                <a:ea typeface="Georgia" pitchFamily="34" charset="-122"/>
                <a:cs typeface="Georgia" pitchFamily="34" charset="-120"/>
              </a:rPr>
              <a:t>METHODOLOGY</a:t>
            </a:r>
            <a:endParaRPr lang="en-US" sz="900" dirty="0"/>
          </a:p>
        </p:txBody>
      </p:sp>
      <p:sp>
        <p:nvSpPr>
          <p:cNvPr id="5" name="Text 3"/>
          <p:cNvSpPr/>
          <p:nvPr/>
        </p:nvSpPr>
        <p:spPr>
          <a:xfrm>
            <a:off x="7894015" y="137160"/>
            <a:ext cx="3657600" cy="274320"/>
          </a:xfrm>
          <a:prstGeom prst="rect">
            <a:avLst/>
          </a:prstGeom>
          <a:noFill/>
          <a:ln/>
        </p:spPr>
        <p:txBody>
          <a:bodyPr wrap="square" rtlCol="0" anchor="ctr"/>
          <a:lstStyle/>
          <a:p>
            <a:pPr marL="0" indent="0" algn="r">
              <a:buNone/>
            </a:pPr>
            <a:r>
              <a:rPr lang="en-US" sz="900" b="1" kern="0" spc="400" dirty="0">
                <a:solidFill>
                  <a:srgbClr val="5C5C5C"/>
                </a:solidFill>
                <a:latin typeface="Georgia" pitchFamily="34" charset="0"/>
                <a:ea typeface="Georgia" pitchFamily="34" charset="-122"/>
                <a:cs typeface="Georgia" pitchFamily="34" charset="-120"/>
              </a:rPr>
              <a:t>CAR FAULT DIAGNOSIS</a:t>
            </a:r>
            <a:endParaRPr lang="en-US" sz="900" dirty="0"/>
          </a:p>
        </p:txBody>
      </p:sp>
      <p:sp>
        <p:nvSpPr>
          <p:cNvPr id="6" name="Shape 4"/>
          <p:cNvSpPr/>
          <p:nvPr/>
        </p:nvSpPr>
        <p:spPr>
          <a:xfrm>
            <a:off x="640080" y="6446520"/>
            <a:ext cx="10911535" cy="0"/>
          </a:xfrm>
          <a:prstGeom prst="line">
            <a:avLst/>
          </a:prstGeom>
          <a:noFill/>
          <a:ln w="6350">
            <a:solidFill>
              <a:srgbClr val="1A1A1A"/>
            </a:solidFill>
            <a:prstDash val="solid"/>
          </a:ln>
        </p:spPr>
      </p:sp>
      <p:sp>
        <p:nvSpPr>
          <p:cNvPr id="7" name="Text 5"/>
          <p:cNvSpPr/>
          <p:nvPr/>
        </p:nvSpPr>
        <p:spPr>
          <a:xfrm>
            <a:off x="5547208" y="6510528"/>
            <a:ext cx="1097280" cy="274320"/>
          </a:xfrm>
          <a:prstGeom prst="rect">
            <a:avLst/>
          </a:prstGeom>
          <a:noFill/>
          <a:ln/>
        </p:spPr>
        <p:txBody>
          <a:bodyPr wrap="square" rtlCol="0" anchor="ctr"/>
          <a:lstStyle/>
          <a:p>
            <a:pPr marL="0" indent="0" algn="ctr">
              <a:buNone/>
            </a:pPr>
            <a:r>
              <a:rPr lang="en-US" sz="900" i="1" dirty="0">
                <a:solidFill>
                  <a:srgbClr val="5C5C5C"/>
                </a:solidFill>
                <a:latin typeface="Georgia" pitchFamily="34" charset="0"/>
                <a:ea typeface="Georgia" pitchFamily="34" charset="-122"/>
                <a:cs typeface="Georgia" pitchFamily="34" charset="-120"/>
              </a:rPr>
              <a:t>— 04 —</a:t>
            </a:r>
            <a:endParaRPr lang="en-US" sz="900" dirty="0"/>
          </a:p>
        </p:txBody>
      </p:sp>
      <p:sp>
        <p:nvSpPr>
          <p:cNvPr id="8" name="Text 6"/>
          <p:cNvSpPr/>
          <p:nvPr/>
        </p:nvSpPr>
        <p:spPr>
          <a:xfrm>
            <a:off x="640080" y="777240"/>
            <a:ext cx="4572000" cy="274320"/>
          </a:xfrm>
          <a:prstGeom prst="rect">
            <a:avLst/>
          </a:prstGeom>
          <a:noFill/>
          <a:ln/>
        </p:spPr>
        <p:txBody>
          <a:bodyPr wrap="square" rtlCol="0" anchor="ctr"/>
          <a:lstStyle/>
          <a:p>
            <a:pPr marL="0" indent="0">
              <a:buNone/>
            </a:pPr>
            <a:r>
              <a:rPr lang="en-US" sz="1100" b="1" kern="0" spc="600" dirty="0">
                <a:solidFill>
                  <a:srgbClr val="B85042"/>
                </a:solidFill>
                <a:latin typeface="Georgia" pitchFamily="34" charset="0"/>
                <a:ea typeface="Georgia" pitchFamily="34" charset="-122"/>
                <a:cs typeface="Georgia" pitchFamily="34" charset="-120"/>
              </a:rPr>
              <a:t>OUR APPROACH</a:t>
            </a:r>
            <a:endParaRPr lang="en-US" sz="1100" dirty="0"/>
          </a:p>
        </p:txBody>
      </p:sp>
      <p:sp>
        <p:nvSpPr>
          <p:cNvPr id="9" name="Text 7"/>
          <p:cNvSpPr/>
          <p:nvPr/>
        </p:nvSpPr>
        <p:spPr>
          <a:xfrm>
            <a:off x="640080" y="1097280"/>
            <a:ext cx="10058400" cy="914400"/>
          </a:xfrm>
          <a:prstGeom prst="rect">
            <a:avLst/>
          </a:prstGeom>
          <a:noFill/>
          <a:ln/>
        </p:spPr>
        <p:txBody>
          <a:bodyPr wrap="square" rtlCol="0" anchor="ctr"/>
          <a:lstStyle/>
          <a:p>
            <a:pPr marL="0" indent="0" algn="l">
              <a:buNone/>
            </a:pPr>
            <a:r>
              <a:rPr lang="en-US" sz="3800" b="1" dirty="0">
                <a:solidFill>
                  <a:srgbClr val="1A1A1A"/>
                </a:solidFill>
                <a:latin typeface="Georgia" pitchFamily="34" charset="0"/>
                <a:ea typeface="Georgia" pitchFamily="34" charset="-122"/>
                <a:cs typeface="Georgia" pitchFamily="34" charset="-120"/>
              </a:rPr>
              <a:t>Five techniques,</a:t>
            </a:r>
            <a:endParaRPr lang="en-US" sz="3800" dirty="0"/>
          </a:p>
        </p:txBody>
      </p:sp>
      <p:sp>
        <p:nvSpPr>
          <p:cNvPr id="10" name="Text 8"/>
          <p:cNvSpPr/>
          <p:nvPr/>
        </p:nvSpPr>
        <p:spPr>
          <a:xfrm>
            <a:off x="640080" y="1600200"/>
            <a:ext cx="10058400" cy="914400"/>
          </a:xfrm>
          <a:prstGeom prst="rect">
            <a:avLst/>
          </a:prstGeom>
          <a:noFill/>
          <a:ln/>
        </p:spPr>
        <p:txBody>
          <a:bodyPr wrap="square" rtlCol="0" anchor="ctr"/>
          <a:lstStyle/>
          <a:p>
            <a:pPr marL="0" indent="0" algn="l">
              <a:buNone/>
            </a:pPr>
            <a:r>
              <a:rPr lang="en-US" sz="3800" b="1" dirty="0">
                <a:solidFill>
                  <a:srgbClr val="B85042"/>
                </a:solidFill>
                <a:latin typeface="Georgia" pitchFamily="34" charset="0"/>
                <a:ea typeface="Georgia" pitchFamily="34" charset="-122"/>
                <a:cs typeface="Georgia" pitchFamily="34" charset="-120"/>
              </a:rPr>
              <a:t>one coherent picture.</a:t>
            </a:r>
            <a:endParaRPr lang="en-US" sz="3800" dirty="0"/>
          </a:p>
        </p:txBody>
      </p:sp>
      <p:sp>
        <p:nvSpPr>
          <p:cNvPr id="11" name="Text 9"/>
          <p:cNvSpPr/>
          <p:nvPr/>
        </p:nvSpPr>
        <p:spPr>
          <a:xfrm>
            <a:off x="640080" y="2743200"/>
            <a:ext cx="731520" cy="457200"/>
          </a:xfrm>
          <a:prstGeom prst="rect">
            <a:avLst/>
          </a:prstGeom>
          <a:noFill/>
          <a:ln/>
        </p:spPr>
        <p:txBody>
          <a:bodyPr wrap="square" rtlCol="0" anchor="ctr"/>
          <a:lstStyle/>
          <a:p>
            <a:pPr marL="0" indent="0">
              <a:buNone/>
            </a:pPr>
            <a:r>
              <a:rPr lang="en-US" sz="2800" b="1" i="1" dirty="0">
                <a:solidFill>
                  <a:srgbClr val="B85042"/>
                </a:solidFill>
                <a:latin typeface="Georgia" pitchFamily="34" charset="0"/>
                <a:ea typeface="Georgia" pitchFamily="34" charset="-122"/>
                <a:cs typeface="Georgia" pitchFamily="34" charset="-120"/>
              </a:rPr>
              <a:t>I.</a:t>
            </a:r>
            <a:endParaRPr lang="en-US" sz="2800" dirty="0"/>
          </a:p>
        </p:txBody>
      </p:sp>
      <p:sp>
        <p:nvSpPr>
          <p:cNvPr id="12" name="Text 10"/>
          <p:cNvSpPr/>
          <p:nvPr/>
        </p:nvSpPr>
        <p:spPr>
          <a:xfrm>
            <a:off x="640080" y="3200400"/>
            <a:ext cx="3383280" cy="365760"/>
          </a:xfrm>
          <a:prstGeom prst="rect">
            <a:avLst/>
          </a:prstGeom>
          <a:noFill/>
          <a:ln/>
        </p:spPr>
        <p:txBody>
          <a:bodyPr wrap="square" rtlCol="0" anchor="ctr"/>
          <a:lstStyle/>
          <a:p>
            <a:pPr marL="0" indent="0">
              <a:buNone/>
            </a:pPr>
            <a:r>
              <a:rPr lang="en-US" sz="1800" b="1" dirty="0">
                <a:solidFill>
                  <a:srgbClr val="1A1A1A"/>
                </a:solidFill>
                <a:latin typeface="Georgia" pitchFamily="34" charset="0"/>
                <a:ea typeface="Georgia" pitchFamily="34" charset="-122"/>
                <a:cs typeface="Georgia" pitchFamily="34" charset="-120"/>
              </a:rPr>
              <a:t>Surveys</a:t>
            </a:r>
            <a:endParaRPr lang="en-US" sz="1800" dirty="0"/>
          </a:p>
        </p:txBody>
      </p:sp>
      <p:sp>
        <p:nvSpPr>
          <p:cNvPr id="13" name="Text 11"/>
          <p:cNvSpPr/>
          <p:nvPr/>
        </p:nvSpPr>
        <p:spPr>
          <a:xfrm>
            <a:off x="640080" y="3611880"/>
            <a:ext cx="3383280" cy="822960"/>
          </a:xfrm>
          <a:prstGeom prst="rect">
            <a:avLst/>
          </a:prstGeom>
          <a:noFill/>
          <a:ln/>
        </p:spPr>
        <p:txBody>
          <a:bodyPr wrap="square" rtlCol="0" anchor="t"/>
          <a:lstStyle/>
          <a:p>
            <a:pPr marL="0" indent="0">
              <a:buNone/>
            </a:pPr>
            <a:r>
              <a:rPr lang="en-US" sz="1100" i="1" dirty="0">
                <a:solidFill>
                  <a:srgbClr val="5C5C5C"/>
                </a:solidFill>
                <a:latin typeface="Calibri" pitchFamily="34" charset="0"/>
                <a:ea typeface="Calibri" pitchFamily="34" charset="-122"/>
                <a:cs typeface="Calibri" pitchFamily="34" charset="-120"/>
              </a:rPr>
              <a:t>36 valid responses via Google Forms across Buea</a:t>
            </a:r>
            <a:endParaRPr lang="en-US" sz="1100" dirty="0"/>
          </a:p>
        </p:txBody>
      </p:sp>
      <p:sp>
        <p:nvSpPr>
          <p:cNvPr id="14" name="Text 12"/>
          <p:cNvSpPr/>
          <p:nvPr/>
        </p:nvSpPr>
        <p:spPr>
          <a:xfrm>
            <a:off x="4297680" y="2743200"/>
            <a:ext cx="731520" cy="457200"/>
          </a:xfrm>
          <a:prstGeom prst="rect">
            <a:avLst/>
          </a:prstGeom>
          <a:noFill/>
          <a:ln/>
        </p:spPr>
        <p:txBody>
          <a:bodyPr wrap="square" rtlCol="0" anchor="ctr"/>
          <a:lstStyle/>
          <a:p>
            <a:pPr marL="0" indent="0">
              <a:buNone/>
            </a:pPr>
            <a:r>
              <a:rPr lang="en-US" sz="2800" b="1" i="1" dirty="0">
                <a:solidFill>
                  <a:srgbClr val="B85042"/>
                </a:solidFill>
                <a:latin typeface="Georgia" pitchFamily="34" charset="0"/>
                <a:ea typeface="Georgia" pitchFamily="34" charset="-122"/>
                <a:cs typeface="Georgia" pitchFamily="34" charset="-120"/>
              </a:rPr>
              <a:t>II.</a:t>
            </a:r>
            <a:endParaRPr lang="en-US" sz="2800" dirty="0"/>
          </a:p>
        </p:txBody>
      </p:sp>
      <p:sp>
        <p:nvSpPr>
          <p:cNvPr id="15" name="Text 13"/>
          <p:cNvSpPr/>
          <p:nvPr/>
        </p:nvSpPr>
        <p:spPr>
          <a:xfrm>
            <a:off x="4297680" y="3200400"/>
            <a:ext cx="3383280" cy="365760"/>
          </a:xfrm>
          <a:prstGeom prst="rect">
            <a:avLst/>
          </a:prstGeom>
          <a:noFill/>
          <a:ln/>
        </p:spPr>
        <p:txBody>
          <a:bodyPr wrap="square" rtlCol="0" anchor="ctr"/>
          <a:lstStyle/>
          <a:p>
            <a:pPr marL="0" indent="0">
              <a:buNone/>
            </a:pPr>
            <a:r>
              <a:rPr lang="en-US" sz="1800" b="1" dirty="0">
                <a:solidFill>
                  <a:srgbClr val="1A1A1A"/>
                </a:solidFill>
                <a:latin typeface="Georgia" pitchFamily="34" charset="0"/>
                <a:ea typeface="Georgia" pitchFamily="34" charset="-122"/>
                <a:cs typeface="Georgia" pitchFamily="34" charset="-120"/>
              </a:rPr>
              <a:t>Interviews</a:t>
            </a:r>
            <a:endParaRPr lang="en-US" sz="1800" dirty="0"/>
          </a:p>
        </p:txBody>
      </p:sp>
      <p:sp>
        <p:nvSpPr>
          <p:cNvPr id="16" name="Text 14"/>
          <p:cNvSpPr/>
          <p:nvPr/>
        </p:nvSpPr>
        <p:spPr>
          <a:xfrm>
            <a:off x="4297680" y="3611880"/>
            <a:ext cx="3383280" cy="822960"/>
          </a:xfrm>
          <a:prstGeom prst="rect">
            <a:avLst/>
          </a:prstGeom>
          <a:noFill/>
          <a:ln/>
        </p:spPr>
        <p:txBody>
          <a:bodyPr wrap="square" rtlCol="0" anchor="t"/>
          <a:lstStyle/>
          <a:p>
            <a:pPr marL="0" indent="0">
              <a:buNone/>
            </a:pPr>
            <a:r>
              <a:rPr lang="en-US" sz="1100" i="1" dirty="0">
                <a:solidFill>
                  <a:srgbClr val="5C5C5C"/>
                </a:solidFill>
                <a:latin typeface="Calibri" pitchFamily="34" charset="0"/>
                <a:ea typeface="Calibri" pitchFamily="34" charset="-122"/>
                <a:cs typeface="Calibri" pitchFamily="34" charset="-120"/>
              </a:rPr>
              <a:t>4 mechanics, 10 drivers  semi-structured, recorded</a:t>
            </a:r>
            <a:endParaRPr lang="en-US" sz="1100" dirty="0"/>
          </a:p>
        </p:txBody>
      </p:sp>
      <p:sp>
        <p:nvSpPr>
          <p:cNvPr id="17" name="Text 15"/>
          <p:cNvSpPr/>
          <p:nvPr/>
        </p:nvSpPr>
        <p:spPr>
          <a:xfrm>
            <a:off x="7955280" y="2743200"/>
            <a:ext cx="731520" cy="457200"/>
          </a:xfrm>
          <a:prstGeom prst="rect">
            <a:avLst/>
          </a:prstGeom>
          <a:noFill/>
          <a:ln/>
        </p:spPr>
        <p:txBody>
          <a:bodyPr wrap="square" rtlCol="0" anchor="ctr"/>
          <a:lstStyle/>
          <a:p>
            <a:pPr marL="0" indent="0">
              <a:buNone/>
            </a:pPr>
            <a:r>
              <a:rPr lang="en-US" sz="2800" b="1" i="1" dirty="0">
                <a:solidFill>
                  <a:srgbClr val="B85042"/>
                </a:solidFill>
                <a:latin typeface="Georgia" pitchFamily="34" charset="0"/>
                <a:ea typeface="Georgia" pitchFamily="34" charset="-122"/>
                <a:cs typeface="Georgia" pitchFamily="34" charset="-120"/>
              </a:rPr>
              <a:t>III.</a:t>
            </a:r>
            <a:endParaRPr lang="en-US" sz="2800" dirty="0"/>
          </a:p>
        </p:txBody>
      </p:sp>
      <p:sp>
        <p:nvSpPr>
          <p:cNvPr id="18" name="Text 16"/>
          <p:cNvSpPr/>
          <p:nvPr/>
        </p:nvSpPr>
        <p:spPr>
          <a:xfrm>
            <a:off x="7955280" y="3200400"/>
            <a:ext cx="3383280" cy="365760"/>
          </a:xfrm>
          <a:prstGeom prst="rect">
            <a:avLst/>
          </a:prstGeom>
          <a:noFill/>
          <a:ln/>
        </p:spPr>
        <p:txBody>
          <a:bodyPr wrap="square" rtlCol="0" anchor="ctr"/>
          <a:lstStyle/>
          <a:p>
            <a:pPr marL="0" indent="0">
              <a:buNone/>
            </a:pPr>
            <a:r>
              <a:rPr lang="en-US" sz="1800" b="1" dirty="0">
                <a:solidFill>
                  <a:srgbClr val="1A1A1A"/>
                </a:solidFill>
                <a:latin typeface="Georgia" pitchFamily="34" charset="0"/>
                <a:ea typeface="Georgia" pitchFamily="34" charset="-122"/>
                <a:cs typeface="Georgia" pitchFamily="34" charset="-120"/>
              </a:rPr>
              <a:t>Brainstorming</a:t>
            </a:r>
            <a:endParaRPr lang="en-US" sz="1800" dirty="0"/>
          </a:p>
        </p:txBody>
      </p:sp>
      <p:sp>
        <p:nvSpPr>
          <p:cNvPr id="19" name="Text 17"/>
          <p:cNvSpPr/>
          <p:nvPr/>
        </p:nvSpPr>
        <p:spPr>
          <a:xfrm>
            <a:off x="7955280" y="3611880"/>
            <a:ext cx="3383280" cy="822960"/>
          </a:xfrm>
          <a:prstGeom prst="rect">
            <a:avLst/>
          </a:prstGeom>
          <a:noFill/>
          <a:ln/>
        </p:spPr>
        <p:txBody>
          <a:bodyPr wrap="square" rtlCol="0" anchor="t"/>
          <a:lstStyle/>
          <a:p>
            <a:pPr marL="0" indent="0">
              <a:buNone/>
            </a:pPr>
            <a:r>
              <a:rPr lang="en-US" sz="1100" i="1" dirty="0">
                <a:solidFill>
                  <a:srgbClr val="5C5C5C"/>
                </a:solidFill>
                <a:latin typeface="Calibri" pitchFamily="34" charset="0"/>
                <a:ea typeface="Calibri" pitchFamily="34" charset="-122"/>
                <a:cs typeface="Calibri" pitchFamily="34" charset="-120"/>
              </a:rPr>
              <a:t>Internal sessions to map findings to features</a:t>
            </a:r>
            <a:endParaRPr lang="en-US" sz="1100" dirty="0"/>
          </a:p>
        </p:txBody>
      </p:sp>
      <p:sp>
        <p:nvSpPr>
          <p:cNvPr id="20" name="Text 18"/>
          <p:cNvSpPr/>
          <p:nvPr/>
        </p:nvSpPr>
        <p:spPr>
          <a:xfrm>
            <a:off x="640080" y="4526280"/>
            <a:ext cx="731520" cy="457200"/>
          </a:xfrm>
          <a:prstGeom prst="rect">
            <a:avLst/>
          </a:prstGeom>
          <a:noFill/>
          <a:ln/>
        </p:spPr>
        <p:txBody>
          <a:bodyPr wrap="square" rtlCol="0" anchor="ctr"/>
          <a:lstStyle/>
          <a:p>
            <a:pPr marL="0" indent="0">
              <a:buNone/>
            </a:pPr>
            <a:r>
              <a:rPr lang="en-US" sz="2800" b="1" i="1" dirty="0">
                <a:solidFill>
                  <a:srgbClr val="B85042"/>
                </a:solidFill>
                <a:latin typeface="Georgia" pitchFamily="34" charset="0"/>
                <a:ea typeface="Georgia" pitchFamily="34" charset="-122"/>
                <a:cs typeface="Georgia" pitchFamily="34" charset="-120"/>
              </a:rPr>
              <a:t>IV.</a:t>
            </a:r>
            <a:endParaRPr lang="en-US" sz="2800" dirty="0"/>
          </a:p>
        </p:txBody>
      </p:sp>
      <p:sp>
        <p:nvSpPr>
          <p:cNvPr id="21" name="Text 19"/>
          <p:cNvSpPr/>
          <p:nvPr/>
        </p:nvSpPr>
        <p:spPr>
          <a:xfrm>
            <a:off x="640080" y="4983480"/>
            <a:ext cx="3383280" cy="365760"/>
          </a:xfrm>
          <a:prstGeom prst="rect">
            <a:avLst/>
          </a:prstGeom>
          <a:noFill/>
          <a:ln/>
        </p:spPr>
        <p:txBody>
          <a:bodyPr wrap="square" rtlCol="0" anchor="ctr"/>
          <a:lstStyle/>
          <a:p>
            <a:pPr marL="0" indent="0">
              <a:buNone/>
            </a:pPr>
            <a:r>
              <a:rPr lang="en-US" sz="1800" b="1" dirty="0">
                <a:solidFill>
                  <a:srgbClr val="1A1A1A"/>
                </a:solidFill>
                <a:latin typeface="Georgia" pitchFamily="34" charset="0"/>
                <a:ea typeface="Georgia" pitchFamily="34" charset="-122"/>
                <a:cs typeface="Georgia" pitchFamily="34" charset="-120"/>
              </a:rPr>
              <a:t>Reverse Engineering</a:t>
            </a:r>
            <a:endParaRPr lang="en-US" sz="1800" dirty="0"/>
          </a:p>
        </p:txBody>
      </p:sp>
      <p:sp>
        <p:nvSpPr>
          <p:cNvPr id="22" name="Text 20"/>
          <p:cNvSpPr/>
          <p:nvPr/>
        </p:nvSpPr>
        <p:spPr>
          <a:xfrm>
            <a:off x="640080" y="5394960"/>
            <a:ext cx="3383280" cy="822960"/>
          </a:xfrm>
          <a:prstGeom prst="rect">
            <a:avLst/>
          </a:prstGeom>
          <a:noFill/>
          <a:ln/>
        </p:spPr>
        <p:txBody>
          <a:bodyPr wrap="square" rtlCol="0" anchor="t"/>
          <a:lstStyle/>
          <a:p>
            <a:pPr marL="0" indent="0">
              <a:buNone/>
            </a:pPr>
            <a:r>
              <a:rPr lang="en-US" sz="1100" i="1" dirty="0">
                <a:solidFill>
                  <a:srgbClr val="5C5C5C"/>
                </a:solidFill>
                <a:latin typeface="Calibri" pitchFamily="34" charset="0"/>
                <a:ea typeface="Calibri" pitchFamily="34" charset="-122"/>
                <a:cs typeface="Calibri" pitchFamily="34" charset="-120"/>
              </a:rPr>
              <a:t>Analysis of OBD-II apps and audio-recognition tools</a:t>
            </a:r>
            <a:endParaRPr lang="en-US" sz="1100" dirty="0"/>
          </a:p>
        </p:txBody>
      </p:sp>
      <p:sp>
        <p:nvSpPr>
          <p:cNvPr id="23" name="Text 21"/>
          <p:cNvSpPr/>
          <p:nvPr/>
        </p:nvSpPr>
        <p:spPr>
          <a:xfrm>
            <a:off x="4297680" y="4526280"/>
            <a:ext cx="731520" cy="457200"/>
          </a:xfrm>
          <a:prstGeom prst="rect">
            <a:avLst/>
          </a:prstGeom>
          <a:noFill/>
          <a:ln/>
        </p:spPr>
        <p:txBody>
          <a:bodyPr wrap="square" rtlCol="0" anchor="ctr"/>
          <a:lstStyle/>
          <a:p>
            <a:pPr marL="0" indent="0">
              <a:buNone/>
            </a:pPr>
            <a:r>
              <a:rPr lang="en-US" sz="2800" b="1" i="1" dirty="0">
                <a:solidFill>
                  <a:srgbClr val="B85042"/>
                </a:solidFill>
                <a:latin typeface="Georgia" pitchFamily="34" charset="0"/>
                <a:ea typeface="Georgia" pitchFamily="34" charset="-122"/>
                <a:cs typeface="Georgia" pitchFamily="34" charset="-120"/>
              </a:rPr>
              <a:t>V.</a:t>
            </a:r>
            <a:endParaRPr lang="en-US" sz="2800" dirty="0"/>
          </a:p>
        </p:txBody>
      </p:sp>
      <p:sp>
        <p:nvSpPr>
          <p:cNvPr id="24" name="Text 22"/>
          <p:cNvSpPr/>
          <p:nvPr/>
        </p:nvSpPr>
        <p:spPr>
          <a:xfrm>
            <a:off x="4297680" y="4983480"/>
            <a:ext cx="3383280" cy="365760"/>
          </a:xfrm>
          <a:prstGeom prst="rect">
            <a:avLst/>
          </a:prstGeom>
          <a:noFill/>
          <a:ln/>
        </p:spPr>
        <p:txBody>
          <a:bodyPr wrap="square" rtlCol="0" anchor="ctr"/>
          <a:lstStyle/>
          <a:p>
            <a:pPr marL="0" indent="0">
              <a:buNone/>
            </a:pPr>
            <a:r>
              <a:rPr lang="en-US" sz="1800" b="1" dirty="0">
                <a:solidFill>
                  <a:srgbClr val="1A1A1A"/>
                </a:solidFill>
                <a:latin typeface="Georgia" pitchFamily="34" charset="0"/>
                <a:ea typeface="Georgia" pitchFamily="34" charset="-122"/>
                <a:cs typeface="Georgia" pitchFamily="34" charset="-120"/>
              </a:rPr>
              <a:t>Field Observation</a:t>
            </a:r>
            <a:endParaRPr lang="en-US" sz="1800" dirty="0"/>
          </a:p>
        </p:txBody>
      </p:sp>
      <p:sp>
        <p:nvSpPr>
          <p:cNvPr id="25" name="Text 23"/>
          <p:cNvSpPr/>
          <p:nvPr/>
        </p:nvSpPr>
        <p:spPr>
          <a:xfrm>
            <a:off x="4297680" y="5394960"/>
            <a:ext cx="3383280" cy="822960"/>
          </a:xfrm>
          <a:prstGeom prst="rect">
            <a:avLst/>
          </a:prstGeom>
          <a:noFill/>
          <a:ln/>
        </p:spPr>
        <p:txBody>
          <a:bodyPr wrap="square" rtlCol="0" anchor="t"/>
          <a:lstStyle/>
          <a:p>
            <a:pPr marL="0" indent="0">
              <a:buNone/>
            </a:pPr>
            <a:r>
              <a:rPr lang="en-US" sz="1100" i="1" dirty="0">
                <a:solidFill>
                  <a:srgbClr val="5C5C5C"/>
                </a:solidFill>
                <a:latin typeface="Calibri" pitchFamily="34" charset="0"/>
                <a:ea typeface="Calibri" pitchFamily="34" charset="-122"/>
                <a:cs typeface="Calibri" pitchFamily="34" charset="-120"/>
              </a:rPr>
              <a:t>Four garage visits in Buea</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A1A"/>
        </a:solidFill>
        <a:effectLst/>
      </p:bgPr>
    </p:bg>
    <p:spTree>
      <p:nvGrpSpPr>
        <p:cNvPr id="1" name=""/>
        <p:cNvGrpSpPr/>
        <p:nvPr/>
      </p:nvGrpSpPr>
      <p:grpSpPr>
        <a:xfrm>
          <a:off x="0" y="0"/>
          <a:ext cx="0" cy="0"/>
          <a:chOff x="0" y="0"/>
          <a:chExt cx="0" cy="0"/>
        </a:xfrm>
      </p:grpSpPr>
      <p:sp>
        <p:nvSpPr>
          <p:cNvPr id="2" name="Shape 0"/>
          <p:cNvSpPr/>
          <p:nvPr/>
        </p:nvSpPr>
        <p:spPr>
          <a:xfrm>
            <a:off x="0" y="1280160"/>
            <a:ext cx="12191695" cy="36576"/>
          </a:xfrm>
          <a:prstGeom prst="rect">
            <a:avLst/>
          </a:prstGeom>
          <a:solidFill>
            <a:srgbClr val="C9A961"/>
          </a:solidFill>
          <a:ln/>
        </p:spPr>
      </p:sp>
      <p:sp>
        <p:nvSpPr>
          <p:cNvPr id="3" name="Text 1"/>
          <p:cNvSpPr/>
          <p:nvPr/>
        </p:nvSpPr>
        <p:spPr>
          <a:xfrm>
            <a:off x="457200" y="1463040"/>
            <a:ext cx="5486400" cy="5029200"/>
          </a:xfrm>
          <a:prstGeom prst="rect">
            <a:avLst/>
          </a:prstGeom>
          <a:noFill/>
          <a:ln/>
        </p:spPr>
        <p:txBody>
          <a:bodyPr wrap="square" rtlCol="0" anchor="t"/>
          <a:lstStyle/>
          <a:p>
            <a:pPr marL="0" indent="0" algn="l">
              <a:buNone/>
            </a:pPr>
            <a:r>
              <a:rPr lang="en-US" sz="28000" b="1" dirty="0">
                <a:solidFill>
                  <a:srgbClr val="B85042"/>
                </a:solidFill>
                <a:latin typeface="Georgia" pitchFamily="34" charset="0"/>
                <a:ea typeface="Georgia" pitchFamily="34" charset="-122"/>
                <a:cs typeface="Georgia" pitchFamily="34" charset="-120"/>
              </a:rPr>
              <a:t>01</a:t>
            </a:r>
            <a:endParaRPr lang="en-US" sz="28000" dirty="0"/>
          </a:p>
        </p:txBody>
      </p:sp>
      <p:sp>
        <p:nvSpPr>
          <p:cNvPr id="4" name="Text 2"/>
          <p:cNvSpPr/>
          <p:nvPr/>
        </p:nvSpPr>
        <p:spPr>
          <a:xfrm>
            <a:off x="5943600" y="2377440"/>
            <a:ext cx="5486400" cy="365760"/>
          </a:xfrm>
          <a:prstGeom prst="rect">
            <a:avLst/>
          </a:prstGeom>
          <a:noFill/>
          <a:ln/>
        </p:spPr>
        <p:txBody>
          <a:bodyPr wrap="square" rtlCol="0" anchor="ctr"/>
          <a:lstStyle/>
          <a:p>
            <a:pPr marL="0" indent="0">
              <a:buNone/>
            </a:pPr>
            <a:r>
              <a:rPr lang="en-US" sz="1400" b="1" kern="0" spc="800" dirty="0">
                <a:solidFill>
                  <a:srgbClr val="C9A961"/>
                </a:solidFill>
                <a:latin typeface="Georgia" pitchFamily="34" charset="0"/>
                <a:ea typeface="Georgia" pitchFamily="34" charset="-122"/>
                <a:cs typeface="Georgia" pitchFamily="34" charset="-120"/>
              </a:rPr>
              <a:t>PART ONE</a:t>
            </a:r>
            <a:endParaRPr lang="en-US" sz="1400" dirty="0"/>
          </a:p>
        </p:txBody>
      </p:sp>
      <p:sp>
        <p:nvSpPr>
          <p:cNvPr id="5" name="Text 3"/>
          <p:cNvSpPr/>
          <p:nvPr/>
        </p:nvSpPr>
        <p:spPr>
          <a:xfrm>
            <a:off x="5943600" y="2743200"/>
            <a:ext cx="5943600" cy="914400"/>
          </a:xfrm>
          <a:prstGeom prst="rect">
            <a:avLst/>
          </a:prstGeom>
          <a:noFill/>
          <a:ln/>
        </p:spPr>
        <p:txBody>
          <a:bodyPr wrap="square" rtlCol="0" anchor="ctr"/>
          <a:lstStyle/>
          <a:p>
            <a:pPr marL="0" indent="0">
              <a:buNone/>
            </a:pPr>
            <a:r>
              <a:rPr lang="en-US" sz="5600" b="1" dirty="0">
                <a:solidFill>
                  <a:srgbClr val="F5EFE6"/>
                </a:solidFill>
                <a:latin typeface="Georgia" pitchFamily="34" charset="0"/>
                <a:ea typeface="Georgia" pitchFamily="34" charset="-122"/>
                <a:cs typeface="Georgia" pitchFamily="34" charset="-120"/>
              </a:rPr>
              <a:t>Stakeholder</a:t>
            </a:r>
            <a:endParaRPr lang="en-US" sz="5600" dirty="0"/>
          </a:p>
        </p:txBody>
      </p:sp>
      <p:sp>
        <p:nvSpPr>
          <p:cNvPr id="6" name="Text 4"/>
          <p:cNvSpPr/>
          <p:nvPr/>
        </p:nvSpPr>
        <p:spPr>
          <a:xfrm>
            <a:off x="5943600" y="3520440"/>
            <a:ext cx="5943600" cy="914400"/>
          </a:xfrm>
          <a:prstGeom prst="rect">
            <a:avLst/>
          </a:prstGeom>
          <a:noFill/>
          <a:ln/>
        </p:spPr>
        <p:txBody>
          <a:bodyPr wrap="square" rtlCol="0" anchor="ctr"/>
          <a:lstStyle/>
          <a:p>
            <a:pPr marL="0" indent="0">
              <a:buNone/>
            </a:pPr>
            <a:r>
              <a:rPr lang="en-US" sz="5600" b="1" i="1" dirty="0">
                <a:solidFill>
                  <a:srgbClr val="B85042"/>
                </a:solidFill>
                <a:latin typeface="Georgia" pitchFamily="34" charset="0"/>
                <a:ea typeface="Georgia" pitchFamily="34" charset="-122"/>
                <a:cs typeface="Georgia" pitchFamily="34" charset="-120"/>
              </a:rPr>
              <a:t>Identification</a:t>
            </a:r>
            <a:endParaRPr lang="en-US" sz="5600" dirty="0"/>
          </a:p>
        </p:txBody>
      </p:sp>
      <p:sp>
        <p:nvSpPr>
          <p:cNvPr id="7" name="Text 5"/>
          <p:cNvSpPr/>
          <p:nvPr/>
        </p:nvSpPr>
        <p:spPr>
          <a:xfrm>
            <a:off x="5943600" y="4709160"/>
            <a:ext cx="5943600" cy="548640"/>
          </a:xfrm>
          <a:prstGeom prst="rect">
            <a:avLst/>
          </a:prstGeom>
          <a:noFill/>
          <a:ln/>
        </p:spPr>
        <p:txBody>
          <a:bodyPr wrap="square" rtlCol="0" anchor="ctr"/>
          <a:lstStyle/>
          <a:p>
            <a:pPr marL="0" indent="0">
              <a:buNone/>
            </a:pPr>
            <a:r>
              <a:rPr lang="en-US" sz="1400" i="1" dirty="0">
                <a:solidFill>
                  <a:srgbClr val="F5EFE6"/>
                </a:solidFill>
                <a:latin typeface="Georgia" pitchFamily="34" charset="0"/>
                <a:ea typeface="Georgia" pitchFamily="34" charset="-122"/>
                <a:cs typeface="Georgia" pitchFamily="34" charset="-120"/>
              </a:rPr>
              <a:t>Who shapes the system, who uses it, who is affected by it.</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EFE6"/>
        </a:solidFill>
        <a:effectLst/>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B85042"/>
          </a:solidFill>
          <a:ln/>
        </p:spPr>
      </p:sp>
      <p:sp>
        <p:nvSpPr>
          <p:cNvPr id="3" name="Shape 1"/>
          <p:cNvSpPr/>
          <p:nvPr/>
        </p:nvSpPr>
        <p:spPr>
          <a:xfrm>
            <a:off x="640080" y="411480"/>
            <a:ext cx="10911535" cy="0"/>
          </a:xfrm>
          <a:prstGeom prst="line">
            <a:avLst/>
          </a:prstGeom>
          <a:noFill/>
          <a:ln w="9525">
            <a:solidFill>
              <a:srgbClr val="1A1A1A"/>
            </a:solidFill>
            <a:prstDash val="solid"/>
          </a:ln>
        </p:spPr>
      </p:sp>
      <p:sp>
        <p:nvSpPr>
          <p:cNvPr id="4" name="Text 2"/>
          <p:cNvSpPr/>
          <p:nvPr/>
        </p:nvSpPr>
        <p:spPr>
          <a:xfrm>
            <a:off x="640080" y="137160"/>
            <a:ext cx="6400800" cy="274320"/>
          </a:xfrm>
          <a:prstGeom prst="rect">
            <a:avLst/>
          </a:prstGeom>
          <a:noFill/>
          <a:ln/>
        </p:spPr>
        <p:txBody>
          <a:bodyPr wrap="square" rtlCol="0" anchor="ctr"/>
          <a:lstStyle/>
          <a:p>
            <a:pPr marL="0" indent="0">
              <a:buNone/>
            </a:pPr>
            <a:r>
              <a:rPr lang="en-US" sz="900" b="1" kern="0" spc="400" dirty="0">
                <a:solidFill>
                  <a:srgbClr val="1A1A1A"/>
                </a:solidFill>
                <a:latin typeface="Georgia" pitchFamily="34" charset="0"/>
                <a:ea typeface="Georgia" pitchFamily="34" charset="-122"/>
                <a:cs typeface="Georgia" pitchFamily="34" charset="-120"/>
              </a:rPr>
              <a:t>01 / STAKEHOLDERS</a:t>
            </a:r>
            <a:endParaRPr lang="en-US" sz="900" dirty="0"/>
          </a:p>
        </p:txBody>
      </p:sp>
      <p:sp>
        <p:nvSpPr>
          <p:cNvPr id="5" name="Text 3"/>
          <p:cNvSpPr/>
          <p:nvPr/>
        </p:nvSpPr>
        <p:spPr>
          <a:xfrm>
            <a:off x="7894015" y="137160"/>
            <a:ext cx="3657600" cy="274320"/>
          </a:xfrm>
          <a:prstGeom prst="rect">
            <a:avLst/>
          </a:prstGeom>
          <a:noFill/>
          <a:ln/>
        </p:spPr>
        <p:txBody>
          <a:bodyPr wrap="square" rtlCol="0" anchor="ctr"/>
          <a:lstStyle/>
          <a:p>
            <a:pPr marL="0" indent="0" algn="r">
              <a:buNone/>
            </a:pPr>
            <a:r>
              <a:rPr lang="en-US" sz="900" b="1" kern="0" spc="400" dirty="0">
                <a:solidFill>
                  <a:srgbClr val="5C5C5C"/>
                </a:solidFill>
                <a:latin typeface="Georgia" pitchFamily="34" charset="0"/>
                <a:ea typeface="Georgia" pitchFamily="34" charset="-122"/>
                <a:cs typeface="Georgia" pitchFamily="34" charset="-120"/>
              </a:rPr>
              <a:t>CAR FAULT DIAGNOSIS</a:t>
            </a:r>
            <a:endParaRPr lang="en-US" sz="900" dirty="0"/>
          </a:p>
        </p:txBody>
      </p:sp>
      <p:sp>
        <p:nvSpPr>
          <p:cNvPr id="6" name="Shape 4"/>
          <p:cNvSpPr/>
          <p:nvPr/>
        </p:nvSpPr>
        <p:spPr>
          <a:xfrm>
            <a:off x="640080" y="6446520"/>
            <a:ext cx="10911535" cy="0"/>
          </a:xfrm>
          <a:prstGeom prst="line">
            <a:avLst/>
          </a:prstGeom>
          <a:noFill/>
          <a:ln w="6350">
            <a:solidFill>
              <a:srgbClr val="1A1A1A"/>
            </a:solidFill>
            <a:prstDash val="solid"/>
          </a:ln>
        </p:spPr>
      </p:sp>
      <p:sp>
        <p:nvSpPr>
          <p:cNvPr id="7" name="Text 5"/>
          <p:cNvSpPr/>
          <p:nvPr/>
        </p:nvSpPr>
        <p:spPr>
          <a:xfrm>
            <a:off x="5547208" y="6510528"/>
            <a:ext cx="1097280" cy="274320"/>
          </a:xfrm>
          <a:prstGeom prst="rect">
            <a:avLst/>
          </a:prstGeom>
          <a:noFill/>
          <a:ln/>
        </p:spPr>
        <p:txBody>
          <a:bodyPr wrap="square" rtlCol="0" anchor="ctr"/>
          <a:lstStyle/>
          <a:p>
            <a:pPr marL="0" indent="0" algn="ctr">
              <a:buNone/>
            </a:pPr>
            <a:r>
              <a:rPr lang="en-US" sz="900" i="1" dirty="0">
                <a:solidFill>
                  <a:srgbClr val="5C5C5C"/>
                </a:solidFill>
                <a:latin typeface="Georgia" pitchFamily="34" charset="0"/>
                <a:ea typeface="Georgia" pitchFamily="34" charset="-122"/>
                <a:cs typeface="Georgia" pitchFamily="34" charset="-120"/>
              </a:rPr>
              <a:t>— 06 —</a:t>
            </a:r>
            <a:endParaRPr lang="en-US" sz="900" dirty="0"/>
          </a:p>
        </p:txBody>
      </p:sp>
      <p:sp>
        <p:nvSpPr>
          <p:cNvPr id="8" name="Text 6"/>
          <p:cNvSpPr/>
          <p:nvPr/>
        </p:nvSpPr>
        <p:spPr>
          <a:xfrm>
            <a:off x="640080" y="777240"/>
            <a:ext cx="4572000" cy="274320"/>
          </a:xfrm>
          <a:prstGeom prst="rect">
            <a:avLst/>
          </a:prstGeom>
          <a:noFill/>
          <a:ln/>
        </p:spPr>
        <p:txBody>
          <a:bodyPr wrap="square" rtlCol="0" anchor="ctr"/>
          <a:lstStyle/>
          <a:p>
            <a:pPr marL="0" indent="0">
              <a:buNone/>
            </a:pPr>
            <a:r>
              <a:rPr lang="en-US" sz="1100" b="1" kern="0" spc="600" dirty="0">
                <a:solidFill>
                  <a:srgbClr val="B85042"/>
                </a:solidFill>
                <a:latin typeface="Georgia" pitchFamily="34" charset="0"/>
                <a:ea typeface="Georgia" pitchFamily="34" charset="-122"/>
                <a:cs typeface="Georgia" pitchFamily="34" charset="-120"/>
              </a:rPr>
              <a:t>THREE TIERS</a:t>
            </a:r>
            <a:endParaRPr lang="en-US" sz="1100" dirty="0"/>
          </a:p>
        </p:txBody>
      </p:sp>
      <p:sp>
        <p:nvSpPr>
          <p:cNvPr id="9" name="Text 7"/>
          <p:cNvSpPr/>
          <p:nvPr/>
        </p:nvSpPr>
        <p:spPr>
          <a:xfrm>
            <a:off x="640080" y="1097280"/>
            <a:ext cx="10058400" cy="914400"/>
          </a:xfrm>
          <a:prstGeom prst="rect">
            <a:avLst/>
          </a:prstGeom>
          <a:noFill/>
          <a:ln/>
        </p:spPr>
        <p:txBody>
          <a:bodyPr wrap="square" rtlCol="0" anchor="ctr"/>
          <a:lstStyle/>
          <a:p>
            <a:pPr marL="0" indent="0" algn="l">
              <a:buNone/>
            </a:pPr>
            <a:r>
              <a:rPr lang="en-US" sz="3600" b="1" dirty="0">
                <a:solidFill>
                  <a:srgbClr val="1A1A1A"/>
                </a:solidFill>
                <a:latin typeface="Georgia" pitchFamily="34" charset="0"/>
                <a:ea typeface="Georgia" pitchFamily="34" charset="-122"/>
                <a:cs typeface="Georgia" pitchFamily="34" charset="-120"/>
              </a:rPr>
              <a:t>Who we built for </a:t>
            </a:r>
            <a:endParaRPr lang="en-US" sz="3600" dirty="0"/>
          </a:p>
        </p:txBody>
      </p:sp>
      <p:sp>
        <p:nvSpPr>
          <p:cNvPr id="10" name="Text 8"/>
          <p:cNvSpPr/>
          <p:nvPr/>
        </p:nvSpPr>
        <p:spPr>
          <a:xfrm>
            <a:off x="640080" y="1600200"/>
            <a:ext cx="10058400" cy="914400"/>
          </a:xfrm>
          <a:prstGeom prst="rect">
            <a:avLst/>
          </a:prstGeom>
          <a:noFill/>
          <a:ln/>
        </p:spPr>
        <p:txBody>
          <a:bodyPr wrap="square" rtlCol="0" anchor="ctr"/>
          <a:lstStyle/>
          <a:p>
            <a:pPr marL="0" indent="0" algn="l">
              <a:buNone/>
            </a:pPr>
            <a:r>
              <a:rPr lang="en-US" sz="3600" b="1" dirty="0">
                <a:solidFill>
                  <a:srgbClr val="B85042"/>
                </a:solidFill>
                <a:latin typeface="Georgia" pitchFamily="34" charset="0"/>
                <a:ea typeface="Georgia" pitchFamily="34" charset="-122"/>
                <a:cs typeface="Georgia" pitchFamily="34" charset="-120"/>
              </a:rPr>
              <a:t>and with.</a:t>
            </a:r>
            <a:endParaRPr lang="en-US" sz="3600" dirty="0"/>
          </a:p>
        </p:txBody>
      </p:sp>
      <p:sp>
        <p:nvSpPr>
          <p:cNvPr id="11" name="Text 9"/>
          <p:cNvSpPr/>
          <p:nvPr/>
        </p:nvSpPr>
        <p:spPr>
          <a:xfrm>
            <a:off x="640080" y="2743200"/>
            <a:ext cx="3474720" cy="274320"/>
          </a:xfrm>
          <a:prstGeom prst="rect">
            <a:avLst/>
          </a:prstGeom>
          <a:noFill/>
          <a:ln/>
        </p:spPr>
        <p:txBody>
          <a:bodyPr wrap="square" rtlCol="0" anchor="ctr"/>
          <a:lstStyle/>
          <a:p>
            <a:pPr marL="0" indent="0">
              <a:buNone/>
            </a:pPr>
            <a:r>
              <a:rPr lang="en-US" sz="1000" b="1" kern="0" spc="600" dirty="0">
                <a:solidFill>
                  <a:srgbClr val="B85042"/>
                </a:solidFill>
                <a:latin typeface="Georgia" pitchFamily="34" charset="0"/>
                <a:ea typeface="Georgia" pitchFamily="34" charset="-122"/>
                <a:cs typeface="Georgia" pitchFamily="34" charset="-120"/>
              </a:rPr>
              <a:t>PRIMARY</a:t>
            </a:r>
            <a:endParaRPr lang="en-US" sz="1000" dirty="0"/>
          </a:p>
        </p:txBody>
      </p:sp>
      <p:sp>
        <p:nvSpPr>
          <p:cNvPr id="12" name="Text 10"/>
          <p:cNvSpPr/>
          <p:nvPr/>
        </p:nvSpPr>
        <p:spPr>
          <a:xfrm>
            <a:off x="640080" y="3017520"/>
            <a:ext cx="3474720" cy="457200"/>
          </a:xfrm>
          <a:prstGeom prst="rect">
            <a:avLst/>
          </a:prstGeom>
          <a:noFill/>
          <a:ln/>
        </p:spPr>
        <p:txBody>
          <a:bodyPr wrap="square" rtlCol="0" anchor="ctr"/>
          <a:lstStyle/>
          <a:p>
            <a:pPr marL="0" indent="0">
              <a:buNone/>
            </a:pPr>
            <a:r>
              <a:rPr lang="en-US" sz="2200" b="1" dirty="0">
                <a:solidFill>
                  <a:srgbClr val="1A1A1A"/>
                </a:solidFill>
                <a:latin typeface="Georgia" pitchFamily="34" charset="0"/>
                <a:ea typeface="Georgia" pitchFamily="34" charset="-122"/>
                <a:cs typeface="Georgia" pitchFamily="34" charset="-120"/>
              </a:rPr>
              <a:t>Direct users</a:t>
            </a:r>
            <a:endParaRPr lang="en-US" sz="2200" dirty="0"/>
          </a:p>
        </p:txBody>
      </p:sp>
      <p:sp>
        <p:nvSpPr>
          <p:cNvPr id="13" name="Text 11"/>
          <p:cNvSpPr/>
          <p:nvPr/>
        </p:nvSpPr>
        <p:spPr>
          <a:xfrm>
            <a:off x="640080" y="3749040"/>
            <a:ext cx="3474720" cy="3200400"/>
          </a:xfrm>
          <a:prstGeom prst="rect">
            <a:avLst/>
          </a:prstGeom>
          <a:noFill/>
          <a:ln/>
        </p:spPr>
        <p:txBody>
          <a:bodyPr wrap="square" rtlCol="0" anchor="t"/>
          <a:lstStyle/>
          <a:p>
            <a:pPr marL="342900" indent="-342900">
              <a:spcAft>
                <a:spcPts val="800"/>
              </a:spcAft>
              <a:buSzPct val="100000"/>
              <a:buChar char="—"/>
            </a:pPr>
            <a:r>
              <a:rPr lang="en-US" sz="1200" dirty="0">
                <a:solidFill>
                  <a:srgbClr val="1A1A1A"/>
                </a:solidFill>
                <a:latin typeface="Calibri" pitchFamily="34" charset="0"/>
                <a:ea typeface="Calibri" pitchFamily="34" charset="-122"/>
                <a:cs typeface="Calibri" pitchFamily="34" charset="-120"/>
              </a:rPr>
              <a:t>Private car owners; non-technical, need help reading symbols and sounds</a:t>
            </a:r>
            <a:endParaRPr lang="en-US" sz="1200" dirty="0"/>
          </a:p>
          <a:p>
            <a:pPr marL="342900" indent="-342900">
              <a:spcAft>
                <a:spcPts val="800"/>
              </a:spcAft>
              <a:buSzPct val="100000"/>
              <a:buChar char="—"/>
            </a:pPr>
            <a:r>
              <a:rPr lang="en-US" sz="1200" dirty="0">
                <a:solidFill>
                  <a:srgbClr val="1A1A1A"/>
                </a:solidFill>
                <a:latin typeface="Calibri" pitchFamily="34" charset="0"/>
                <a:ea typeface="Calibri" pitchFamily="34" charset="-122"/>
                <a:cs typeface="Calibri" pitchFamily="34" charset="-120"/>
              </a:rPr>
              <a:t>Commercial drivers;  taxi, bus, delivery; vehicle uptime is income</a:t>
            </a:r>
            <a:endParaRPr lang="en-US" sz="1200" dirty="0"/>
          </a:p>
          <a:p>
            <a:pPr marL="342900" indent="-342900">
              <a:spcAft>
                <a:spcPts val="800"/>
              </a:spcAft>
              <a:buSzPct val="100000"/>
              <a:buChar char="—"/>
            </a:pPr>
            <a:r>
              <a:rPr lang="en-US" sz="1200" dirty="0">
                <a:solidFill>
                  <a:srgbClr val="1A1A1A"/>
                </a:solidFill>
                <a:latin typeface="Calibri" pitchFamily="34" charset="0"/>
                <a:ea typeface="Calibri" pitchFamily="34" charset="-122"/>
                <a:cs typeface="Calibri" pitchFamily="34" charset="-120"/>
              </a:rPr>
              <a:t>New &amp; student drivers; application as learning aid</a:t>
            </a:r>
            <a:endParaRPr lang="en-US" sz="1200" dirty="0"/>
          </a:p>
        </p:txBody>
      </p:sp>
      <p:sp>
        <p:nvSpPr>
          <p:cNvPr id="14" name="Text 12"/>
          <p:cNvSpPr/>
          <p:nvPr/>
        </p:nvSpPr>
        <p:spPr>
          <a:xfrm>
            <a:off x="4297680" y="2743200"/>
            <a:ext cx="3474720" cy="274320"/>
          </a:xfrm>
          <a:prstGeom prst="rect">
            <a:avLst/>
          </a:prstGeom>
          <a:noFill/>
          <a:ln/>
        </p:spPr>
        <p:txBody>
          <a:bodyPr wrap="square" rtlCol="0" anchor="ctr"/>
          <a:lstStyle/>
          <a:p>
            <a:pPr marL="0" indent="0">
              <a:buNone/>
            </a:pPr>
            <a:r>
              <a:rPr lang="en-US" sz="1000" b="1" kern="0" spc="600" dirty="0">
                <a:solidFill>
                  <a:srgbClr val="B85042"/>
                </a:solidFill>
                <a:latin typeface="Georgia" pitchFamily="34" charset="0"/>
                <a:ea typeface="Georgia" pitchFamily="34" charset="-122"/>
                <a:cs typeface="Georgia" pitchFamily="34" charset="-120"/>
              </a:rPr>
              <a:t>SECONDARY</a:t>
            </a:r>
            <a:endParaRPr lang="en-US" sz="1000" dirty="0"/>
          </a:p>
        </p:txBody>
      </p:sp>
      <p:sp>
        <p:nvSpPr>
          <p:cNvPr id="15" name="Text 13"/>
          <p:cNvSpPr/>
          <p:nvPr/>
        </p:nvSpPr>
        <p:spPr>
          <a:xfrm>
            <a:off x="4297680" y="3017520"/>
            <a:ext cx="3474720" cy="457200"/>
          </a:xfrm>
          <a:prstGeom prst="rect">
            <a:avLst/>
          </a:prstGeom>
          <a:noFill/>
          <a:ln/>
        </p:spPr>
        <p:txBody>
          <a:bodyPr wrap="square" rtlCol="0" anchor="ctr"/>
          <a:lstStyle/>
          <a:p>
            <a:pPr marL="0" indent="0">
              <a:buNone/>
            </a:pPr>
            <a:r>
              <a:rPr lang="en-US" sz="2200" b="1" dirty="0">
                <a:solidFill>
                  <a:srgbClr val="1A1A1A"/>
                </a:solidFill>
                <a:latin typeface="Georgia" pitchFamily="34" charset="0"/>
                <a:ea typeface="Georgia" pitchFamily="34" charset="-122"/>
                <a:cs typeface="Georgia" pitchFamily="34" charset="-120"/>
              </a:rPr>
              <a:t>Domain experts</a:t>
            </a:r>
            <a:endParaRPr lang="en-US" sz="2200" dirty="0"/>
          </a:p>
        </p:txBody>
      </p:sp>
      <p:sp>
        <p:nvSpPr>
          <p:cNvPr id="16" name="Text 14"/>
          <p:cNvSpPr/>
          <p:nvPr/>
        </p:nvSpPr>
        <p:spPr>
          <a:xfrm>
            <a:off x="4297680" y="3749040"/>
            <a:ext cx="3474720" cy="3200400"/>
          </a:xfrm>
          <a:prstGeom prst="rect">
            <a:avLst/>
          </a:prstGeom>
          <a:noFill/>
          <a:ln/>
        </p:spPr>
        <p:txBody>
          <a:bodyPr wrap="square" rtlCol="0" anchor="t"/>
          <a:lstStyle/>
          <a:p>
            <a:pPr marL="342900" indent="-342900">
              <a:spcAft>
                <a:spcPts val="800"/>
              </a:spcAft>
              <a:buSzPct val="100000"/>
              <a:buChar char="—"/>
            </a:pPr>
            <a:r>
              <a:rPr lang="en-US" sz="1200" dirty="0">
                <a:solidFill>
                  <a:srgbClr val="1A1A1A"/>
                </a:solidFill>
                <a:latin typeface="Calibri" pitchFamily="34" charset="0"/>
                <a:ea typeface="Calibri" pitchFamily="34" charset="-122"/>
                <a:cs typeface="Calibri" pitchFamily="34" charset="-120"/>
              </a:rPr>
              <a:t>Mechanics &amp; garage technicians; provide ground-truth fault knowledge</a:t>
            </a:r>
            <a:endParaRPr lang="en-US" sz="1200" dirty="0"/>
          </a:p>
          <a:p>
            <a:pPr marL="342900" indent="-342900">
              <a:spcAft>
                <a:spcPts val="800"/>
              </a:spcAft>
              <a:buSzPct val="100000"/>
              <a:buChar char="—"/>
            </a:pPr>
            <a:r>
              <a:rPr lang="en-US" sz="1200" dirty="0">
                <a:solidFill>
                  <a:srgbClr val="1A1A1A"/>
                </a:solidFill>
                <a:latin typeface="Calibri" pitchFamily="34" charset="0"/>
                <a:ea typeface="Calibri" pitchFamily="34" charset="-122"/>
                <a:cs typeface="Calibri" pitchFamily="34" charset="-120"/>
              </a:rPr>
              <a:t>Automotive engineers &amp; trainers; validate explanations and urgency</a:t>
            </a:r>
            <a:endParaRPr lang="en-US" sz="1200" dirty="0"/>
          </a:p>
          <a:p>
            <a:pPr marL="342900" indent="-342900">
              <a:spcAft>
                <a:spcPts val="800"/>
              </a:spcAft>
              <a:buSzPct val="100000"/>
              <a:buChar char="—"/>
            </a:pPr>
            <a:r>
              <a:rPr lang="en-US" sz="1200" dirty="0">
                <a:solidFill>
                  <a:srgbClr val="1A1A1A"/>
                </a:solidFill>
                <a:latin typeface="Calibri" pitchFamily="34" charset="0"/>
                <a:ea typeface="Calibri" pitchFamily="34" charset="-122"/>
                <a:cs typeface="Calibri" pitchFamily="34" charset="-120"/>
              </a:rPr>
              <a:t>Auto repair shops &amp; dealerships; referral and content partners</a:t>
            </a:r>
            <a:endParaRPr lang="en-US" sz="1200" dirty="0"/>
          </a:p>
        </p:txBody>
      </p:sp>
      <p:sp>
        <p:nvSpPr>
          <p:cNvPr id="17" name="Text 15"/>
          <p:cNvSpPr/>
          <p:nvPr/>
        </p:nvSpPr>
        <p:spPr>
          <a:xfrm>
            <a:off x="7955280" y="2743200"/>
            <a:ext cx="3474720" cy="274320"/>
          </a:xfrm>
          <a:prstGeom prst="rect">
            <a:avLst/>
          </a:prstGeom>
          <a:noFill/>
          <a:ln/>
        </p:spPr>
        <p:txBody>
          <a:bodyPr wrap="square" rtlCol="0" anchor="ctr"/>
          <a:lstStyle/>
          <a:p>
            <a:pPr marL="0" indent="0">
              <a:buNone/>
            </a:pPr>
            <a:r>
              <a:rPr lang="en-US" sz="1000" b="1" kern="0" spc="600" dirty="0">
                <a:solidFill>
                  <a:srgbClr val="B85042"/>
                </a:solidFill>
                <a:latin typeface="Georgia" pitchFamily="34" charset="0"/>
                <a:ea typeface="Georgia" pitchFamily="34" charset="-122"/>
                <a:cs typeface="Georgia" pitchFamily="34" charset="-120"/>
              </a:rPr>
              <a:t>TERTIARY</a:t>
            </a:r>
            <a:endParaRPr lang="en-US" sz="1000" dirty="0"/>
          </a:p>
        </p:txBody>
      </p:sp>
      <p:sp>
        <p:nvSpPr>
          <p:cNvPr id="18" name="Text 16"/>
          <p:cNvSpPr/>
          <p:nvPr/>
        </p:nvSpPr>
        <p:spPr>
          <a:xfrm>
            <a:off x="7955280" y="3017520"/>
            <a:ext cx="3474720" cy="457200"/>
          </a:xfrm>
          <a:prstGeom prst="rect">
            <a:avLst/>
          </a:prstGeom>
          <a:noFill/>
          <a:ln/>
        </p:spPr>
        <p:txBody>
          <a:bodyPr wrap="square" rtlCol="0" anchor="ctr"/>
          <a:lstStyle/>
          <a:p>
            <a:pPr marL="0" indent="0">
              <a:buNone/>
            </a:pPr>
            <a:r>
              <a:rPr lang="en-US" sz="2200" b="1" dirty="0">
                <a:solidFill>
                  <a:srgbClr val="1A1A1A"/>
                </a:solidFill>
                <a:latin typeface="Georgia" pitchFamily="34" charset="0"/>
                <a:ea typeface="Georgia" pitchFamily="34" charset="-122"/>
                <a:cs typeface="Georgia" pitchFamily="34" charset="-120"/>
              </a:rPr>
              <a:t>Indirect interest</a:t>
            </a:r>
            <a:endParaRPr lang="en-US" sz="2200" dirty="0"/>
          </a:p>
        </p:txBody>
      </p:sp>
      <p:sp>
        <p:nvSpPr>
          <p:cNvPr id="19" name="Text 17"/>
          <p:cNvSpPr/>
          <p:nvPr/>
        </p:nvSpPr>
        <p:spPr>
          <a:xfrm>
            <a:off x="7955280" y="3749040"/>
            <a:ext cx="3474720" cy="3200400"/>
          </a:xfrm>
          <a:prstGeom prst="rect">
            <a:avLst/>
          </a:prstGeom>
          <a:noFill/>
          <a:ln/>
        </p:spPr>
        <p:txBody>
          <a:bodyPr wrap="square" rtlCol="0" anchor="t"/>
          <a:lstStyle/>
          <a:p>
            <a:pPr marL="342900" indent="-342900">
              <a:spcAft>
                <a:spcPts val="800"/>
              </a:spcAft>
              <a:buSzPct val="100000"/>
              <a:buChar char="—"/>
            </a:pPr>
            <a:r>
              <a:rPr lang="en-US" sz="1200" dirty="0">
                <a:solidFill>
                  <a:srgbClr val="1A1A1A"/>
                </a:solidFill>
                <a:latin typeface="Calibri" pitchFamily="34" charset="0"/>
                <a:ea typeface="Calibri" pitchFamily="34" charset="-122"/>
                <a:cs typeface="Calibri" pitchFamily="34" charset="-120"/>
              </a:rPr>
              <a:t>Ministry of Transport; road safety and maintenance standards</a:t>
            </a:r>
            <a:endParaRPr lang="en-US" sz="1200" dirty="0"/>
          </a:p>
          <a:p>
            <a:pPr marL="342900" indent="-342900">
              <a:spcAft>
                <a:spcPts val="800"/>
              </a:spcAft>
              <a:buSzPct val="100000"/>
              <a:buChar char="—"/>
            </a:pPr>
            <a:r>
              <a:rPr lang="en-US" sz="1200" dirty="0">
                <a:solidFill>
                  <a:srgbClr val="1A1A1A"/>
                </a:solidFill>
                <a:latin typeface="Calibri" pitchFamily="34" charset="0"/>
                <a:ea typeface="Calibri" pitchFamily="34" charset="-122"/>
                <a:cs typeface="Calibri" pitchFamily="34" charset="-120"/>
              </a:rPr>
              <a:t>Insurance companies; better-maintained vehicles, claim history</a:t>
            </a:r>
            <a:endParaRPr lang="en-US" sz="1200" dirty="0"/>
          </a:p>
          <a:p>
            <a:pPr marL="342900" indent="-342900">
              <a:spcAft>
                <a:spcPts val="800"/>
              </a:spcAft>
              <a:buSzPct val="100000"/>
              <a:buChar char="—"/>
            </a:pPr>
            <a:r>
              <a:rPr lang="en-US" sz="1200" dirty="0">
                <a:solidFill>
                  <a:srgbClr val="1A1A1A"/>
                </a:solidFill>
                <a:latin typeface="Calibri" pitchFamily="34" charset="0"/>
                <a:ea typeface="Calibri" pitchFamily="34" charset="-122"/>
                <a:cs typeface="Calibri" pitchFamily="34" charset="-120"/>
              </a:rPr>
              <a:t>Project supervisors &amp; dev team; academic and technical scope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A1A"/>
        </a:solidFill>
        <a:effectLst/>
      </p:bgPr>
    </p:bg>
    <p:spTree>
      <p:nvGrpSpPr>
        <p:cNvPr id="1" name=""/>
        <p:cNvGrpSpPr/>
        <p:nvPr/>
      </p:nvGrpSpPr>
      <p:grpSpPr>
        <a:xfrm>
          <a:off x="0" y="0"/>
          <a:ext cx="0" cy="0"/>
          <a:chOff x="0" y="0"/>
          <a:chExt cx="0" cy="0"/>
        </a:xfrm>
      </p:grpSpPr>
      <p:sp>
        <p:nvSpPr>
          <p:cNvPr id="2" name="Shape 0"/>
          <p:cNvSpPr/>
          <p:nvPr/>
        </p:nvSpPr>
        <p:spPr>
          <a:xfrm>
            <a:off x="0" y="1280160"/>
            <a:ext cx="12191695" cy="36576"/>
          </a:xfrm>
          <a:prstGeom prst="rect">
            <a:avLst/>
          </a:prstGeom>
          <a:solidFill>
            <a:srgbClr val="C9A961"/>
          </a:solidFill>
          <a:ln/>
        </p:spPr>
      </p:sp>
      <p:sp>
        <p:nvSpPr>
          <p:cNvPr id="3" name="Text 1"/>
          <p:cNvSpPr/>
          <p:nvPr/>
        </p:nvSpPr>
        <p:spPr>
          <a:xfrm>
            <a:off x="457200" y="1463040"/>
            <a:ext cx="5486400" cy="5029200"/>
          </a:xfrm>
          <a:prstGeom prst="rect">
            <a:avLst/>
          </a:prstGeom>
          <a:noFill/>
          <a:ln/>
        </p:spPr>
        <p:txBody>
          <a:bodyPr wrap="square" rtlCol="0" anchor="t"/>
          <a:lstStyle/>
          <a:p>
            <a:pPr marL="0" indent="0">
              <a:buNone/>
            </a:pPr>
            <a:r>
              <a:rPr lang="en-US" sz="28000" b="1" dirty="0">
                <a:solidFill>
                  <a:srgbClr val="B85042"/>
                </a:solidFill>
                <a:latin typeface="Georgia" pitchFamily="34" charset="0"/>
                <a:ea typeface="Georgia" pitchFamily="34" charset="-122"/>
                <a:cs typeface="Georgia" pitchFamily="34" charset="-120"/>
              </a:rPr>
              <a:t>02</a:t>
            </a:r>
            <a:endParaRPr lang="en-US" sz="28000" dirty="0"/>
          </a:p>
        </p:txBody>
      </p:sp>
      <p:sp>
        <p:nvSpPr>
          <p:cNvPr id="4" name="Text 2"/>
          <p:cNvSpPr/>
          <p:nvPr/>
        </p:nvSpPr>
        <p:spPr>
          <a:xfrm>
            <a:off x="5943600" y="2377440"/>
            <a:ext cx="5486400" cy="365760"/>
          </a:xfrm>
          <a:prstGeom prst="rect">
            <a:avLst/>
          </a:prstGeom>
          <a:noFill/>
          <a:ln/>
        </p:spPr>
        <p:txBody>
          <a:bodyPr wrap="square" rtlCol="0" anchor="ctr"/>
          <a:lstStyle/>
          <a:p>
            <a:pPr marL="0" indent="0">
              <a:buNone/>
            </a:pPr>
            <a:r>
              <a:rPr lang="en-US" sz="1400" b="1" kern="0" spc="800" dirty="0">
                <a:solidFill>
                  <a:srgbClr val="C9A961"/>
                </a:solidFill>
                <a:latin typeface="Georgia" pitchFamily="34" charset="0"/>
                <a:ea typeface="Georgia" pitchFamily="34" charset="-122"/>
                <a:cs typeface="Georgia" pitchFamily="34" charset="-120"/>
              </a:rPr>
              <a:t>PART TWO</a:t>
            </a:r>
            <a:endParaRPr lang="en-US" sz="1400" dirty="0"/>
          </a:p>
        </p:txBody>
      </p:sp>
      <p:sp>
        <p:nvSpPr>
          <p:cNvPr id="5" name="Text 3"/>
          <p:cNvSpPr/>
          <p:nvPr/>
        </p:nvSpPr>
        <p:spPr>
          <a:xfrm>
            <a:off x="5943600" y="2743200"/>
            <a:ext cx="5943600" cy="914400"/>
          </a:xfrm>
          <a:prstGeom prst="rect">
            <a:avLst/>
          </a:prstGeom>
          <a:noFill/>
          <a:ln/>
        </p:spPr>
        <p:txBody>
          <a:bodyPr wrap="square" rtlCol="0" anchor="ctr"/>
          <a:lstStyle/>
          <a:p>
            <a:pPr marL="0" indent="0">
              <a:buNone/>
            </a:pPr>
            <a:r>
              <a:rPr lang="en-US" sz="5600" b="1" dirty="0">
                <a:solidFill>
                  <a:srgbClr val="F5EFE6"/>
                </a:solidFill>
                <a:latin typeface="Georgia" pitchFamily="34" charset="0"/>
                <a:ea typeface="Georgia" pitchFamily="34" charset="-122"/>
                <a:cs typeface="Georgia" pitchFamily="34" charset="-120"/>
              </a:rPr>
              <a:t>Data</a:t>
            </a:r>
            <a:endParaRPr lang="en-US" sz="5600" dirty="0"/>
          </a:p>
        </p:txBody>
      </p:sp>
      <p:sp>
        <p:nvSpPr>
          <p:cNvPr id="6" name="Text 4"/>
          <p:cNvSpPr/>
          <p:nvPr/>
        </p:nvSpPr>
        <p:spPr>
          <a:xfrm>
            <a:off x="5943600" y="3520440"/>
            <a:ext cx="5943600" cy="914400"/>
          </a:xfrm>
          <a:prstGeom prst="rect">
            <a:avLst/>
          </a:prstGeom>
          <a:noFill/>
          <a:ln/>
        </p:spPr>
        <p:txBody>
          <a:bodyPr wrap="square" rtlCol="0" anchor="ctr"/>
          <a:lstStyle/>
          <a:p>
            <a:pPr marL="0" indent="0">
              <a:buNone/>
            </a:pPr>
            <a:r>
              <a:rPr lang="en-US" sz="5600" b="1" i="1" dirty="0">
                <a:solidFill>
                  <a:srgbClr val="B85042"/>
                </a:solidFill>
                <a:latin typeface="Georgia" pitchFamily="34" charset="0"/>
                <a:ea typeface="Georgia" pitchFamily="34" charset="-122"/>
                <a:cs typeface="Georgia" pitchFamily="34" charset="-120"/>
              </a:rPr>
              <a:t>Gathering.</a:t>
            </a:r>
            <a:endParaRPr lang="en-US" sz="5600" dirty="0"/>
          </a:p>
        </p:txBody>
      </p:sp>
      <p:sp>
        <p:nvSpPr>
          <p:cNvPr id="7" name="Text 5"/>
          <p:cNvSpPr/>
          <p:nvPr/>
        </p:nvSpPr>
        <p:spPr>
          <a:xfrm>
            <a:off x="5943600" y="4709160"/>
            <a:ext cx="5943600" cy="548640"/>
          </a:xfrm>
          <a:prstGeom prst="rect">
            <a:avLst/>
          </a:prstGeom>
          <a:noFill/>
          <a:ln/>
        </p:spPr>
        <p:txBody>
          <a:bodyPr wrap="square" rtlCol="0" anchor="ctr"/>
          <a:lstStyle/>
          <a:p>
            <a:pPr marL="0" indent="0">
              <a:buNone/>
            </a:pPr>
            <a:r>
              <a:rPr lang="en-US" sz="1400" i="1" dirty="0">
                <a:solidFill>
                  <a:srgbClr val="F5EFE6"/>
                </a:solidFill>
                <a:latin typeface="Georgia" pitchFamily="34" charset="0"/>
                <a:ea typeface="Georgia" pitchFamily="34" charset="-122"/>
                <a:cs typeface="Georgia" pitchFamily="34" charset="-120"/>
              </a:rPr>
              <a:t>36 voices, and the datasets behind the diagnoses.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EFE6"/>
        </a:solidFill>
        <a:effectLst/>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B85042"/>
          </a:solidFill>
          <a:ln/>
        </p:spPr>
      </p:sp>
      <p:sp>
        <p:nvSpPr>
          <p:cNvPr id="3" name="Shape 1"/>
          <p:cNvSpPr/>
          <p:nvPr/>
        </p:nvSpPr>
        <p:spPr>
          <a:xfrm>
            <a:off x="640080" y="411480"/>
            <a:ext cx="10911535" cy="0"/>
          </a:xfrm>
          <a:prstGeom prst="line">
            <a:avLst/>
          </a:prstGeom>
          <a:noFill/>
          <a:ln w="9525">
            <a:solidFill>
              <a:srgbClr val="1A1A1A"/>
            </a:solidFill>
            <a:prstDash val="solid"/>
          </a:ln>
        </p:spPr>
      </p:sp>
      <p:sp>
        <p:nvSpPr>
          <p:cNvPr id="4" name="Text 2"/>
          <p:cNvSpPr/>
          <p:nvPr/>
        </p:nvSpPr>
        <p:spPr>
          <a:xfrm>
            <a:off x="640080" y="137160"/>
            <a:ext cx="6400800" cy="274320"/>
          </a:xfrm>
          <a:prstGeom prst="rect">
            <a:avLst/>
          </a:prstGeom>
          <a:noFill/>
          <a:ln/>
        </p:spPr>
        <p:txBody>
          <a:bodyPr wrap="square" rtlCol="0" anchor="ctr"/>
          <a:lstStyle/>
          <a:p>
            <a:pPr marL="0" indent="0">
              <a:buNone/>
            </a:pPr>
            <a:r>
              <a:rPr lang="en-US" sz="900" b="1" kern="0" spc="400" dirty="0">
                <a:solidFill>
                  <a:srgbClr val="1A1A1A"/>
                </a:solidFill>
                <a:latin typeface="Georgia" pitchFamily="34" charset="0"/>
                <a:ea typeface="Georgia" pitchFamily="34" charset="-122"/>
                <a:cs typeface="Georgia" pitchFamily="34" charset="-120"/>
              </a:rPr>
              <a:t>02 / DATA GATHERING</a:t>
            </a:r>
            <a:endParaRPr lang="en-US" sz="900" dirty="0"/>
          </a:p>
        </p:txBody>
      </p:sp>
      <p:sp>
        <p:nvSpPr>
          <p:cNvPr id="5" name="Text 3"/>
          <p:cNvSpPr/>
          <p:nvPr/>
        </p:nvSpPr>
        <p:spPr>
          <a:xfrm>
            <a:off x="7894015" y="137160"/>
            <a:ext cx="3657600" cy="274320"/>
          </a:xfrm>
          <a:prstGeom prst="rect">
            <a:avLst/>
          </a:prstGeom>
          <a:noFill/>
          <a:ln/>
        </p:spPr>
        <p:txBody>
          <a:bodyPr wrap="square" rtlCol="0" anchor="ctr"/>
          <a:lstStyle/>
          <a:p>
            <a:pPr marL="0" indent="0" algn="r">
              <a:buNone/>
            </a:pPr>
            <a:r>
              <a:rPr lang="en-US" sz="900" b="1" kern="0" spc="400" dirty="0">
                <a:solidFill>
                  <a:srgbClr val="5C5C5C"/>
                </a:solidFill>
                <a:latin typeface="Georgia" pitchFamily="34" charset="0"/>
                <a:ea typeface="Georgia" pitchFamily="34" charset="-122"/>
                <a:cs typeface="Georgia" pitchFamily="34" charset="-120"/>
              </a:rPr>
              <a:t>CAR FAULT DIAGNOSIS</a:t>
            </a:r>
            <a:endParaRPr lang="en-US" sz="900" dirty="0"/>
          </a:p>
        </p:txBody>
      </p:sp>
      <p:sp>
        <p:nvSpPr>
          <p:cNvPr id="6" name="Shape 4"/>
          <p:cNvSpPr/>
          <p:nvPr/>
        </p:nvSpPr>
        <p:spPr>
          <a:xfrm>
            <a:off x="640080" y="6446520"/>
            <a:ext cx="10911535" cy="0"/>
          </a:xfrm>
          <a:prstGeom prst="line">
            <a:avLst/>
          </a:prstGeom>
          <a:noFill/>
          <a:ln w="6350">
            <a:solidFill>
              <a:srgbClr val="1A1A1A"/>
            </a:solidFill>
            <a:prstDash val="solid"/>
          </a:ln>
        </p:spPr>
      </p:sp>
      <p:sp>
        <p:nvSpPr>
          <p:cNvPr id="7" name="Text 5"/>
          <p:cNvSpPr/>
          <p:nvPr/>
        </p:nvSpPr>
        <p:spPr>
          <a:xfrm>
            <a:off x="5547208" y="6510528"/>
            <a:ext cx="1097280" cy="274320"/>
          </a:xfrm>
          <a:prstGeom prst="rect">
            <a:avLst/>
          </a:prstGeom>
          <a:noFill/>
          <a:ln/>
        </p:spPr>
        <p:txBody>
          <a:bodyPr wrap="square" rtlCol="0" anchor="ctr"/>
          <a:lstStyle/>
          <a:p>
            <a:pPr marL="0" indent="0" algn="ctr">
              <a:buNone/>
            </a:pPr>
            <a:r>
              <a:rPr lang="en-US" sz="900" i="1" dirty="0">
                <a:solidFill>
                  <a:srgbClr val="5C5C5C"/>
                </a:solidFill>
                <a:latin typeface="Georgia" pitchFamily="34" charset="0"/>
                <a:ea typeface="Georgia" pitchFamily="34" charset="-122"/>
                <a:cs typeface="Georgia" pitchFamily="34" charset="-120"/>
              </a:rPr>
              <a:t>— 08 —</a:t>
            </a:r>
            <a:endParaRPr lang="en-US" sz="900" dirty="0"/>
          </a:p>
        </p:txBody>
      </p:sp>
      <p:sp>
        <p:nvSpPr>
          <p:cNvPr id="8" name="Text 6"/>
          <p:cNvSpPr/>
          <p:nvPr/>
        </p:nvSpPr>
        <p:spPr>
          <a:xfrm>
            <a:off x="640080" y="777240"/>
            <a:ext cx="4572000" cy="274320"/>
          </a:xfrm>
          <a:prstGeom prst="rect">
            <a:avLst/>
          </a:prstGeom>
          <a:noFill/>
          <a:ln/>
        </p:spPr>
        <p:txBody>
          <a:bodyPr wrap="square" rtlCol="0" anchor="ctr"/>
          <a:lstStyle/>
          <a:p>
            <a:pPr marL="0" indent="0">
              <a:buNone/>
            </a:pPr>
            <a:r>
              <a:rPr lang="en-US" sz="1100" b="1" kern="0" spc="600" dirty="0">
                <a:solidFill>
                  <a:srgbClr val="B85042"/>
                </a:solidFill>
                <a:latin typeface="Georgia" pitchFamily="34" charset="0"/>
                <a:ea typeface="Georgia" pitchFamily="34" charset="-122"/>
                <a:cs typeface="Georgia" pitchFamily="34" charset="-120"/>
              </a:rPr>
              <a:t>WHO RESPONDED</a:t>
            </a:r>
            <a:endParaRPr lang="en-US" sz="1100" dirty="0"/>
          </a:p>
        </p:txBody>
      </p:sp>
      <p:sp>
        <p:nvSpPr>
          <p:cNvPr id="9" name="Text 7"/>
          <p:cNvSpPr/>
          <p:nvPr/>
        </p:nvSpPr>
        <p:spPr>
          <a:xfrm>
            <a:off x="640080" y="1097280"/>
            <a:ext cx="10058400" cy="914400"/>
          </a:xfrm>
          <a:prstGeom prst="rect">
            <a:avLst/>
          </a:prstGeom>
          <a:noFill/>
          <a:ln/>
        </p:spPr>
        <p:txBody>
          <a:bodyPr wrap="square" rtlCol="0" anchor="ctr"/>
          <a:lstStyle/>
          <a:p>
            <a:pPr marL="0" indent="0" algn="l">
              <a:buNone/>
            </a:pPr>
            <a:r>
              <a:rPr lang="en-US" sz="4400" b="1" dirty="0">
                <a:solidFill>
                  <a:srgbClr val="1A1A1A"/>
                </a:solidFill>
                <a:latin typeface="Georgia" pitchFamily="34" charset="0"/>
                <a:ea typeface="Georgia" pitchFamily="34" charset="-122"/>
                <a:cs typeface="Georgia" pitchFamily="34" charset="-120"/>
              </a:rPr>
              <a:t>The sample.</a:t>
            </a:r>
            <a:endParaRPr lang="en-US" sz="4400" dirty="0"/>
          </a:p>
        </p:txBody>
      </p:sp>
      <p:sp>
        <p:nvSpPr>
          <p:cNvPr id="10" name="Text 8"/>
          <p:cNvSpPr/>
          <p:nvPr/>
        </p:nvSpPr>
        <p:spPr>
          <a:xfrm>
            <a:off x="640080" y="2194560"/>
            <a:ext cx="4572000" cy="2743200"/>
          </a:xfrm>
          <a:prstGeom prst="rect">
            <a:avLst/>
          </a:prstGeom>
          <a:noFill/>
          <a:ln/>
        </p:spPr>
        <p:txBody>
          <a:bodyPr wrap="square" rtlCol="0" anchor="t"/>
          <a:lstStyle/>
          <a:p>
            <a:pPr marL="0" indent="0" algn="l">
              <a:buNone/>
            </a:pPr>
            <a:r>
              <a:rPr lang="en-US" sz="20000" b="1" dirty="0">
                <a:solidFill>
                  <a:srgbClr val="B85042"/>
                </a:solidFill>
                <a:latin typeface="Georgia" pitchFamily="34" charset="0"/>
                <a:ea typeface="Georgia" pitchFamily="34" charset="-122"/>
                <a:cs typeface="Georgia" pitchFamily="34" charset="-120"/>
              </a:rPr>
              <a:t>36</a:t>
            </a:r>
            <a:endParaRPr lang="en-US" sz="20000" dirty="0"/>
          </a:p>
        </p:txBody>
      </p:sp>
      <p:sp>
        <p:nvSpPr>
          <p:cNvPr id="11" name="Text 9"/>
          <p:cNvSpPr/>
          <p:nvPr/>
        </p:nvSpPr>
        <p:spPr>
          <a:xfrm>
            <a:off x="640080" y="5029200"/>
            <a:ext cx="3657600" cy="365760"/>
          </a:xfrm>
          <a:prstGeom prst="rect">
            <a:avLst/>
          </a:prstGeom>
          <a:noFill/>
          <a:ln/>
        </p:spPr>
        <p:txBody>
          <a:bodyPr wrap="square" rtlCol="0" anchor="ctr"/>
          <a:lstStyle/>
          <a:p>
            <a:pPr marL="0" indent="0">
              <a:buNone/>
            </a:pPr>
            <a:r>
              <a:rPr lang="en-US" sz="1600" i="1" dirty="0">
                <a:solidFill>
                  <a:srgbClr val="1A1A1A"/>
                </a:solidFill>
                <a:latin typeface="Georgia" pitchFamily="34" charset="0"/>
                <a:ea typeface="Georgia" pitchFamily="34" charset="-122"/>
                <a:cs typeface="Georgia" pitchFamily="34" charset="-120"/>
              </a:rPr>
              <a:t>valid responses</a:t>
            </a:r>
            <a:endParaRPr lang="en-US" sz="1600" dirty="0"/>
          </a:p>
        </p:txBody>
      </p:sp>
      <p:sp>
        <p:nvSpPr>
          <p:cNvPr id="12" name="Text 10"/>
          <p:cNvSpPr/>
          <p:nvPr/>
        </p:nvSpPr>
        <p:spPr>
          <a:xfrm>
            <a:off x="640080" y="5394960"/>
            <a:ext cx="3657600" cy="640080"/>
          </a:xfrm>
          <a:prstGeom prst="rect">
            <a:avLst/>
          </a:prstGeom>
          <a:noFill/>
          <a:ln/>
        </p:spPr>
        <p:txBody>
          <a:bodyPr wrap="square" rtlCol="0" anchor="ctr"/>
          <a:lstStyle/>
          <a:p>
            <a:pPr marL="0" indent="0">
              <a:buNone/>
            </a:pPr>
            <a:r>
              <a:rPr lang="en-US" sz="1100" i="1" dirty="0">
                <a:solidFill>
                  <a:srgbClr val="5C5C5C"/>
                </a:solidFill>
                <a:latin typeface="Calibri" pitchFamily="34" charset="0"/>
                <a:ea typeface="Calibri" pitchFamily="34" charset="-122"/>
                <a:cs typeface="Calibri" pitchFamily="34" charset="-120"/>
              </a:rPr>
              <a:t>collected via Google Forms across</a:t>
            </a:r>
            <a:r>
              <a:rPr lang="en-US" sz="1100" dirty="0"/>
              <a:t> </a:t>
            </a:r>
            <a:r>
              <a:rPr lang="en-US" sz="1100" i="1" dirty="0">
                <a:solidFill>
                  <a:srgbClr val="5C5C5C"/>
                </a:solidFill>
                <a:latin typeface="Calibri" pitchFamily="34" charset="0"/>
                <a:ea typeface="Calibri" pitchFamily="34" charset="-122"/>
                <a:cs typeface="Calibri" pitchFamily="34" charset="-120"/>
              </a:rPr>
              <a:t>Buea</a:t>
            </a:r>
            <a:endParaRPr lang="en-US" sz="1100" dirty="0"/>
          </a:p>
        </p:txBody>
      </p:sp>
      <p:sp>
        <p:nvSpPr>
          <p:cNvPr id="13" name="Text 11"/>
          <p:cNvSpPr/>
          <p:nvPr/>
        </p:nvSpPr>
        <p:spPr>
          <a:xfrm>
            <a:off x="5486400" y="2194560"/>
            <a:ext cx="5486400" cy="274320"/>
          </a:xfrm>
          <a:prstGeom prst="rect">
            <a:avLst/>
          </a:prstGeom>
          <a:noFill/>
          <a:ln/>
        </p:spPr>
        <p:txBody>
          <a:bodyPr wrap="square" rtlCol="0" anchor="ctr"/>
          <a:lstStyle/>
          <a:p>
            <a:pPr marL="0" indent="0">
              <a:buNone/>
            </a:pPr>
            <a:r>
              <a:rPr lang="en-US" sz="1000" b="1" kern="0" spc="600" dirty="0">
                <a:solidFill>
                  <a:srgbClr val="B85042"/>
                </a:solidFill>
                <a:latin typeface="Georgia" pitchFamily="34" charset="0"/>
                <a:ea typeface="Georgia" pitchFamily="34" charset="-122"/>
                <a:cs typeface="Georgia" pitchFamily="34" charset="-120"/>
              </a:rPr>
              <a:t>BREAKDOWN</a:t>
            </a:r>
            <a:endParaRPr lang="en-US" sz="1000" dirty="0"/>
          </a:p>
        </p:txBody>
      </p:sp>
      <p:sp>
        <p:nvSpPr>
          <p:cNvPr id="14" name="Text 12"/>
          <p:cNvSpPr/>
          <p:nvPr/>
        </p:nvSpPr>
        <p:spPr>
          <a:xfrm>
            <a:off x="5486400" y="2514600"/>
            <a:ext cx="5486400" cy="320040"/>
          </a:xfrm>
          <a:prstGeom prst="rect">
            <a:avLst/>
          </a:prstGeom>
          <a:noFill/>
          <a:ln/>
        </p:spPr>
        <p:txBody>
          <a:bodyPr wrap="square" rtlCol="0" anchor="ctr"/>
          <a:lstStyle/>
          <a:p>
            <a:pPr marL="0" indent="0">
              <a:buNone/>
            </a:pPr>
            <a:r>
              <a:rPr lang="en-US" sz="1400" b="1" i="1" dirty="0">
                <a:solidFill>
                  <a:srgbClr val="1A1A1A"/>
                </a:solidFill>
                <a:latin typeface="Georgia" pitchFamily="34" charset="0"/>
                <a:ea typeface="Georgia" pitchFamily="34" charset="-122"/>
                <a:cs typeface="Georgia" pitchFamily="34" charset="-120"/>
              </a:rPr>
              <a:t>Age</a:t>
            </a:r>
            <a:endParaRPr lang="en-US" sz="1400" dirty="0"/>
          </a:p>
        </p:txBody>
      </p:sp>
      <p:sp>
        <p:nvSpPr>
          <p:cNvPr id="15" name="Text 13"/>
          <p:cNvSpPr/>
          <p:nvPr/>
        </p:nvSpPr>
        <p:spPr>
          <a:xfrm>
            <a:off x="5486400" y="2880360"/>
            <a:ext cx="2743200" cy="256032"/>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Under 20</a:t>
            </a:r>
            <a:endParaRPr lang="en-US" sz="1200" dirty="0"/>
          </a:p>
        </p:txBody>
      </p:sp>
      <p:sp>
        <p:nvSpPr>
          <p:cNvPr id="16" name="Text 14"/>
          <p:cNvSpPr/>
          <p:nvPr/>
        </p:nvSpPr>
        <p:spPr>
          <a:xfrm>
            <a:off x="8229600" y="2880360"/>
            <a:ext cx="1371600" cy="256032"/>
          </a:xfrm>
          <a:prstGeom prst="rect">
            <a:avLst/>
          </a:prstGeom>
          <a:noFill/>
          <a:ln/>
        </p:spPr>
        <p:txBody>
          <a:bodyPr wrap="square" rtlCol="0" anchor="ctr"/>
          <a:lstStyle/>
          <a:p>
            <a:pPr marL="0" indent="0" algn="r">
              <a:buNone/>
            </a:pPr>
            <a:r>
              <a:rPr lang="en-US" sz="1200" b="1" dirty="0">
                <a:solidFill>
                  <a:srgbClr val="B85042"/>
                </a:solidFill>
                <a:latin typeface="Georgia" pitchFamily="34" charset="0"/>
                <a:ea typeface="Georgia" pitchFamily="34" charset="-122"/>
                <a:cs typeface="Georgia" pitchFamily="34" charset="-120"/>
              </a:rPr>
              <a:t>11.1%</a:t>
            </a:r>
            <a:endParaRPr lang="en-US" sz="1200" dirty="0"/>
          </a:p>
        </p:txBody>
      </p:sp>
      <p:sp>
        <p:nvSpPr>
          <p:cNvPr id="17" name="Text 15"/>
          <p:cNvSpPr/>
          <p:nvPr/>
        </p:nvSpPr>
        <p:spPr>
          <a:xfrm>
            <a:off x="5486400" y="3154680"/>
            <a:ext cx="2743200" cy="256032"/>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20–30</a:t>
            </a:r>
            <a:endParaRPr lang="en-US" sz="1200" dirty="0"/>
          </a:p>
        </p:txBody>
      </p:sp>
      <p:sp>
        <p:nvSpPr>
          <p:cNvPr id="18" name="Text 16"/>
          <p:cNvSpPr/>
          <p:nvPr/>
        </p:nvSpPr>
        <p:spPr>
          <a:xfrm>
            <a:off x="8229600" y="3154680"/>
            <a:ext cx="1371600" cy="256032"/>
          </a:xfrm>
          <a:prstGeom prst="rect">
            <a:avLst/>
          </a:prstGeom>
          <a:noFill/>
          <a:ln/>
        </p:spPr>
        <p:txBody>
          <a:bodyPr wrap="square" rtlCol="0" anchor="ctr"/>
          <a:lstStyle/>
          <a:p>
            <a:pPr marL="0" indent="0" algn="r">
              <a:buNone/>
            </a:pPr>
            <a:r>
              <a:rPr lang="en-US" sz="1200" b="1" dirty="0">
                <a:solidFill>
                  <a:srgbClr val="B85042"/>
                </a:solidFill>
                <a:latin typeface="Georgia" pitchFamily="34" charset="0"/>
                <a:ea typeface="Georgia" pitchFamily="34" charset="-122"/>
                <a:cs typeface="Georgia" pitchFamily="34" charset="-120"/>
              </a:rPr>
              <a:t>36.1%</a:t>
            </a:r>
            <a:endParaRPr lang="en-US" sz="1200" dirty="0"/>
          </a:p>
        </p:txBody>
      </p:sp>
      <p:sp>
        <p:nvSpPr>
          <p:cNvPr id="19" name="Text 17"/>
          <p:cNvSpPr/>
          <p:nvPr/>
        </p:nvSpPr>
        <p:spPr>
          <a:xfrm>
            <a:off x="5486400" y="3429000"/>
            <a:ext cx="2743200" cy="256032"/>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31–40</a:t>
            </a:r>
            <a:endParaRPr lang="en-US" sz="1200" dirty="0"/>
          </a:p>
        </p:txBody>
      </p:sp>
      <p:sp>
        <p:nvSpPr>
          <p:cNvPr id="20" name="Text 18"/>
          <p:cNvSpPr/>
          <p:nvPr/>
        </p:nvSpPr>
        <p:spPr>
          <a:xfrm>
            <a:off x="8229600" y="3429000"/>
            <a:ext cx="1371600" cy="256032"/>
          </a:xfrm>
          <a:prstGeom prst="rect">
            <a:avLst/>
          </a:prstGeom>
          <a:noFill/>
          <a:ln/>
        </p:spPr>
        <p:txBody>
          <a:bodyPr wrap="square" rtlCol="0" anchor="ctr"/>
          <a:lstStyle/>
          <a:p>
            <a:pPr marL="0" indent="0" algn="r">
              <a:buNone/>
            </a:pPr>
            <a:r>
              <a:rPr lang="en-US" sz="1200" b="1" dirty="0">
                <a:solidFill>
                  <a:srgbClr val="B85042"/>
                </a:solidFill>
                <a:latin typeface="Georgia" pitchFamily="34" charset="0"/>
                <a:ea typeface="Georgia" pitchFamily="34" charset="-122"/>
                <a:cs typeface="Georgia" pitchFamily="34" charset="-120"/>
              </a:rPr>
              <a:t>27.8%</a:t>
            </a:r>
            <a:endParaRPr lang="en-US" sz="1200" dirty="0"/>
          </a:p>
        </p:txBody>
      </p:sp>
      <p:sp>
        <p:nvSpPr>
          <p:cNvPr id="21" name="Text 19"/>
          <p:cNvSpPr/>
          <p:nvPr/>
        </p:nvSpPr>
        <p:spPr>
          <a:xfrm>
            <a:off x="5486400" y="3703320"/>
            <a:ext cx="2743200" cy="256032"/>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Above 40</a:t>
            </a:r>
            <a:endParaRPr lang="en-US" sz="1200" dirty="0"/>
          </a:p>
        </p:txBody>
      </p:sp>
      <p:sp>
        <p:nvSpPr>
          <p:cNvPr id="22" name="Text 20"/>
          <p:cNvSpPr/>
          <p:nvPr/>
        </p:nvSpPr>
        <p:spPr>
          <a:xfrm>
            <a:off x="8229600" y="3703320"/>
            <a:ext cx="1371600" cy="256032"/>
          </a:xfrm>
          <a:prstGeom prst="rect">
            <a:avLst/>
          </a:prstGeom>
          <a:noFill/>
          <a:ln/>
        </p:spPr>
        <p:txBody>
          <a:bodyPr wrap="square" rtlCol="0" anchor="ctr"/>
          <a:lstStyle/>
          <a:p>
            <a:pPr marL="0" indent="0" algn="r">
              <a:buNone/>
            </a:pPr>
            <a:r>
              <a:rPr lang="en-US" sz="1200" b="1" dirty="0">
                <a:solidFill>
                  <a:srgbClr val="B85042"/>
                </a:solidFill>
                <a:latin typeface="Georgia" pitchFamily="34" charset="0"/>
                <a:ea typeface="Georgia" pitchFamily="34" charset="-122"/>
                <a:cs typeface="Georgia" pitchFamily="34" charset="-120"/>
              </a:rPr>
              <a:t>25.0%</a:t>
            </a:r>
            <a:endParaRPr lang="en-US" sz="1200" dirty="0"/>
          </a:p>
        </p:txBody>
      </p:sp>
      <p:sp>
        <p:nvSpPr>
          <p:cNvPr id="23" name="Text 21"/>
          <p:cNvSpPr/>
          <p:nvPr/>
        </p:nvSpPr>
        <p:spPr>
          <a:xfrm>
            <a:off x="5486400" y="4114800"/>
            <a:ext cx="5486400" cy="320040"/>
          </a:xfrm>
          <a:prstGeom prst="rect">
            <a:avLst/>
          </a:prstGeom>
          <a:noFill/>
          <a:ln/>
        </p:spPr>
        <p:txBody>
          <a:bodyPr wrap="square" rtlCol="0" anchor="ctr"/>
          <a:lstStyle/>
          <a:p>
            <a:pPr marL="0" indent="0">
              <a:buNone/>
            </a:pPr>
            <a:r>
              <a:rPr lang="en-US" sz="1400" b="1" i="1" dirty="0">
                <a:solidFill>
                  <a:srgbClr val="1A1A1A"/>
                </a:solidFill>
                <a:latin typeface="Georgia" pitchFamily="34" charset="0"/>
                <a:ea typeface="Georgia" pitchFamily="34" charset="-122"/>
                <a:cs typeface="Georgia" pitchFamily="34" charset="-120"/>
              </a:rPr>
              <a:t>Driving frequency</a:t>
            </a:r>
            <a:endParaRPr lang="en-US" sz="1400" dirty="0"/>
          </a:p>
        </p:txBody>
      </p:sp>
      <p:sp>
        <p:nvSpPr>
          <p:cNvPr id="24" name="Text 22"/>
          <p:cNvSpPr/>
          <p:nvPr/>
        </p:nvSpPr>
        <p:spPr>
          <a:xfrm>
            <a:off x="5486400" y="4480560"/>
            <a:ext cx="2743200" cy="256032"/>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Daily</a:t>
            </a:r>
            <a:endParaRPr lang="en-US" sz="1200" dirty="0"/>
          </a:p>
        </p:txBody>
      </p:sp>
      <p:sp>
        <p:nvSpPr>
          <p:cNvPr id="25" name="Text 23"/>
          <p:cNvSpPr/>
          <p:nvPr/>
        </p:nvSpPr>
        <p:spPr>
          <a:xfrm>
            <a:off x="8229600" y="4480560"/>
            <a:ext cx="1371600" cy="256032"/>
          </a:xfrm>
          <a:prstGeom prst="rect">
            <a:avLst/>
          </a:prstGeom>
          <a:noFill/>
          <a:ln/>
        </p:spPr>
        <p:txBody>
          <a:bodyPr wrap="square" rtlCol="0" anchor="ctr"/>
          <a:lstStyle/>
          <a:p>
            <a:pPr marL="0" indent="0" algn="r">
              <a:buNone/>
            </a:pPr>
            <a:r>
              <a:rPr lang="en-US" sz="1200" b="1" dirty="0">
                <a:solidFill>
                  <a:srgbClr val="B85042"/>
                </a:solidFill>
                <a:latin typeface="Georgia" pitchFamily="34" charset="0"/>
                <a:ea typeface="Georgia" pitchFamily="34" charset="-122"/>
                <a:cs typeface="Georgia" pitchFamily="34" charset="-120"/>
              </a:rPr>
              <a:t>52.8%</a:t>
            </a:r>
            <a:endParaRPr lang="en-US" sz="1200" dirty="0"/>
          </a:p>
        </p:txBody>
      </p:sp>
      <p:sp>
        <p:nvSpPr>
          <p:cNvPr id="26" name="Text 24"/>
          <p:cNvSpPr/>
          <p:nvPr/>
        </p:nvSpPr>
        <p:spPr>
          <a:xfrm>
            <a:off x="5486400" y="4754880"/>
            <a:ext cx="2743200" cy="256032"/>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Weekly</a:t>
            </a:r>
            <a:endParaRPr lang="en-US" sz="1200" dirty="0"/>
          </a:p>
        </p:txBody>
      </p:sp>
      <p:sp>
        <p:nvSpPr>
          <p:cNvPr id="27" name="Text 25"/>
          <p:cNvSpPr/>
          <p:nvPr/>
        </p:nvSpPr>
        <p:spPr>
          <a:xfrm>
            <a:off x="8229600" y="4754880"/>
            <a:ext cx="1371600" cy="256032"/>
          </a:xfrm>
          <a:prstGeom prst="rect">
            <a:avLst/>
          </a:prstGeom>
          <a:noFill/>
          <a:ln/>
        </p:spPr>
        <p:txBody>
          <a:bodyPr wrap="square" rtlCol="0" anchor="ctr"/>
          <a:lstStyle/>
          <a:p>
            <a:pPr marL="0" indent="0" algn="r">
              <a:buNone/>
            </a:pPr>
            <a:r>
              <a:rPr lang="en-US" sz="1200" b="1" dirty="0">
                <a:solidFill>
                  <a:srgbClr val="B85042"/>
                </a:solidFill>
                <a:latin typeface="Georgia" pitchFamily="34" charset="0"/>
                <a:ea typeface="Georgia" pitchFamily="34" charset="-122"/>
                <a:cs typeface="Georgia" pitchFamily="34" charset="-120"/>
              </a:rPr>
              <a:t>33.3%</a:t>
            </a:r>
            <a:endParaRPr lang="en-US" sz="1200" dirty="0"/>
          </a:p>
        </p:txBody>
      </p:sp>
      <p:sp>
        <p:nvSpPr>
          <p:cNvPr id="28" name="Text 26"/>
          <p:cNvSpPr/>
          <p:nvPr/>
        </p:nvSpPr>
        <p:spPr>
          <a:xfrm>
            <a:off x="5486400" y="5029200"/>
            <a:ext cx="2743200" cy="256032"/>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Occasionally</a:t>
            </a:r>
            <a:endParaRPr lang="en-US" sz="1200" dirty="0"/>
          </a:p>
        </p:txBody>
      </p:sp>
      <p:sp>
        <p:nvSpPr>
          <p:cNvPr id="29" name="Text 27"/>
          <p:cNvSpPr/>
          <p:nvPr/>
        </p:nvSpPr>
        <p:spPr>
          <a:xfrm>
            <a:off x="8229600" y="5029200"/>
            <a:ext cx="1371600" cy="256032"/>
          </a:xfrm>
          <a:prstGeom prst="rect">
            <a:avLst/>
          </a:prstGeom>
          <a:noFill/>
          <a:ln/>
        </p:spPr>
        <p:txBody>
          <a:bodyPr wrap="square" rtlCol="0" anchor="ctr"/>
          <a:lstStyle/>
          <a:p>
            <a:pPr marL="0" indent="0" algn="r">
              <a:buNone/>
            </a:pPr>
            <a:r>
              <a:rPr lang="en-US" sz="1200" b="1" dirty="0">
                <a:solidFill>
                  <a:srgbClr val="B85042"/>
                </a:solidFill>
                <a:latin typeface="Georgia" pitchFamily="34" charset="0"/>
                <a:ea typeface="Georgia" pitchFamily="34" charset="-122"/>
                <a:cs typeface="Georgia" pitchFamily="34" charset="-120"/>
              </a:rPr>
              <a:t>13.9%</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EFE6"/>
        </a:solidFill>
        <a:effectLst/>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B85042"/>
          </a:solidFill>
          <a:ln/>
        </p:spPr>
      </p:sp>
      <p:sp>
        <p:nvSpPr>
          <p:cNvPr id="3" name="Shape 1"/>
          <p:cNvSpPr/>
          <p:nvPr/>
        </p:nvSpPr>
        <p:spPr>
          <a:xfrm>
            <a:off x="640080" y="411480"/>
            <a:ext cx="10911535" cy="0"/>
          </a:xfrm>
          <a:prstGeom prst="line">
            <a:avLst/>
          </a:prstGeom>
          <a:noFill/>
          <a:ln w="9525">
            <a:solidFill>
              <a:srgbClr val="1A1A1A"/>
            </a:solidFill>
            <a:prstDash val="solid"/>
          </a:ln>
        </p:spPr>
      </p:sp>
      <p:sp>
        <p:nvSpPr>
          <p:cNvPr id="4" name="Text 2"/>
          <p:cNvSpPr/>
          <p:nvPr/>
        </p:nvSpPr>
        <p:spPr>
          <a:xfrm>
            <a:off x="640080" y="137160"/>
            <a:ext cx="6400800" cy="274320"/>
          </a:xfrm>
          <a:prstGeom prst="rect">
            <a:avLst/>
          </a:prstGeom>
          <a:noFill/>
          <a:ln/>
        </p:spPr>
        <p:txBody>
          <a:bodyPr wrap="square" rtlCol="0" anchor="ctr"/>
          <a:lstStyle/>
          <a:p>
            <a:pPr marL="0" indent="0">
              <a:buNone/>
            </a:pPr>
            <a:r>
              <a:rPr lang="en-US" sz="900" b="1" kern="0" spc="400" dirty="0">
                <a:solidFill>
                  <a:srgbClr val="1A1A1A"/>
                </a:solidFill>
                <a:latin typeface="Georgia" pitchFamily="34" charset="0"/>
                <a:ea typeface="Georgia" pitchFamily="34" charset="-122"/>
                <a:cs typeface="Georgia" pitchFamily="34" charset="-120"/>
              </a:rPr>
              <a:t>02 / DATA GATHERING</a:t>
            </a:r>
            <a:endParaRPr lang="en-US" sz="900" dirty="0"/>
          </a:p>
        </p:txBody>
      </p:sp>
      <p:sp>
        <p:nvSpPr>
          <p:cNvPr id="5" name="Text 3"/>
          <p:cNvSpPr/>
          <p:nvPr/>
        </p:nvSpPr>
        <p:spPr>
          <a:xfrm>
            <a:off x="7894015" y="137160"/>
            <a:ext cx="3657600" cy="274320"/>
          </a:xfrm>
          <a:prstGeom prst="rect">
            <a:avLst/>
          </a:prstGeom>
          <a:noFill/>
          <a:ln/>
        </p:spPr>
        <p:txBody>
          <a:bodyPr wrap="square" rtlCol="0" anchor="ctr"/>
          <a:lstStyle/>
          <a:p>
            <a:pPr marL="0" indent="0" algn="r">
              <a:buNone/>
            </a:pPr>
            <a:r>
              <a:rPr lang="en-US" sz="900" b="1" kern="0" spc="400" dirty="0">
                <a:solidFill>
                  <a:srgbClr val="5C5C5C"/>
                </a:solidFill>
                <a:latin typeface="Georgia" pitchFamily="34" charset="0"/>
                <a:ea typeface="Georgia" pitchFamily="34" charset="-122"/>
                <a:cs typeface="Georgia" pitchFamily="34" charset="-120"/>
              </a:rPr>
              <a:t>CAR FAULT DIAGNOSIS</a:t>
            </a:r>
            <a:endParaRPr lang="en-US" sz="900" dirty="0"/>
          </a:p>
        </p:txBody>
      </p:sp>
      <p:sp>
        <p:nvSpPr>
          <p:cNvPr id="6" name="Shape 4"/>
          <p:cNvSpPr/>
          <p:nvPr/>
        </p:nvSpPr>
        <p:spPr>
          <a:xfrm>
            <a:off x="640080" y="6446520"/>
            <a:ext cx="10911535" cy="0"/>
          </a:xfrm>
          <a:prstGeom prst="line">
            <a:avLst/>
          </a:prstGeom>
          <a:noFill/>
          <a:ln w="6350">
            <a:solidFill>
              <a:srgbClr val="1A1A1A"/>
            </a:solidFill>
            <a:prstDash val="solid"/>
          </a:ln>
        </p:spPr>
      </p:sp>
      <p:sp>
        <p:nvSpPr>
          <p:cNvPr id="7" name="Text 5"/>
          <p:cNvSpPr/>
          <p:nvPr/>
        </p:nvSpPr>
        <p:spPr>
          <a:xfrm>
            <a:off x="5547208" y="6510528"/>
            <a:ext cx="1097280" cy="274320"/>
          </a:xfrm>
          <a:prstGeom prst="rect">
            <a:avLst/>
          </a:prstGeom>
          <a:noFill/>
          <a:ln/>
        </p:spPr>
        <p:txBody>
          <a:bodyPr wrap="square" rtlCol="0" anchor="ctr"/>
          <a:lstStyle/>
          <a:p>
            <a:pPr marL="0" indent="0" algn="ctr">
              <a:buNone/>
            </a:pPr>
            <a:r>
              <a:rPr lang="en-US" sz="900" i="1" dirty="0">
                <a:solidFill>
                  <a:srgbClr val="5C5C5C"/>
                </a:solidFill>
                <a:latin typeface="Georgia" pitchFamily="34" charset="0"/>
                <a:ea typeface="Georgia" pitchFamily="34" charset="-122"/>
                <a:cs typeface="Georgia" pitchFamily="34" charset="-120"/>
              </a:rPr>
              <a:t>— 09 —</a:t>
            </a:r>
            <a:endParaRPr lang="en-US" sz="900" dirty="0"/>
          </a:p>
        </p:txBody>
      </p:sp>
      <p:sp>
        <p:nvSpPr>
          <p:cNvPr id="8" name="Text 6"/>
          <p:cNvSpPr/>
          <p:nvPr/>
        </p:nvSpPr>
        <p:spPr>
          <a:xfrm>
            <a:off x="640080" y="777240"/>
            <a:ext cx="4572000" cy="274320"/>
          </a:xfrm>
          <a:prstGeom prst="rect">
            <a:avLst/>
          </a:prstGeom>
          <a:noFill/>
          <a:ln/>
        </p:spPr>
        <p:txBody>
          <a:bodyPr wrap="square" rtlCol="0" anchor="ctr"/>
          <a:lstStyle/>
          <a:p>
            <a:pPr marL="0" indent="0">
              <a:buNone/>
            </a:pPr>
            <a:r>
              <a:rPr lang="en-US" sz="1100" b="1" kern="0" spc="600" dirty="0">
                <a:solidFill>
                  <a:srgbClr val="B85042"/>
                </a:solidFill>
                <a:latin typeface="Georgia" pitchFamily="34" charset="0"/>
                <a:ea typeface="Georgia" pitchFamily="34" charset="-122"/>
                <a:cs typeface="Georgia" pitchFamily="34" charset="-120"/>
              </a:rPr>
              <a:t>PROBLEM VALIDATION</a:t>
            </a:r>
            <a:endParaRPr lang="en-US" sz="1100" dirty="0"/>
          </a:p>
        </p:txBody>
      </p:sp>
      <p:sp>
        <p:nvSpPr>
          <p:cNvPr id="9" name="Text 7"/>
          <p:cNvSpPr/>
          <p:nvPr/>
        </p:nvSpPr>
        <p:spPr>
          <a:xfrm>
            <a:off x="640080" y="1097280"/>
            <a:ext cx="10058400" cy="914400"/>
          </a:xfrm>
          <a:prstGeom prst="rect">
            <a:avLst/>
          </a:prstGeom>
          <a:noFill/>
          <a:ln/>
        </p:spPr>
        <p:txBody>
          <a:bodyPr wrap="square" rtlCol="0" anchor="ctr"/>
          <a:lstStyle/>
          <a:p>
            <a:pPr marL="0" indent="0" algn="l">
              <a:buNone/>
            </a:pPr>
            <a:r>
              <a:rPr lang="en-US" sz="3600" b="1" dirty="0">
                <a:solidFill>
                  <a:srgbClr val="1A1A1A"/>
                </a:solidFill>
                <a:latin typeface="Georgia" pitchFamily="34" charset="0"/>
                <a:ea typeface="Georgia" pitchFamily="34" charset="-122"/>
                <a:cs typeface="Georgia" pitchFamily="34" charset="-120"/>
              </a:rPr>
              <a:t>What the data tells us.</a:t>
            </a:r>
            <a:endParaRPr lang="en-US" sz="3600" dirty="0"/>
          </a:p>
        </p:txBody>
      </p:sp>
      <p:sp>
        <p:nvSpPr>
          <p:cNvPr id="10" name="Text 8"/>
          <p:cNvSpPr/>
          <p:nvPr/>
        </p:nvSpPr>
        <p:spPr>
          <a:xfrm>
            <a:off x="640080" y="2377440"/>
            <a:ext cx="3474720" cy="1371600"/>
          </a:xfrm>
          <a:prstGeom prst="rect">
            <a:avLst/>
          </a:prstGeom>
          <a:noFill/>
          <a:ln/>
        </p:spPr>
        <p:txBody>
          <a:bodyPr wrap="square" rtlCol="0" anchor="ctr"/>
          <a:lstStyle/>
          <a:p>
            <a:pPr marL="0" indent="0" algn="l">
              <a:buNone/>
            </a:pPr>
            <a:r>
              <a:rPr lang="en-US" sz="7200" b="1" dirty="0">
                <a:solidFill>
                  <a:srgbClr val="B85042"/>
                </a:solidFill>
                <a:latin typeface="Georgia" pitchFamily="34" charset="0"/>
                <a:ea typeface="Georgia" pitchFamily="34" charset="-122"/>
                <a:cs typeface="Georgia" pitchFamily="34" charset="-120"/>
              </a:rPr>
              <a:t>13.9%</a:t>
            </a:r>
            <a:endParaRPr lang="en-US" sz="7200" dirty="0"/>
          </a:p>
        </p:txBody>
      </p:sp>
      <p:sp>
        <p:nvSpPr>
          <p:cNvPr id="11" name="Text 9"/>
          <p:cNvSpPr/>
          <p:nvPr/>
        </p:nvSpPr>
        <p:spPr>
          <a:xfrm>
            <a:off x="640080" y="3886200"/>
            <a:ext cx="3474720" cy="640080"/>
          </a:xfrm>
          <a:prstGeom prst="rect">
            <a:avLst/>
          </a:prstGeom>
          <a:noFill/>
          <a:ln/>
        </p:spPr>
        <p:txBody>
          <a:bodyPr wrap="square" rtlCol="0" anchor="t"/>
          <a:lstStyle/>
          <a:p>
            <a:pPr marL="0" indent="0">
              <a:buNone/>
            </a:pPr>
            <a:r>
              <a:rPr lang="en-US" sz="1100" i="1" dirty="0">
                <a:solidFill>
                  <a:srgbClr val="1A1A1A"/>
                </a:solidFill>
                <a:latin typeface="Calibri" pitchFamily="34" charset="0"/>
                <a:ea typeface="Calibri" pitchFamily="34" charset="-122"/>
                <a:cs typeface="Calibri" pitchFamily="34" charset="-120"/>
              </a:rPr>
              <a:t>fully understand dashboard warning lights, only 5 of 36 respondents.</a:t>
            </a:r>
            <a:endParaRPr lang="en-US" sz="1100" dirty="0"/>
          </a:p>
        </p:txBody>
      </p:sp>
      <p:sp>
        <p:nvSpPr>
          <p:cNvPr id="12" name="Text 10"/>
          <p:cNvSpPr/>
          <p:nvPr/>
        </p:nvSpPr>
        <p:spPr>
          <a:xfrm>
            <a:off x="4297680" y="2377440"/>
            <a:ext cx="3474720" cy="1371600"/>
          </a:xfrm>
          <a:prstGeom prst="rect">
            <a:avLst/>
          </a:prstGeom>
          <a:noFill/>
          <a:ln/>
        </p:spPr>
        <p:txBody>
          <a:bodyPr wrap="square" rtlCol="0" anchor="ctr"/>
          <a:lstStyle/>
          <a:p>
            <a:pPr marL="0" indent="0" algn="l">
              <a:buNone/>
            </a:pPr>
            <a:r>
              <a:rPr lang="en-US" sz="7200" b="1" dirty="0">
                <a:solidFill>
                  <a:srgbClr val="B85042"/>
                </a:solidFill>
                <a:latin typeface="Georgia" pitchFamily="34" charset="0"/>
                <a:ea typeface="Georgia" pitchFamily="34" charset="-122"/>
                <a:cs typeface="Georgia" pitchFamily="34" charset="-120"/>
              </a:rPr>
              <a:t>77.8%</a:t>
            </a:r>
            <a:endParaRPr lang="en-US" sz="7200" dirty="0"/>
          </a:p>
        </p:txBody>
      </p:sp>
      <p:sp>
        <p:nvSpPr>
          <p:cNvPr id="13" name="Text 11"/>
          <p:cNvSpPr/>
          <p:nvPr/>
        </p:nvSpPr>
        <p:spPr>
          <a:xfrm>
            <a:off x="4297680" y="3886200"/>
            <a:ext cx="3474720" cy="640080"/>
          </a:xfrm>
          <a:prstGeom prst="rect">
            <a:avLst/>
          </a:prstGeom>
          <a:noFill/>
          <a:ln/>
        </p:spPr>
        <p:txBody>
          <a:bodyPr wrap="square" rtlCol="0" anchor="t"/>
          <a:lstStyle/>
          <a:p>
            <a:pPr marL="0" indent="0">
              <a:buNone/>
            </a:pPr>
            <a:r>
              <a:rPr lang="en-US" sz="1100" i="1" dirty="0">
                <a:solidFill>
                  <a:srgbClr val="1A1A1A"/>
                </a:solidFill>
                <a:latin typeface="Calibri" pitchFamily="34" charset="0"/>
                <a:ea typeface="Calibri" pitchFamily="34" charset="-122"/>
                <a:cs typeface="Calibri" pitchFamily="34" charset="-120"/>
              </a:rPr>
              <a:t>have encountered a warning light whose meaning they did not know.</a:t>
            </a:r>
            <a:endParaRPr lang="en-US" sz="1100" dirty="0"/>
          </a:p>
        </p:txBody>
      </p:sp>
      <p:sp>
        <p:nvSpPr>
          <p:cNvPr id="14" name="Text 12"/>
          <p:cNvSpPr/>
          <p:nvPr/>
        </p:nvSpPr>
        <p:spPr>
          <a:xfrm>
            <a:off x="7955280" y="2377440"/>
            <a:ext cx="3474720" cy="1371600"/>
          </a:xfrm>
          <a:prstGeom prst="rect">
            <a:avLst/>
          </a:prstGeom>
          <a:noFill/>
          <a:ln/>
        </p:spPr>
        <p:txBody>
          <a:bodyPr wrap="square" rtlCol="0" anchor="ctr"/>
          <a:lstStyle/>
          <a:p>
            <a:pPr marL="0" indent="0" algn="l">
              <a:buNone/>
            </a:pPr>
            <a:r>
              <a:rPr lang="en-US" sz="7200" b="1" dirty="0">
                <a:solidFill>
                  <a:srgbClr val="B85042"/>
                </a:solidFill>
                <a:latin typeface="Georgia" pitchFamily="34" charset="0"/>
                <a:ea typeface="Georgia" pitchFamily="34" charset="-122"/>
                <a:cs typeface="Georgia" pitchFamily="34" charset="-120"/>
              </a:rPr>
              <a:t>83.3%</a:t>
            </a:r>
            <a:endParaRPr lang="en-US" sz="7200" dirty="0"/>
          </a:p>
        </p:txBody>
      </p:sp>
      <p:sp>
        <p:nvSpPr>
          <p:cNvPr id="15" name="Text 13"/>
          <p:cNvSpPr/>
          <p:nvPr/>
        </p:nvSpPr>
        <p:spPr>
          <a:xfrm>
            <a:off x="7955280" y="3886200"/>
            <a:ext cx="3474720" cy="640080"/>
          </a:xfrm>
          <a:prstGeom prst="rect">
            <a:avLst/>
          </a:prstGeom>
          <a:noFill/>
          <a:ln/>
        </p:spPr>
        <p:txBody>
          <a:bodyPr wrap="square" rtlCol="0" anchor="t"/>
          <a:lstStyle/>
          <a:p>
            <a:pPr marL="0" indent="0">
              <a:buNone/>
            </a:pPr>
            <a:r>
              <a:rPr lang="en-US" sz="1100" i="1" dirty="0">
                <a:solidFill>
                  <a:srgbClr val="1A1A1A"/>
                </a:solidFill>
                <a:latin typeface="Calibri" pitchFamily="34" charset="0"/>
                <a:ea typeface="Calibri" pitchFamily="34" charset="-122"/>
                <a:cs typeface="Calibri" pitchFamily="34" charset="-120"/>
              </a:rPr>
              <a:t>have noticed strange or abnormal engine sounds while driving.</a:t>
            </a:r>
            <a:endParaRPr lang="en-US" sz="1100" dirty="0"/>
          </a:p>
        </p:txBody>
      </p:sp>
      <p:sp>
        <p:nvSpPr>
          <p:cNvPr id="16" name="Shape 14"/>
          <p:cNvSpPr/>
          <p:nvPr/>
        </p:nvSpPr>
        <p:spPr>
          <a:xfrm>
            <a:off x="640080" y="5212080"/>
            <a:ext cx="10911535" cy="1097280"/>
          </a:xfrm>
          <a:prstGeom prst="rect">
            <a:avLst/>
          </a:prstGeom>
          <a:solidFill>
            <a:srgbClr val="EDE4D3"/>
          </a:solidFill>
          <a:ln/>
        </p:spPr>
      </p:sp>
      <p:sp>
        <p:nvSpPr>
          <p:cNvPr id="17" name="Text 15"/>
          <p:cNvSpPr/>
          <p:nvPr/>
        </p:nvSpPr>
        <p:spPr>
          <a:xfrm>
            <a:off x="868680" y="5349240"/>
            <a:ext cx="10454335" cy="868680"/>
          </a:xfrm>
          <a:prstGeom prst="rect">
            <a:avLst/>
          </a:prstGeom>
          <a:noFill/>
          <a:ln/>
        </p:spPr>
        <p:txBody>
          <a:bodyPr wrap="square" rtlCol="0" anchor="ctr"/>
          <a:lstStyle/>
          <a:p>
            <a:pPr marL="0" indent="0">
              <a:buNone/>
            </a:pPr>
            <a:r>
              <a:rPr lang="en-US" sz="1300" i="1" dirty="0">
                <a:solidFill>
                  <a:srgbClr val="1A1A1A"/>
                </a:solidFill>
                <a:latin typeface="Georgia" pitchFamily="34" charset="0"/>
                <a:ea typeface="Georgia" pitchFamily="34" charset="-122"/>
                <a:cs typeface="Georgia" pitchFamily="34" charset="-120"/>
              </a:rPr>
              <a:t>Only 8.3% of respondents have ever used a diagnostic app.    ·    69.4% find it difficult or very difficult to identify faults from sound.    ·    58.3% turn to a mechanic the moment a warning light appears.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EFE6"/>
        </a:solidFill>
        <a:effectLst/>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B85042"/>
          </a:solidFill>
          <a:ln/>
        </p:spPr>
      </p:sp>
      <p:sp>
        <p:nvSpPr>
          <p:cNvPr id="3" name="Shape 1"/>
          <p:cNvSpPr/>
          <p:nvPr/>
        </p:nvSpPr>
        <p:spPr>
          <a:xfrm>
            <a:off x="640080" y="411480"/>
            <a:ext cx="10911535" cy="0"/>
          </a:xfrm>
          <a:prstGeom prst="line">
            <a:avLst/>
          </a:prstGeom>
          <a:noFill/>
          <a:ln w="9525">
            <a:solidFill>
              <a:srgbClr val="1A1A1A"/>
            </a:solidFill>
            <a:prstDash val="solid"/>
          </a:ln>
        </p:spPr>
      </p:sp>
      <p:sp>
        <p:nvSpPr>
          <p:cNvPr id="4" name="Text 2"/>
          <p:cNvSpPr/>
          <p:nvPr/>
        </p:nvSpPr>
        <p:spPr>
          <a:xfrm>
            <a:off x="640080" y="137160"/>
            <a:ext cx="6400800" cy="274320"/>
          </a:xfrm>
          <a:prstGeom prst="rect">
            <a:avLst/>
          </a:prstGeom>
          <a:noFill/>
          <a:ln/>
        </p:spPr>
        <p:txBody>
          <a:bodyPr wrap="square" rtlCol="0" anchor="ctr"/>
          <a:lstStyle/>
          <a:p>
            <a:pPr marL="0" indent="0">
              <a:buNone/>
            </a:pPr>
            <a:r>
              <a:rPr lang="en-US" sz="900" b="1" kern="0" spc="400" dirty="0">
                <a:solidFill>
                  <a:srgbClr val="1A1A1A"/>
                </a:solidFill>
                <a:latin typeface="Georgia" pitchFamily="34" charset="0"/>
                <a:ea typeface="Georgia" pitchFamily="34" charset="-122"/>
                <a:cs typeface="Georgia" pitchFamily="34" charset="-120"/>
              </a:rPr>
              <a:t>02 / DATA GATHERING</a:t>
            </a:r>
            <a:endParaRPr lang="en-US" sz="900" dirty="0"/>
          </a:p>
        </p:txBody>
      </p:sp>
      <p:sp>
        <p:nvSpPr>
          <p:cNvPr id="5" name="Text 3"/>
          <p:cNvSpPr/>
          <p:nvPr/>
        </p:nvSpPr>
        <p:spPr>
          <a:xfrm>
            <a:off x="7894015" y="137160"/>
            <a:ext cx="3657600" cy="274320"/>
          </a:xfrm>
          <a:prstGeom prst="rect">
            <a:avLst/>
          </a:prstGeom>
          <a:noFill/>
          <a:ln/>
        </p:spPr>
        <p:txBody>
          <a:bodyPr wrap="square" rtlCol="0" anchor="ctr"/>
          <a:lstStyle/>
          <a:p>
            <a:pPr marL="0" indent="0" algn="r">
              <a:buNone/>
            </a:pPr>
            <a:r>
              <a:rPr lang="en-US" sz="900" b="1" kern="0" spc="400" dirty="0">
                <a:solidFill>
                  <a:srgbClr val="5C5C5C"/>
                </a:solidFill>
                <a:latin typeface="Georgia" pitchFamily="34" charset="0"/>
                <a:ea typeface="Georgia" pitchFamily="34" charset="-122"/>
                <a:cs typeface="Georgia" pitchFamily="34" charset="-120"/>
              </a:rPr>
              <a:t>CAR FAULT DIAGNOSIS</a:t>
            </a:r>
            <a:endParaRPr lang="en-US" sz="900" dirty="0"/>
          </a:p>
        </p:txBody>
      </p:sp>
      <p:sp>
        <p:nvSpPr>
          <p:cNvPr id="6" name="Shape 4"/>
          <p:cNvSpPr/>
          <p:nvPr/>
        </p:nvSpPr>
        <p:spPr>
          <a:xfrm>
            <a:off x="640080" y="6446520"/>
            <a:ext cx="10911535" cy="0"/>
          </a:xfrm>
          <a:prstGeom prst="line">
            <a:avLst/>
          </a:prstGeom>
          <a:noFill/>
          <a:ln w="6350">
            <a:solidFill>
              <a:srgbClr val="1A1A1A"/>
            </a:solidFill>
            <a:prstDash val="solid"/>
          </a:ln>
        </p:spPr>
      </p:sp>
      <p:sp>
        <p:nvSpPr>
          <p:cNvPr id="7" name="Text 5"/>
          <p:cNvSpPr/>
          <p:nvPr/>
        </p:nvSpPr>
        <p:spPr>
          <a:xfrm>
            <a:off x="5547208" y="6510528"/>
            <a:ext cx="1097280" cy="274320"/>
          </a:xfrm>
          <a:prstGeom prst="rect">
            <a:avLst/>
          </a:prstGeom>
          <a:noFill/>
          <a:ln/>
        </p:spPr>
        <p:txBody>
          <a:bodyPr wrap="square" rtlCol="0" anchor="ctr"/>
          <a:lstStyle/>
          <a:p>
            <a:pPr marL="0" indent="0" algn="ctr">
              <a:buNone/>
            </a:pPr>
            <a:r>
              <a:rPr lang="en-US" sz="900" i="1" dirty="0">
                <a:solidFill>
                  <a:srgbClr val="5C5C5C"/>
                </a:solidFill>
                <a:latin typeface="Georgia" pitchFamily="34" charset="0"/>
                <a:ea typeface="Georgia" pitchFamily="34" charset="-122"/>
                <a:cs typeface="Georgia" pitchFamily="34" charset="-120"/>
              </a:rPr>
              <a:t>— 10 —</a:t>
            </a:r>
            <a:endParaRPr lang="en-US" sz="900" dirty="0"/>
          </a:p>
        </p:txBody>
      </p:sp>
      <p:sp>
        <p:nvSpPr>
          <p:cNvPr id="8" name="Text 6"/>
          <p:cNvSpPr/>
          <p:nvPr/>
        </p:nvSpPr>
        <p:spPr>
          <a:xfrm>
            <a:off x="640080" y="777240"/>
            <a:ext cx="4572000" cy="274320"/>
          </a:xfrm>
          <a:prstGeom prst="rect">
            <a:avLst/>
          </a:prstGeom>
          <a:noFill/>
          <a:ln/>
        </p:spPr>
        <p:txBody>
          <a:bodyPr wrap="square" rtlCol="0" anchor="ctr"/>
          <a:lstStyle/>
          <a:p>
            <a:pPr marL="0" indent="0">
              <a:buNone/>
            </a:pPr>
            <a:r>
              <a:rPr lang="en-US" sz="1100" b="1" kern="0" spc="600" dirty="0">
                <a:solidFill>
                  <a:srgbClr val="B85042"/>
                </a:solidFill>
                <a:latin typeface="Georgia" pitchFamily="34" charset="0"/>
                <a:ea typeface="Georgia" pitchFamily="34" charset="-122"/>
                <a:cs typeface="Georgia" pitchFamily="34" charset="-120"/>
              </a:rPr>
              <a:t>WHAT USERS WANT</a:t>
            </a:r>
            <a:endParaRPr lang="en-US" sz="1100" dirty="0"/>
          </a:p>
        </p:txBody>
      </p:sp>
      <p:sp>
        <p:nvSpPr>
          <p:cNvPr id="9" name="Text 7"/>
          <p:cNvSpPr/>
          <p:nvPr/>
        </p:nvSpPr>
        <p:spPr>
          <a:xfrm>
            <a:off x="640080" y="1097280"/>
            <a:ext cx="10058400" cy="914400"/>
          </a:xfrm>
          <a:prstGeom prst="rect">
            <a:avLst/>
          </a:prstGeom>
          <a:noFill/>
          <a:ln/>
        </p:spPr>
        <p:txBody>
          <a:bodyPr wrap="square" rtlCol="0" anchor="ctr"/>
          <a:lstStyle/>
          <a:p>
            <a:pPr marL="0" indent="0" algn="l">
              <a:buNone/>
            </a:pPr>
            <a:r>
              <a:rPr lang="en-US" sz="3600" b="1" dirty="0">
                <a:solidFill>
                  <a:srgbClr val="1A1A1A"/>
                </a:solidFill>
                <a:latin typeface="Georgia" pitchFamily="34" charset="0"/>
                <a:ea typeface="Georgia" pitchFamily="34" charset="-122"/>
                <a:cs typeface="Georgia" pitchFamily="34" charset="-120"/>
              </a:rPr>
              <a:t>Features, ranked.</a:t>
            </a:r>
            <a:endParaRPr lang="en-US" sz="3600" dirty="0"/>
          </a:p>
        </p:txBody>
      </p:sp>
      <p:sp>
        <p:nvSpPr>
          <p:cNvPr id="10" name="Text 8"/>
          <p:cNvSpPr/>
          <p:nvPr/>
        </p:nvSpPr>
        <p:spPr>
          <a:xfrm>
            <a:off x="640080" y="2377440"/>
            <a:ext cx="4206240" cy="457200"/>
          </a:xfrm>
          <a:prstGeom prst="rect">
            <a:avLst/>
          </a:prstGeom>
          <a:noFill/>
          <a:ln/>
        </p:spPr>
        <p:txBody>
          <a:bodyPr wrap="square" rtlCol="0" anchor="ctr"/>
          <a:lstStyle/>
          <a:p>
            <a:pPr marL="0" indent="0" algn="l">
              <a:buNone/>
            </a:pPr>
            <a:r>
              <a:rPr lang="en-US" sz="1300" dirty="0">
                <a:solidFill>
                  <a:srgbClr val="1A1A1A"/>
                </a:solidFill>
                <a:latin typeface="Calibri" pitchFamily="34" charset="0"/>
                <a:ea typeface="Calibri" pitchFamily="34" charset="-122"/>
                <a:cs typeface="Calibri" pitchFamily="34" charset="-120"/>
              </a:rPr>
              <a:t>Show video tutorials</a:t>
            </a:r>
            <a:endParaRPr lang="en-US" sz="1300" dirty="0"/>
          </a:p>
        </p:txBody>
      </p:sp>
      <p:sp>
        <p:nvSpPr>
          <p:cNvPr id="11" name="Shape 9"/>
          <p:cNvSpPr/>
          <p:nvPr/>
        </p:nvSpPr>
        <p:spPr>
          <a:xfrm>
            <a:off x="5029200" y="2514600"/>
            <a:ext cx="5943600" cy="320040"/>
          </a:xfrm>
          <a:prstGeom prst="rect">
            <a:avLst/>
          </a:prstGeom>
          <a:solidFill>
            <a:srgbClr val="EDE4D3"/>
          </a:solidFill>
          <a:ln/>
        </p:spPr>
      </p:sp>
      <p:sp>
        <p:nvSpPr>
          <p:cNvPr id="12" name="Shape 10"/>
          <p:cNvSpPr/>
          <p:nvPr/>
        </p:nvSpPr>
        <p:spPr>
          <a:xfrm>
            <a:off x="5029200" y="2514600"/>
            <a:ext cx="5283860" cy="320040"/>
          </a:xfrm>
          <a:prstGeom prst="rect">
            <a:avLst/>
          </a:prstGeom>
          <a:solidFill>
            <a:srgbClr val="B85042"/>
          </a:solidFill>
          <a:ln/>
        </p:spPr>
      </p:sp>
      <p:sp>
        <p:nvSpPr>
          <p:cNvPr id="13" name="Text 11"/>
          <p:cNvSpPr/>
          <p:nvPr/>
        </p:nvSpPr>
        <p:spPr>
          <a:xfrm>
            <a:off x="10404500" y="2423160"/>
            <a:ext cx="914400" cy="457200"/>
          </a:xfrm>
          <a:prstGeom prst="rect">
            <a:avLst/>
          </a:prstGeom>
          <a:noFill/>
          <a:ln/>
        </p:spPr>
        <p:txBody>
          <a:bodyPr wrap="square" rtlCol="0" anchor="ctr"/>
          <a:lstStyle/>
          <a:p>
            <a:pPr marL="0" indent="0">
              <a:buNone/>
            </a:pPr>
            <a:r>
              <a:rPr lang="en-US" sz="1400" b="1" dirty="0">
                <a:solidFill>
                  <a:srgbClr val="1A1A1A"/>
                </a:solidFill>
                <a:latin typeface="Georgia" pitchFamily="34" charset="0"/>
                <a:ea typeface="Georgia" pitchFamily="34" charset="-122"/>
                <a:cs typeface="Georgia" pitchFamily="34" charset="-120"/>
              </a:rPr>
              <a:t>88.9%</a:t>
            </a:r>
            <a:endParaRPr lang="en-US" sz="1400" dirty="0"/>
          </a:p>
        </p:txBody>
      </p:sp>
      <p:sp>
        <p:nvSpPr>
          <p:cNvPr id="14" name="Text 12"/>
          <p:cNvSpPr/>
          <p:nvPr/>
        </p:nvSpPr>
        <p:spPr>
          <a:xfrm>
            <a:off x="640080" y="3017520"/>
            <a:ext cx="4206240" cy="457200"/>
          </a:xfrm>
          <a:prstGeom prst="rect">
            <a:avLst/>
          </a:prstGeom>
          <a:noFill/>
          <a:ln/>
        </p:spPr>
        <p:txBody>
          <a:bodyPr wrap="square" rtlCol="0" anchor="ctr"/>
          <a:lstStyle/>
          <a:p>
            <a:pPr marL="0" indent="0" algn="l">
              <a:buNone/>
            </a:pPr>
            <a:r>
              <a:rPr lang="en-US" sz="1300" dirty="0">
                <a:solidFill>
                  <a:srgbClr val="1A1A1A"/>
                </a:solidFill>
                <a:latin typeface="Calibri" pitchFamily="34" charset="0"/>
                <a:ea typeface="Calibri" pitchFamily="34" charset="-122"/>
                <a:cs typeface="Calibri" pitchFamily="34" charset="-120"/>
              </a:rPr>
              <a:t>Detect engine problems from sound</a:t>
            </a:r>
            <a:endParaRPr lang="en-US" sz="1300" dirty="0"/>
          </a:p>
        </p:txBody>
      </p:sp>
      <p:sp>
        <p:nvSpPr>
          <p:cNvPr id="15" name="Shape 13"/>
          <p:cNvSpPr/>
          <p:nvPr/>
        </p:nvSpPr>
        <p:spPr>
          <a:xfrm>
            <a:off x="5029200" y="3154680"/>
            <a:ext cx="5943600" cy="320040"/>
          </a:xfrm>
          <a:prstGeom prst="rect">
            <a:avLst/>
          </a:prstGeom>
          <a:solidFill>
            <a:srgbClr val="EDE4D3"/>
          </a:solidFill>
          <a:ln/>
        </p:spPr>
      </p:sp>
      <p:sp>
        <p:nvSpPr>
          <p:cNvPr id="16" name="Shape 14"/>
          <p:cNvSpPr/>
          <p:nvPr/>
        </p:nvSpPr>
        <p:spPr>
          <a:xfrm>
            <a:off x="5029200" y="3154680"/>
            <a:ext cx="4790542" cy="320040"/>
          </a:xfrm>
          <a:prstGeom prst="rect">
            <a:avLst/>
          </a:prstGeom>
          <a:solidFill>
            <a:srgbClr val="B85042"/>
          </a:solidFill>
          <a:ln/>
        </p:spPr>
      </p:sp>
      <p:sp>
        <p:nvSpPr>
          <p:cNvPr id="17" name="Text 15"/>
          <p:cNvSpPr/>
          <p:nvPr/>
        </p:nvSpPr>
        <p:spPr>
          <a:xfrm>
            <a:off x="9911182" y="3063240"/>
            <a:ext cx="914400" cy="457200"/>
          </a:xfrm>
          <a:prstGeom prst="rect">
            <a:avLst/>
          </a:prstGeom>
          <a:noFill/>
          <a:ln/>
        </p:spPr>
        <p:txBody>
          <a:bodyPr wrap="square" rtlCol="0" anchor="ctr"/>
          <a:lstStyle/>
          <a:p>
            <a:pPr marL="0" indent="0">
              <a:buNone/>
            </a:pPr>
            <a:r>
              <a:rPr lang="en-US" sz="1400" b="1" dirty="0">
                <a:solidFill>
                  <a:srgbClr val="1A1A1A"/>
                </a:solidFill>
                <a:latin typeface="Georgia" pitchFamily="34" charset="0"/>
                <a:ea typeface="Georgia" pitchFamily="34" charset="-122"/>
                <a:cs typeface="Georgia" pitchFamily="34" charset="-120"/>
              </a:rPr>
              <a:t>80.6%</a:t>
            </a:r>
            <a:endParaRPr lang="en-US" sz="1400" dirty="0"/>
          </a:p>
        </p:txBody>
      </p:sp>
      <p:sp>
        <p:nvSpPr>
          <p:cNvPr id="18" name="Text 16"/>
          <p:cNvSpPr/>
          <p:nvPr/>
        </p:nvSpPr>
        <p:spPr>
          <a:xfrm>
            <a:off x="640080" y="3657600"/>
            <a:ext cx="4206240" cy="457200"/>
          </a:xfrm>
          <a:prstGeom prst="rect">
            <a:avLst/>
          </a:prstGeom>
          <a:noFill/>
          <a:ln/>
        </p:spPr>
        <p:txBody>
          <a:bodyPr wrap="square" rtlCol="0" anchor="ctr"/>
          <a:lstStyle/>
          <a:p>
            <a:pPr marL="0" indent="0" algn="l">
              <a:buNone/>
            </a:pPr>
            <a:r>
              <a:rPr lang="en-US" sz="1300" dirty="0">
                <a:solidFill>
                  <a:srgbClr val="1A1A1A"/>
                </a:solidFill>
                <a:latin typeface="Calibri" pitchFamily="34" charset="0"/>
                <a:ea typeface="Calibri" pitchFamily="34" charset="-122"/>
                <a:cs typeface="Calibri" pitchFamily="34" charset="-120"/>
              </a:rPr>
              <a:t>Offline functionality</a:t>
            </a:r>
            <a:endParaRPr lang="en-US" sz="1300" dirty="0"/>
          </a:p>
        </p:txBody>
      </p:sp>
      <p:sp>
        <p:nvSpPr>
          <p:cNvPr id="19" name="Shape 17"/>
          <p:cNvSpPr/>
          <p:nvPr/>
        </p:nvSpPr>
        <p:spPr>
          <a:xfrm>
            <a:off x="5029200" y="3794760"/>
            <a:ext cx="5943600" cy="320040"/>
          </a:xfrm>
          <a:prstGeom prst="rect">
            <a:avLst/>
          </a:prstGeom>
          <a:solidFill>
            <a:srgbClr val="EDE4D3"/>
          </a:solidFill>
          <a:ln/>
        </p:spPr>
      </p:sp>
      <p:sp>
        <p:nvSpPr>
          <p:cNvPr id="20" name="Shape 18"/>
          <p:cNvSpPr/>
          <p:nvPr/>
        </p:nvSpPr>
        <p:spPr>
          <a:xfrm>
            <a:off x="5029200" y="3794760"/>
            <a:ext cx="4790542" cy="320040"/>
          </a:xfrm>
          <a:prstGeom prst="rect">
            <a:avLst/>
          </a:prstGeom>
          <a:solidFill>
            <a:srgbClr val="B85042"/>
          </a:solidFill>
          <a:ln/>
        </p:spPr>
      </p:sp>
      <p:sp>
        <p:nvSpPr>
          <p:cNvPr id="21" name="Text 19"/>
          <p:cNvSpPr/>
          <p:nvPr/>
        </p:nvSpPr>
        <p:spPr>
          <a:xfrm>
            <a:off x="9911182" y="3703320"/>
            <a:ext cx="914400" cy="457200"/>
          </a:xfrm>
          <a:prstGeom prst="rect">
            <a:avLst/>
          </a:prstGeom>
          <a:noFill/>
          <a:ln/>
        </p:spPr>
        <p:txBody>
          <a:bodyPr wrap="square" rtlCol="0" anchor="ctr"/>
          <a:lstStyle/>
          <a:p>
            <a:pPr marL="0" indent="0">
              <a:buNone/>
            </a:pPr>
            <a:r>
              <a:rPr lang="en-US" sz="1400" b="1" dirty="0">
                <a:solidFill>
                  <a:srgbClr val="1A1A1A"/>
                </a:solidFill>
                <a:latin typeface="Georgia" pitchFamily="34" charset="0"/>
                <a:ea typeface="Georgia" pitchFamily="34" charset="-122"/>
                <a:cs typeface="Georgia" pitchFamily="34" charset="-120"/>
              </a:rPr>
              <a:t>80.6%</a:t>
            </a:r>
            <a:endParaRPr lang="en-US" sz="1400" dirty="0"/>
          </a:p>
        </p:txBody>
      </p:sp>
      <p:sp>
        <p:nvSpPr>
          <p:cNvPr id="22" name="Text 20"/>
          <p:cNvSpPr/>
          <p:nvPr/>
        </p:nvSpPr>
        <p:spPr>
          <a:xfrm>
            <a:off x="640080" y="4297680"/>
            <a:ext cx="4206240" cy="457200"/>
          </a:xfrm>
          <a:prstGeom prst="rect">
            <a:avLst/>
          </a:prstGeom>
          <a:noFill/>
          <a:ln/>
        </p:spPr>
        <p:txBody>
          <a:bodyPr wrap="square" rtlCol="0" anchor="ctr"/>
          <a:lstStyle/>
          <a:p>
            <a:pPr marL="0" indent="0" algn="l">
              <a:buNone/>
            </a:pPr>
            <a:r>
              <a:rPr lang="en-US" sz="1300" dirty="0">
                <a:solidFill>
                  <a:srgbClr val="1A1A1A"/>
                </a:solidFill>
                <a:latin typeface="Calibri" pitchFamily="34" charset="0"/>
                <a:ea typeface="Calibri" pitchFamily="34" charset="-122"/>
                <a:cs typeface="Calibri" pitchFamily="34" charset="-120"/>
              </a:rPr>
              <a:t>Scan dashboard warning lights</a:t>
            </a:r>
            <a:endParaRPr lang="en-US" sz="1300" dirty="0"/>
          </a:p>
        </p:txBody>
      </p:sp>
      <p:sp>
        <p:nvSpPr>
          <p:cNvPr id="23" name="Shape 21"/>
          <p:cNvSpPr/>
          <p:nvPr/>
        </p:nvSpPr>
        <p:spPr>
          <a:xfrm>
            <a:off x="5029200" y="4434840"/>
            <a:ext cx="5943600" cy="320040"/>
          </a:xfrm>
          <a:prstGeom prst="rect">
            <a:avLst/>
          </a:prstGeom>
          <a:solidFill>
            <a:srgbClr val="EDE4D3"/>
          </a:solidFill>
          <a:ln/>
        </p:spPr>
      </p:sp>
      <p:sp>
        <p:nvSpPr>
          <p:cNvPr id="24" name="Shape 22"/>
          <p:cNvSpPr/>
          <p:nvPr/>
        </p:nvSpPr>
        <p:spPr>
          <a:xfrm>
            <a:off x="5029200" y="4434840"/>
            <a:ext cx="4457700" cy="320040"/>
          </a:xfrm>
          <a:prstGeom prst="rect">
            <a:avLst/>
          </a:prstGeom>
          <a:solidFill>
            <a:srgbClr val="B85042"/>
          </a:solidFill>
          <a:ln/>
        </p:spPr>
      </p:sp>
      <p:sp>
        <p:nvSpPr>
          <p:cNvPr id="25" name="Text 23"/>
          <p:cNvSpPr/>
          <p:nvPr/>
        </p:nvSpPr>
        <p:spPr>
          <a:xfrm>
            <a:off x="9578340" y="4343400"/>
            <a:ext cx="914400" cy="457200"/>
          </a:xfrm>
          <a:prstGeom prst="rect">
            <a:avLst/>
          </a:prstGeom>
          <a:noFill/>
          <a:ln/>
        </p:spPr>
        <p:txBody>
          <a:bodyPr wrap="square" rtlCol="0" anchor="ctr"/>
          <a:lstStyle/>
          <a:p>
            <a:pPr marL="0" indent="0">
              <a:buNone/>
            </a:pPr>
            <a:r>
              <a:rPr lang="en-US" sz="1400" b="1" dirty="0">
                <a:solidFill>
                  <a:srgbClr val="1A1A1A"/>
                </a:solidFill>
                <a:latin typeface="Georgia" pitchFamily="34" charset="0"/>
                <a:ea typeface="Georgia" pitchFamily="34" charset="-122"/>
                <a:cs typeface="Georgia" pitchFamily="34" charset="-120"/>
              </a:rPr>
              <a:t>75%</a:t>
            </a:r>
            <a:endParaRPr lang="en-US" sz="1400" dirty="0"/>
          </a:p>
        </p:txBody>
      </p:sp>
      <p:sp>
        <p:nvSpPr>
          <p:cNvPr id="26" name="Text 24"/>
          <p:cNvSpPr/>
          <p:nvPr/>
        </p:nvSpPr>
        <p:spPr>
          <a:xfrm>
            <a:off x="640080" y="4937760"/>
            <a:ext cx="4206240" cy="457200"/>
          </a:xfrm>
          <a:prstGeom prst="rect">
            <a:avLst/>
          </a:prstGeom>
          <a:noFill/>
          <a:ln/>
        </p:spPr>
        <p:txBody>
          <a:bodyPr wrap="square" rtlCol="0" anchor="ctr"/>
          <a:lstStyle/>
          <a:p>
            <a:pPr marL="0" indent="0" algn="l">
              <a:buNone/>
            </a:pPr>
            <a:r>
              <a:rPr lang="en-US" sz="1300" dirty="0">
                <a:solidFill>
                  <a:srgbClr val="1A1A1A"/>
                </a:solidFill>
                <a:latin typeface="Calibri" pitchFamily="34" charset="0"/>
                <a:ea typeface="Calibri" pitchFamily="34" charset="-122"/>
                <a:cs typeface="Calibri" pitchFamily="34" charset="-120"/>
              </a:rPr>
              <a:t>Provide repair suggestions</a:t>
            </a:r>
            <a:endParaRPr lang="en-US" sz="1300" dirty="0"/>
          </a:p>
        </p:txBody>
      </p:sp>
      <p:sp>
        <p:nvSpPr>
          <p:cNvPr id="27" name="Shape 25"/>
          <p:cNvSpPr/>
          <p:nvPr/>
        </p:nvSpPr>
        <p:spPr>
          <a:xfrm>
            <a:off x="5029200" y="5074920"/>
            <a:ext cx="5943600" cy="320040"/>
          </a:xfrm>
          <a:prstGeom prst="rect">
            <a:avLst/>
          </a:prstGeom>
          <a:solidFill>
            <a:srgbClr val="EDE4D3"/>
          </a:solidFill>
          <a:ln/>
        </p:spPr>
      </p:sp>
      <p:sp>
        <p:nvSpPr>
          <p:cNvPr id="28" name="Shape 26"/>
          <p:cNvSpPr/>
          <p:nvPr/>
        </p:nvSpPr>
        <p:spPr>
          <a:xfrm>
            <a:off x="5029200" y="5074920"/>
            <a:ext cx="3964381" cy="320040"/>
          </a:xfrm>
          <a:prstGeom prst="rect">
            <a:avLst/>
          </a:prstGeom>
          <a:solidFill>
            <a:srgbClr val="B85042"/>
          </a:solidFill>
          <a:ln/>
        </p:spPr>
      </p:sp>
      <p:sp>
        <p:nvSpPr>
          <p:cNvPr id="29" name="Text 27"/>
          <p:cNvSpPr/>
          <p:nvPr/>
        </p:nvSpPr>
        <p:spPr>
          <a:xfrm>
            <a:off x="9085021" y="4983480"/>
            <a:ext cx="914400" cy="457200"/>
          </a:xfrm>
          <a:prstGeom prst="rect">
            <a:avLst/>
          </a:prstGeom>
          <a:noFill/>
          <a:ln/>
        </p:spPr>
        <p:txBody>
          <a:bodyPr wrap="square" rtlCol="0" anchor="ctr"/>
          <a:lstStyle/>
          <a:p>
            <a:pPr marL="0" indent="0">
              <a:buNone/>
            </a:pPr>
            <a:r>
              <a:rPr lang="en-US" sz="1400" b="1" dirty="0">
                <a:solidFill>
                  <a:srgbClr val="1A1A1A"/>
                </a:solidFill>
                <a:latin typeface="Georgia" pitchFamily="34" charset="0"/>
                <a:ea typeface="Georgia" pitchFamily="34" charset="-122"/>
                <a:cs typeface="Georgia" pitchFamily="34" charset="-120"/>
              </a:rPr>
              <a:t>66.7%</a:t>
            </a:r>
            <a:endParaRPr lang="en-US" sz="1400" dirty="0"/>
          </a:p>
        </p:txBody>
      </p:sp>
      <p:sp>
        <p:nvSpPr>
          <p:cNvPr id="30" name="Text 28"/>
          <p:cNvSpPr/>
          <p:nvPr/>
        </p:nvSpPr>
        <p:spPr>
          <a:xfrm>
            <a:off x="640080" y="5943600"/>
            <a:ext cx="10911535" cy="274320"/>
          </a:xfrm>
          <a:prstGeom prst="rect">
            <a:avLst/>
          </a:prstGeom>
          <a:noFill/>
          <a:ln/>
        </p:spPr>
        <p:txBody>
          <a:bodyPr wrap="square" rtlCol="0" anchor="ctr"/>
          <a:lstStyle/>
          <a:p>
            <a:pPr marL="0" indent="0">
              <a:buNone/>
            </a:pPr>
            <a:r>
              <a:rPr lang="en-US" sz="1000" i="1" dirty="0">
                <a:solidFill>
                  <a:srgbClr val="5C5C5C"/>
                </a:solidFill>
                <a:latin typeface="Calibri" pitchFamily="34" charset="0"/>
                <a:ea typeface="Calibri" pitchFamily="34" charset="-122"/>
                <a:cs typeface="Calibri" pitchFamily="34" charset="-120"/>
              </a:rPr>
              <a:t>Multi-select question  ·  N = 36  ·  Percentages exceed 100% as respondents could choose more than one feature.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EFE6"/>
        </a:solidFill>
        <a:effectLst/>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B85042"/>
          </a:solidFill>
          <a:ln/>
        </p:spPr>
      </p:sp>
      <p:sp>
        <p:nvSpPr>
          <p:cNvPr id="3" name="Shape 1"/>
          <p:cNvSpPr/>
          <p:nvPr/>
        </p:nvSpPr>
        <p:spPr>
          <a:xfrm>
            <a:off x="640080" y="411480"/>
            <a:ext cx="10911535" cy="0"/>
          </a:xfrm>
          <a:prstGeom prst="line">
            <a:avLst/>
          </a:prstGeom>
          <a:noFill/>
          <a:ln w="9525">
            <a:solidFill>
              <a:srgbClr val="1A1A1A"/>
            </a:solidFill>
            <a:prstDash val="solid"/>
          </a:ln>
        </p:spPr>
      </p:sp>
      <p:sp>
        <p:nvSpPr>
          <p:cNvPr id="4" name="Text 2"/>
          <p:cNvSpPr/>
          <p:nvPr/>
        </p:nvSpPr>
        <p:spPr>
          <a:xfrm>
            <a:off x="640080" y="137160"/>
            <a:ext cx="6400800" cy="274320"/>
          </a:xfrm>
          <a:prstGeom prst="rect">
            <a:avLst/>
          </a:prstGeom>
          <a:noFill/>
          <a:ln/>
        </p:spPr>
        <p:txBody>
          <a:bodyPr wrap="square" rtlCol="0" anchor="ctr"/>
          <a:lstStyle/>
          <a:p>
            <a:pPr marL="0" indent="0">
              <a:buNone/>
            </a:pPr>
            <a:r>
              <a:rPr lang="en-US" sz="900" b="1" kern="0" spc="400" dirty="0">
                <a:solidFill>
                  <a:srgbClr val="1A1A1A"/>
                </a:solidFill>
                <a:latin typeface="Georgia" pitchFamily="34" charset="0"/>
                <a:ea typeface="Georgia" pitchFamily="34" charset="-122"/>
                <a:cs typeface="Georgia" pitchFamily="34" charset="-120"/>
              </a:rPr>
              <a:t>02 / DATA GATHERING</a:t>
            </a:r>
            <a:endParaRPr lang="en-US" sz="900" dirty="0"/>
          </a:p>
        </p:txBody>
      </p:sp>
      <p:sp>
        <p:nvSpPr>
          <p:cNvPr id="5" name="Text 3"/>
          <p:cNvSpPr/>
          <p:nvPr/>
        </p:nvSpPr>
        <p:spPr>
          <a:xfrm>
            <a:off x="7894015" y="137160"/>
            <a:ext cx="3657600" cy="274320"/>
          </a:xfrm>
          <a:prstGeom prst="rect">
            <a:avLst/>
          </a:prstGeom>
          <a:noFill/>
          <a:ln/>
        </p:spPr>
        <p:txBody>
          <a:bodyPr wrap="square" rtlCol="0" anchor="ctr"/>
          <a:lstStyle/>
          <a:p>
            <a:pPr marL="0" indent="0" algn="r">
              <a:buNone/>
            </a:pPr>
            <a:r>
              <a:rPr lang="en-US" sz="900" b="1" kern="0" spc="400" dirty="0">
                <a:solidFill>
                  <a:srgbClr val="5C5C5C"/>
                </a:solidFill>
                <a:latin typeface="Georgia" pitchFamily="34" charset="0"/>
                <a:ea typeface="Georgia" pitchFamily="34" charset="-122"/>
                <a:cs typeface="Georgia" pitchFamily="34" charset="-120"/>
              </a:rPr>
              <a:t>CAR FAULT DIAGNOSIS</a:t>
            </a:r>
            <a:endParaRPr lang="en-US" sz="900" dirty="0"/>
          </a:p>
        </p:txBody>
      </p:sp>
      <p:sp>
        <p:nvSpPr>
          <p:cNvPr id="6" name="Shape 4"/>
          <p:cNvSpPr/>
          <p:nvPr/>
        </p:nvSpPr>
        <p:spPr>
          <a:xfrm>
            <a:off x="640080" y="6446520"/>
            <a:ext cx="10911535" cy="0"/>
          </a:xfrm>
          <a:prstGeom prst="line">
            <a:avLst/>
          </a:prstGeom>
          <a:noFill/>
          <a:ln w="6350">
            <a:solidFill>
              <a:srgbClr val="1A1A1A"/>
            </a:solidFill>
            <a:prstDash val="solid"/>
          </a:ln>
        </p:spPr>
      </p:sp>
      <p:sp>
        <p:nvSpPr>
          <p:cNvPr id="7" name="Text 5"/>
          <p:cNvSpPr/>
          <p:nvPr/>
        </p:nvSpPr>
        <p:spPr>
          <a:xfrm>
            <a:off x="5547208" y="6510528"/>
            <a:ext cx="1097280" cy="274320"/>
          </a:xfrm>
          <a:prstGeom prst="rect">
            <a:avLst/>
          </a:prstGeom>
          <a:noFill/>
          <a:ln/>
        </p:spPr>
        <p:txBody>
          <a:bodyPr wrap="square" rtlCol="0" anchor="ctr"/>
          <a:lstStyle/>
          <a:p>
            <a:pPr marL="0" indent="0" algn="ctr">
              <a:buNone/>
            </a:pPr>
            <a:r>
              <a:rPr lang="en-US" sz="900" i="1" dirty="0">
                <a:solidFill>
                  <a:srgbClr val="5C5C5C"/>
                </a:solidFill>
                <a:latin typeface="Georgia" pitchFamily="34" charset="0"/>
                <a:ea typeface="Georgia" pitchFamily="34" charset="-122"/>
                <a:cs typeface="Georgia" pitchFamily="34" charset="-120"/>
              </a:rPr>
              <a:t>— 11 —</a:t>
            </a:r>
            <a:endParaRPr lang="en-US" sz="900" dirty="0"/>
          </a:p>
        </p:txBody>
      </p:sp>
      <p:sp>
        <p:nvSpPr>
          <p:cNvPr id="8" name="Text 6"/>
          <p:cNvSpPr/>
          <p:nvPr/>
        </p:nvSpPr>
        <p:spPr>
          <a:xfrm>
            <a:off x="640080" y="777240"/>
            <a:ext cx="4572000" cy="274320"/>
          </a:xfrm>
          <a:prstGeom prst="rect">
            <a:avLst/>
          </a:prstGeom>
          <a:noFill/>
          <a:ln/>
        </p:spPr>
        <p:txBody>
          <a:bodyPr wrap="square" rtlCol="0" anchor="ctr"/>
          <a:lstStyle/>
          <a:p>
            <a:pPr marL="0" indent="0">
              <a:buNone/>
            </a:pPr>
            <a:r>
              <a:rPr lang="en-US" sz="1100" b="1" kern="0" spc="600" dirty="0">
                <a:solidFill>
                  <a:srgbClr val="B85042"/>
                </a:solidFill>
                <a:latin typeface="Georgia" pitchFamily="34" charset="0"/>
                <a:ea typeface="Georgia" pitchFamily="34" charset="-122"/>
                <a:cs typeface="Georgia" pitchFamily="34" charset="-120"/>
              </a:rPr>
              <a:t>BEYOND THE SURVEY</a:t>
            </a:r>
            <a:endParaRPr lang="en-US" sz="1100" dirty="0"/>
          </a:p>
        </p:txBody>
      </p:sp>
      <p:sp>
        <p:nvSpPr>
          <p:cNvPr id="9" name="Text 7"/>
          <p:cNvSpPr/>
          <p:nvPr/>
        </p:nvSpPr>
        <p:spPr>
          <a:xfrm>
            <a:off x="640080" y="1097280"/>
            <a:ext cx="10058400" cy="914400"/>
          </a:xfrm>
          <a:prstGeom prst="rect">
            <a:avLst/>
          </a:prstGeom>
          <a:noFill/>
          <a:ln/>
        </p:spPr>
        <p:txBody>
          <a:bodyPr wrap="square" rtlCol="0" anchor="ctr"/>
          <a:lstStyle/>
          <a:p>
            <a:pPr marL="0" indent="0" algn="l">
              <a:buNone/>
            </a:pPr>
            <a:r>
              <a:rPr lang="en-US" sz="3600" b="1" dirty="0">
                <a:solidFill>
                  <a:srgbClr val="1A1A1A"/>
                </a:solidFill>
                <a:latin typeface="Georgia" pitchFamily="34" charset="0"/>
                <a:ea typeface="Georgia" pitchFamily="34" charset="-122"/>
                <a:cs typeface="Georgia" pitchFamily="34" charset="-120"/>
              </a:rPr>
              <a:t>Technical &amp; ML data.</a:t>
            </a:r>
            <a:endParaRPr lang="en-US" sz="3600" dirty="0"/>
          </a:p>
        </p:txBody>
      </p:sp>
      <p:sp>
        <p:nvSpPr>
          <p:cNvPr id="10" name="Text 8"/>
          <p:cNvSpPr/>
          <p:nvPr/>
        </p:nvSpPr>
        <p:spPr>
          <a:xfrm>
            <a:off x="640080" y="2468880"/>
            <a:ext cx="822960" cy="457200"/>
          </a:xfrm>
          <a:prstGeom prst="rect">
            <a:avLst/>
          </a:prstGeom>
          <a:noFill/>
          <a:ln/>
        </p:spPr>
        <p:txBody>
          <a:bodyPr wrap="square" rtlCol="0" anchor="ctr"/>
          <a:lstStyle/>
          <a:p>
            <a:pPr marL="0" indent="0">
              <a:buNone/>
            </a:pPr>
            <a:r>
              <a:rPr lang="en-US" sz="2600" b="1" i="1" dirty="0">
                <a:solidFill>
                  <a:srgbClr val="B85042"/>
                </a:solidFill>
                <a:latin typeface="Georgia" pitchFamily="34" charset="0"/>
                <a:ea typeface="Georgia" pitchFamily="34" charset="-122"/>
                <a:cs typeface="Georgia" pitchFamily="34" charset="-120"/>
              </a:rPr>
              <a:t>01</a:t>
            </a:r>
            <a:endParaRPr lang="en-US" sz="2600" dirty="0"/>
          </a:p>
        </p:txBody>
      </p:sp>
      <p:sp>
        <p:nvSpPr>
          <p:cNvPr id="11" name="Text 9"/>
          <p:cNvSpPr/>
          <p:nvPr/>
        </p:nvSpPr>
        <p:spPr>
          <a:xfrm>
            <a:off x="1554480" y="2468880"/>
            <a:ext cx="4114800" cy="457200"/>
          </a:xfrm>
          <a:prstGeom prst="rect">
            <a:avLst/>
          </a:prstGeom>
          <a:noFill/>
          <a:ln/>
        </p:spPr>
        <p:txBody>
          <a:bodyPr wrap="square" rtlCol="0" anchor="ctr"/>
          <a:lstStyle/>
          <a:p>
            <a:pPr marL="0" indent="0">
              <a:buNone/>
            </a:pPr>
            <a:r>
              <a:rPr lang="en-US" sz="1800" b="1" dirty="0">
                <a:solidFill>
                  <a:srgbClr val="1A1A1A"/>
                </a:solidFill>
                <a:latin typeface="Georgia" pitchFamily="34" charset="0"/>
                <a:ea typeface="Georgia" pitchFamily="34" charset="-122"/>
                <a:cs typeface="Georgia" pitchFamily="34" charset="-120"/>
              </a:rPr>
              <a:t>Dashboard images</a:t>
            </a:r>
            <a:endParaRPr lang="en-US" sz="1800" dirty="0"/>
          </a:p>
        </p:txBody>
      </p:sp>
      <p:sp>
        <p:nvSpPr>
          <p:cNvPr id="12" name="Text 10"/>
          <p:cNvSpPr/>
          <p:nvPr/>
        </p:nvSpPr>
        <p:spPr>
          <a:xfrm>
            <a:off x="5852160" y="2468880"/>
            <a:ext cx="5669280" cy="822960"/>
          </a:xfrm>
          <a:prstGeom prst="rect">
            <a:avLst/>
          </a:prstGeom>
          <a:noFill/>
          <a:ln/>
        </p:spPr>
        <p:txBody>
          <a:bodyPr wrap="square" rtlCol="0" anchor="t"/>
          <a:lstStyle/>
          <a:p>
            <a:pPr marL="0" indent="0">
              <a:buNone/>
            </a:pPr>
            <a:r>
              <a:rPr lang="en-US" sz="1200" dirty="0">
                <a:solidFill>
                  <a:srgbClr val="2B2B2B"/>
                </a:solidFill>
                <a:latin typeface="Calibri" pitchFamily="34" charset="0"/>
                <a:ea typeface="Calibri" pitchFamily="34" charset="-122"/>
                <a:cs typeface="Calibri" pitchFamily="34" charset="-120"/>
              </a:rPr>
              <a:t>Public automotive datasets, manufacturer manuals, and supplementary photos taken locally to cover Cameroonian lighting conditions.</a:t>
            </a:r>
            <a:endParaRPr lang="en-US" sz="1200" dirty="0"/>
          </a:p>
        </p:txBody>
      </p:sp>
      <p:sp>
        <p:nvSpPr>
          <p:cNvPr id="13" name="Shape 11"/>
          <p:cNvSpPr/>
          <p:nvPr/>
        </p:nvSpPr>
        <p:spPr>
          <a:xfrm>
            <a:off x="640080" y="3383280"/>
            <a:ext cx="10911535" cy="0"/>
          </a:xfrm>
          <a:prstGeom prst="line">
            <a:avLst/>
          </a:prstGeom>
          <a:noFill/>
          <a:ln w="6350">
            <a:solidFill>
              <a:srgbClr val="5C5C5C"/>
            </a:solidFill>
            <a:prstDash val="dash"/>
          </a:ln>
        </p:spPr>
      </p:sp>
      <p:sp>
        <p:nvSpPr>
          <p:cNvPr id="14" name="Text 12"/>
          <p:cNvSpPr/>
          <p:nvPr/>
        </p:nvSpPr>
        <p:spPr>
          <a:xfrm>
            <a:off x="640080" y="3429000"/>
            <a:ext cx="822960" cy="457200"/>
          </a:xfrm>
          <a:prstGeom prst="rect">
            <a:avLst/>
          </a:prstGeom>
          <a:noFill/>
          <a:ln/>
        </p:spPr>
        <p:txBody>
          <a:bodyPr wrap="square" rtlCol="0" anchor="ctr"/>
          <a:lstStyle/>
          <a:p>
            <a:pPr marL="0" indent="0">
              <a:buNone/>
            </a:pPr>
            <a:r>
              <a:rPr lang="en-US" sz="2600" b="1" i="1" dirty="0">
                <a:solidFill>
                  <a:srgbClr val="B85042"/>
                </a:solidFill>
                <a:latin typeface="Georgia" pitchFamily="34" charset="0"/>
                <a:ea typeface="Georgia" pitchFamily="34" charset="-122"/>
                <a:cs typeface="Georgia" pitchFamily="34" charset="-120"/>
              </a:rPr>
              <a:t>02</a:t>
            </a:r>
            <a:endParaRPr lang="en-US" sz="2600" dirty="0"/>
          </a:p>
        </p:txBody>
      </p:sp>
      <p:sp>
        <p:nvSpPr>
          <p:cNvPr id="15" name="Text 13"/>
          <p:cNvSpPr/>
          <p:nvPr/>
        </p:nvSpPr>
        <p:spPr>
          <a:xfrm>
            <a:off x="1554480" y="3429000"/>
            <a:ext cx="4114800" cy="457200"/>
          </a:xfrm>
          <a:prstGeom prst="rect">
            <a:avLst/>
          </a:prstGeom>
          <a:noFill/>
          <a:ln/>
        </p:spPr>
        <p:txBody>
          <a:bodyPr wrap="square" rtlCol="0" anchor="ctr"/>
          <a:lstStyle/>
          <a:p>
            <a:pPr marL="0" indent="0">
              <a:buNone/>
            </a:pPr>
            <a:r>
              <a:rPr lang="en-US" sz="1800" b="1" dirty="0">
                <a:solidFill>
                  <a:srgbClr val="1A1A1A"/>
                </a:solidFill>
                <a:latin typeface="Georgia" pitchFamily="34" charset="0"/>
                <a:ea typeface="Georgia" pitchFamily="34" charset="-122"/>
                <a:cs typeface="Georgia" pitchFamily="34" charset="-120"/>
              </a:rPr>
              <a:t>Engine sound recordings</a:t>
            </a:r>
            <a:endParaRPr lang="en-US" sz="1800" dirty="0"/>
          </a:p>
        </p:txBody>
      </p:sp>
      <p:sp>
        <p:nvSpPr>
          <p:cNvPr id="16" name="Text 14"/>
          <p:cNvSpPr/>
          <p:nvPr/>
        </p:nvSpPr>
        <p:spPr>
          <a:xfrm>
            <a:off x="5852160" y="3429000"/>
            <a:ext cx="5669280" cy="822960"/>
          </a:xfrm>
          <a:prstGeom prst="rect">
            <a:avLst/>
          </a:prstGeom>
          <a:noFill/>
          <a:ln/>
        </p:spPr>
        <p:txBody>
          <a:bodyPr wrap="square" rtlCol="0" anchor="t"/>
          <a:lstStyle/>
          <a:p>
            <a:pPr marL="0" indent="0">
              <a:buNone/>
            </a:pPr>
            <a:r>
              <a:rPr lang="en-US" sz="1200" dirty="0">
                <a:solidFill>
                  <a:srgbClr val="2B2B2B"/>
                </a:solidFill>
                <a:latin typeface="Calibri" pitchFamily="34" charset="0"/>
                <a:ea typeface="Calibri" pitchFamily="34" charset="-122"/>
                <a:cs typeface="Calibri" pitchFamily="34" charset="-120"/>
              </a:rPr>
              <a:t>Drawn from public datasets (MIMII, ESC-50 subsets) plus garage recordings — knocking, squealing, hissing, misfiring, idle.</a:t>
            </a:r>
            <a:endParaRPr lang="en-US" sz="1200" dirty="0"/>
          </a:p>
        </p:txBody>
      </p:sp>
      <p:sp>
        <p:nvSpPr>
          <p:cNvPr id="17" name="Shape 15"/>
          <p:cNvSpPr/>
          <p:nvPr/>
        </p:nvSpPr>
        <p:spPr>
          <a:xfrm>
            <a:off x="640080" y="4343400"/>
            <a:ext cx="10911535" cy="0"/>
          </a:xfrm>
          <a:prstGeom prst="line">
            <a:avLst/>
          </a:prstGeom>
          <a:noFill/>
          <a:ln w="6350">
            <a:solidFill>
              <a:srgbClr val="5C5C5C"/>
            </a:solidFill>
            <a:prstDash val="dash"/>
          </a:ln>
        </p:spPr>
      </p:sp>
      <p:sp>
        <p:nvSpPr>
          <p:cNvPr id="18" name="Text 16"/>
          <p:cNvSpPr/>
          <p:nvPr/>
        </p:nvSpPr>
        <p:spPr>
          <a:xfrm>
            <a:off x="640080" y="4389120"/>
            <a:ext cx="822960" cy="457200"/>
          </a:xfrm>
          <a:prstGeom prst="rect">
            <a:avLst/>
          </a:prstGeom>
          <a:noFill/>
          <a:ln/>
        </p:spPr>
        <p:txBody>
          <a:bodyPr wrap="square" rtlCol="0" anchor="ctr"/>
          <a:lstStyle/>
          <a:p>
            <a:pPr marL="0" indent="0">
              <a:buNone/>
            </a:pPr>
            <a:r>
              <a:rPr lang="en-US" sz="2600" b="1" i="1" dirty="0">
                <a:solidFill>
                  <a:srgbClr val="B85042"/>
                </a:solidFill>
                <a:latin typeface="Georgia" pitchFamily="34" charset="0"/>
                <a:ea typeface="Georgia" pitchFamily="34" charset="-122"/>
                <a:cs typeface="Georgia" pitchFamily="34" charset="-120"/>
              </a:rPr>
              <a:t>03</a:t>
            </a:r>
            <a:endParaRPr lang="en-US" sz="2600" dirty="0"/>
          </a:p>
        </p:txBody>
      </p:sp>
      <p:sp>
        <p:nvSpPr>
          <p:cNvPr id="19" name="Text 17"/>
          <p:cNvSpPr/>
          <p:nvPr/>
        </p:nvSpPr>
        <p:spPr>
          <a:xfrm>
            <a:off x="1554480" y="4389120"/>
            <a:ext cx="4114800" cy="457200"/>
          </a:xfrm>
          <a:prstGeom prst="rect">
            <a:avLst/>
          </a:prstGeom>
          <a:noFill/>
          <a:ln/>
        </p:spPr>
        <p:txBody>
          <a:bodyPr wrap="square" rtlCol="0" anchor="ctr"/>
          <a:lstStyle/>
          <a:p>
            <a:pPr marL="0" indent="0">
              <a:buNone/>
            </a:pPr>
            <a:r>
              <a:rPr lang="en-US" sz="1800" b="1" dirty="0">
                <a:solidFill>
                  <a:srgbClr val="1A1A1A"/>
                </a:solidFill>
                <a:latin typeface="Georgia" pitchFamily="34" charset="0"/>
                <a:ea typeface="Georgia" pitchFamily="34" charset="-122"/>
                <a:cs typeface="Georgia" pitchFamily="34" charset="-120"/>
              </a:rPr>
              <a:t>Fault knowledge base</a:t>
            </a:r>
            <a:endParaRPr lang="en-US" sz="1800" dirty="0"/>
          </a:p>
        </p:txBody>
      </p:sp>
      <p:sp>
        <p:nvSpPr>
          <p:cNvPr id="20" name="Text 18"/>
          <p:cNvSpPr/>
          <p:nvPr/>
        </p:nvSpPr>
        <p:spPr>
          <a:xfrm>
            <a:off x="5852160" y="4389120"/>
            <a:ext cx="5669280" cy="822960"/>
          </a:xfrm>
          <a:prstGeom prst="rect">
            <a:avLst/>
          </a:prstGeom>
          <a:noFill/>
          <a:ln/>
        </p:spPr>
        <p:txBody>
          <a:bodyPr wrap="square" rtlCol="0" anchor="t"/>
          <a:lstStyle/>
          <a:p>
            <a:pPr marL="0" indent="0">
              <a:buNone/>
            </a:pPr>
            <a:r>
              <a:rPr lang="en-US" sz="1200" dirty="0">
                <a:solidFill>
                  <a:srgbClr val="2B2B2B"/>
                </a:solidFill>
                <a:latin typeface="Calibri" pitchFamily="34" charset="0"/>
                <a:ea typeface="Calibri" pitchFamily="34" charset="-122"/>
                <a:cs typeface="Calibri" pitchFamily="34" charset="-120"/>
              </a:rPr>
              <a:t>Symptom → cause → urgency → action mappings. Each entry triangulated against at least two sources.</a:t>
            </a:r>
            <a:endParaRPr lang="en-US" sz="1200" dirty="0"/>
          </a:p>
        </p:txBody>
      </p:sp>
      <p:sp>
        <p:nvSpPr>
          <p:cNvPr id="21" name="Shape 19"/>
          <p:cNvSpPr/>
          <p:nvPr/>
        </p:nvSpPr>
        <p:spPr>
          <a:xfrm>
            <a:off x="640080" y="5303520"/>
            <a:ext cx="10911535" cy="0"/>
          </a:xfrm>
          <a:prstGeom prst="line">
            <a:avLst/>
          </a:prstGeom>
          <a:noFill/>
          <a:ln w="6350">
            <a:solidFill>
              <a:srgbClr val="5C5C5C"/>
            </a:solidFill>
            <a:prstDash val="dash"/>
          </a:ln>
        </p:spPr>
      </p:sp>
      <p:sp>
        <p:nvSpPr>
          <p:cNvPr id="22" name="Text 20"/>
          <p:cNvSpPr/>
          <p:nvPr/>
        </p:nvSpPr>
        <p:spPr>
          <a:xfrm>
            <a:off x="640080" y="5349240"/>
            <a:ext cx="822960" cy="457200"/>
          </a:xfrm>
          <a:prstGeom prst="rect">
            <a:avLst/>
          </a:prstGeom>
          <a:noFill/>
          <a:ln/>
        </p:spPr>
        <p:txBody>
          <a:bodyPr wrap="square" rtlCol="0" anchor="ctr"/>
          <a:lstStyle/>
          <a:p>
            <a:pPr marL="0" indent="0">
              <a:buNone/>
            </a:pPr>
            <a:r>
              <a:rPr lang="en-US" sz="2600" b="1" i="1" dirty="0">
                <a:solidFill>
                  <a:srgbClr val="B85042"/>
                </a:solidFill>
                <a:latin typeface="Georgia" pitchFamily="34" charset="0"/>
                <a:ea typeface="Georgia" pitchFamily="34" charset="-122"/>
                <a:cs typeface="Georgia" pitchFamily="34" charset="-120"/>
              </a:rPr>
              <a:t>04</a:t>
            </a:r>
            <a:endParaRPr lang="en-US" sz="2600" dirty="0"/>
          </a:p>
        </p:txBody>
      </p:sp>
      <p:sp>
        <p:nvSpPr>
          <p:cNvPr id="23" name="Text 21"/>
          <p:cNvSpPr/>
          <p:nvPr/>
        </p:nvSpPr>
        <p:spPr>
          <a:xfrm>
            <a:off x="1554480" y="5349240"/>
            <a:ext cx="4114800" cy="457200"/>
          </a:xfrm>
          <a:prstGeom prst="rect">
            <a:avLst/>
          </a:prstGeom>
          <a:noFill/>
          <a:ln/>
        </p:spPr>
        <p:txBody>
          <a:bodyPr wrap="square" rtlCol="0" anchor="ctr"/>
          <a:lstStyle/>
          <a:p>
            <a:pPr marL="0" indent="0">
              <a:buNone/>
            </a:pPr>
            <a:r>
              <a:rPr lang="en-US" sz="1800" b="1" dirty="0">
                <a:solidFill>
                  <a:srgbClr val="1A1A1A"/>
                </a:solidFill>
                <a:latin typeface="Georgia" pitchFamily="34" charset="0"/>
                <a:ea typeface="Georgia" pitchFamily="34" charset="-122"/>
                <a:cs typeface="Georgia" pitchFamily="34" charset="-120"/>
              </a:rPr>
              <a:t>Video tutorial index</a:t>
            </a:r>
            <a:endParaRPr lang="en-US" sz="1800" dirty="0"/>
          </a:p>
        </p:txBody>
      </p:sp>
      <p:sp>
        <p:nvSpPr>
          <p:cNvPr id="24" name="Text 22"/>
          <p:cNvSpPr/>
          <p:nvPr/>
        </p:nvSpPr>
        <p:spPr>
          <a:xfrm>
            <a:off x="5852160" y="5349240"/>
            <a:ext cx="5669280" cy="822960"/>
          </a:xfrm>
          <a:prstGeom prst="rect">
            <a:avLst/>
          </a:prstGeom>
          <a:noFill/>
          <a:ln/>
        </p:spPr>
        <p:txBody>
          <a:bodyPr wrap="square" rtlCol="0" anchor="t"/>
          <a:lstStyle/>
          <a:p>
            <a:pPr marL="0" indent="0">
              <a:buNone/>
            </a:pPr>
            <a:r>
              <a:rPr lang="en-US" sz="1200" dirty="0">
                <a:solidFill>
                  <a:srgbClr val="2B2B2B"/>
                </a:solidFill>
                <a:latin typeface="Calibri" pitchFamily="34" charset="0"/>
                <a:ea typeface="Calibri" pitchFamily="34" charset="-122"/>
                <a:cs typeface="Calibri" pitchFamily="34" charset="-120"/>
              </a:rPr>
              <a:t>Curated YouTube tutorials from verified automotive channels, tagged by fault type.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1A1A"/>
        </a:solidFill>
        <a:effectLst/>
      </p:bgPr>
    </p:bg>
    <p:spTree>
      <p:nvGrpSpPr>
        <p:cNvPr id="1" name=""/>
        <p:cNvGrpSpPr/>
        <p:nvPr/>
      </p:nvGrpSpPr>
      <p:grpSpPr>
        <a:xfrm>
          <a:off x="0" y="0"/>
          <a:ext cx="0" cy="0"/>
          <a:chOff x="0" y="0"/>
          <a:chExt cx="0" cy="0"/>
        </a:xfrm>
      </p:grpSpPr>
      <p:sp>
        <p:nvSpPr>
          <p:cNvPr id="2" name="Shape 0"/>
          <p:cNvSpPr/>
          <p:nvPr/>
        </p:nvSpPr>
        <p:spPr>
          <a:xfrm>
            <a:off x="0" y="1280160"/>
            <a:ext cx="12191695" cy="36576"/>
          </a:xfrm>
          <a:prstGeom prst="rect">
            <a:avLst/>
          </a:prstGeom>
          <a:solidFill>
            <a:srgbClr val="C9A961"/>
          </a:solidFill>
          <a:ln/>
        </p:spPr>
      </p:sp>
      <p:sp>
        <p:nvSpPr>
          <p:cNvPr id="3" name="Text 1"/>
          <p:cNvSpPr/>
          <p:nvPr/>
        </p:nvSpPr>
        <p:spPr>
          <a:xfrm>
            <a:off x="457200" y="1463040"/>
            <a:ext cx="5486400" cy="5029200"/>
          </a:xfrm>
          <a:prstGeom prst="rect">
            <a:avLst/>
          </a:prstGeom>
          <a:noFill/>
          <a:ln/>
        </p:spPr>
        <p:txBody>
          <a:bodyPr wrap="square" rtlCol="0" anchor="t"/>
          <a:lstStyle/>
          <a:p>
            <a:pPr marL="0" indent="0">
              <a:buNone/>
            </a:pPr>
            <a:r>
              <a:rPr lang="en-US" sz="28000" b="1" dirty="0">
                <a:solidFill>
                  <a:srgbClr val="B85042"/>
                </a:solidFill>
                <a:latin typeface="Georgia" pitchFamily="34" charset="0"/>
                <a:ea typeface="Georgia" pitchFamily="34" charset="-122"/>
                <a:cs typeface="Georgia" pitchFamily="34" charset="-120"/>
              </a:rPr>
              <a:t>03</a:t>
            </a:r>
            <a:endParaRPr lang="en-US" sz="28000" dirty="0"/>
          </a:p>
        </p:txBody>
      </p:sp>
      <p:sp>
        <p:nvSpPr>
          <p:cNvPr id="4" name="Text 2"/>
          <p:cNvSpPr/>
          <p:nvPr/>
        </p:nvSpPr>
        <p:spPr>
          <a:xfrm>
            <a:off x="5943600" y="2377440"/>
            <a:ext cx="5486400" cy="365760"/>
          </a:xfrm>
          <a:prstGeom prst="rect">
            <a:avLst/>
          </a:prstGeom>
          <a:noFill/>
          <a:ln/>
        </p:spPr>
        <p:txBody>
          <a:bodyPr wrap="square" rtlCol="0" anchor="ctr"/>
          <a:lstStyle/>
          <a:p>
            <a:pPr marL="0" indent="0">
              <a:buNone/>
            </a:pPr>
            <a:r>
              <a:rPr lang="en-US" sz="1400" b="1" kern="0" spc="800" dirty="0">
                <a:solidFill>
                  <a:srgbClr val="C9A961"/>
                </a:solidFill>
                <a:latin typeface="Georgia" pitchFamily="34" charset="0"/>
                <a:ea typeface="Georgia" pitchFamily="34" charset="-122"/>
                <a:cs typeface="Georgia" pitchFamily="34" charset="-120"/>
              </a:rPr>
              <a:t>PART THREE</a:t>
            </a:r>
            <a:endParaRPr lang="en-US" sz="1400" dirty="0"/>
          </a:p>
        </p:txBody>
      </p:sp>
      <p:sp>
        <p:nvSpPr>
          <p:cNvPr id="5" name="Text 3"/>
          <p:cNvSpPr/>
          <p:nvPr/>
        </p:nvSpPr>
        <p:spPr>
          <a:xfrm>
            <a:off x="5943600" y="2743200"/>
            <a:ext cx="5943600" cy="914400"/>
          </a:xfrm>
          <a:prstGeom prst="rect">
            <a:avLst/>
          </a:prstGeom>
          <a:noFill/>
          <a:ln/>
        </p:spPr>
        <p:txBody>
          <a:bodyPr wrap="square" rtlCol="0" anchor="ctr"/>
          <a:lstStyle/>
          <a:p>
            <a:pPr marL="0" indent="0">
              <a:buNone/>
            </a:pPr>
            <a:r>
              <a:rPr lang="en-US" sz="5600" b="1" dirty="0">
                <a:solidFill>
                  <a:srgbClr val="F5EFE6"/>
                </a:solidFill>
                <a:latin typeface="Georgia" pitchFamily="34" charset="0"/>
                <a:ea typeface="Georgia" pitchFamily="34" charset="-122"/>
                <a:cs typeface="Georgia" pitchFamily="34" charset="-120"/>
              </a:rPr>
              <a:t>Data</a:t>
            </a:r>
            <a:endParaRPr lang="en-US" sz="5600" dirty="0"/>
          </a:p>
        </p:txBody>
      </p:sp>
      <p:sp>
        <p:nvSpPr>
          <p:cNvPr id="6" name="Text 4"/>
          <p:cNvSpPr/>
          <p:nvPr/>
        </p:nvSpPr>
        <p:spPr>
          <a:xfrm>
            <a:off x="5943600" y="3520440"/>
            <a:ext cx="5943600" cy="914400"/>
          </a:xfrm>
          <a:prstGeom prst="rect">
            <a:avLst/>
          </a:prstGeom>
          <a:noFill/>
          <a:ln/>
        </p:spPr>
        <p:txBody>
          <a:bodyPr wrap="square" rtlCol="0" anchor="ctr"/>
          <a:lstStyle/>
          <a:p>
            <a:pPr marL="0" indent="0">
              <a:buNone/>
            </a:pPr>
            <a:r>
              <a:rPr lang="en-US" sz="5600" b="1" i="1" dirty="0">
                <a:solidFill>
                  <a:srgbClr val="B85042"/>
                </a:solidFill>
                <a:latin typeface="Georgia" pitchFamily="34" charset="0"/>
                <a:ea typeface="Georgia" pitchFamily="34" charset="-122"/>
                <a:cs typeface="Georgia" pitchFamily="34" charset="-120"/>
              </a:rPr>
              <a:t>Cleaning.</a:t>
            </a:r>
            <a:endParaRPr lang="en-US" sz="5600" dirty="0"/>
          </a:p>
        </p:txBody>
      </p:sp>
      <p:sp>
        <p:nvSpPr>
          <p:cNvPr id="7" name="Text 5"/>
          <p:cNvSpPr/>
          <p:nvPr/>
        </p:nvSpPr>
        <p:spPr>
          <a:xfrm>
            <a:off x="5943600" y="4709160"/>
            <a:ext cx="5943600" cy="548640"/>
          </a:xfrm>
          <a:prstGeom prst="rect">
            <a:avLst/>
          </a:prstGeom>
          <a:noFill/>
          <a:ln/>
        </p:spPr>
        <p:txBody>
          <a:bodyPr wrap="square" rtlCol="0" anchor="ctr"/>
          <a:lstStyle/>
          <a:p>
            <a:pPr marL="0" indent="0">
              <a:buNone/>
            </a:pPr>
            <a:r>
              <a:rPr lang="en-US" sz="1400" i="1" dirty="0">
                <a:solidFill>
                  <a:srgbClr val="F5EFE6"/>
                </a:solidFill>
                <a:latin typeface="Georgia" pitchFamily="34" charset="0"/>
                <a:ea typeface="Georgia" pitchFamily="34" charset="-122"/>
                <a:cs typeface="Georgia" pitchFamily="34" charset="-120"/>
              </a:rPr>
              <a:t>Raw data is never ready. The work that makes findings defensible.</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EFE6"/>
        </a:solidFill>
        <a:effectLst/>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B85042"/>
          </a:solidFill>
          <a:ln/>
        </p:spPr>
      </p:sp>
      <p:sp>
        <p:nvSpPr>
          <p:cNvPr id="3" name="Shape 1"/>
          <p:cNvSpPr/>
          <p:nvPr/>
        </p:nvSpPr>
        <p:spPr>
          <a:xfrm>
            <a:off x="640080" y="411480"/>
            <a:ext cx="10911535" cy="0"/>
          </a:xfrm>
          <a:prstGeom prst="line">
            <a:avLst/>
          </a:prstGeom>
          <a:noFill/>
          <a:ln w="9525">
            <a:solidFill>
              <a:srgbClr val="1A1A1A"/>
            </a:solidFill>
            <a:prstDash val="solid"/>
          </a:ln>
        </p:spPr>
      </p:sp>
      <p:sp>
        <p:nvSpPr>
          <p:cNvPr id="4" name="Text 2"/>
          <p:cNvSpPr/>
          <p:nvPr/>
        </p:nvSpPr>
        <p:spPr>
          <a:xfrm>
            <a:off x="640080" y="137160"/>
            <a:ext cx="6400800" cy="274320"/>
          </a:xfrm>
          <a:prstGeom prst="rect">
            <a:avLst/>
          </a:prstGeom>
          <a:noFill/>
          <a:ln/>
        </p:spPr>
        <p:txBody>
          <a:bodyPr wrap="square" rtlCol="0" anchor="ctr"/>
          <a:lstStyle/>
          <a:p>
            <a:pPr marL="0" indent="0">
              <a:buNone/>
            </a:pPr>
            <a:r>
              <a:rPr lang="en-US" sz="900" b="1" kern="0" spc="400" dirty="0">
                <a:solidFill>
                  <a:srgbClr val="1A1A1A"/>
                </a:solidFill>
                <a:latin typeface="Georgia" pitchFamily="34" charset="0"/>
                <a:ea typeface="Georgia" pitchFamily="34" charset="-122"/>
                <a:cs typeface="Georgia" pitchFamily="34" charset="-120"/>
              </a:rPr>
              <a:t>03 / DATA CLEANING</a:t>
            </a:r>
            <a:endParaRPr lang="en-US" sz="900" dirty="0"/>
          </a:p>
        </p:txBody>
      </p:sp>
      <p:sp>
        <p:nvSpPr>
          <p:cNvPr id="5" name="Text 3"/>
          <p:cNvSpPr/>
          <p:nvPr/>
        </p:nvSpPr>
        <p:spPr>
          <a:xfrm>
            <a:off x="7894015" y="137160"/>
            <a:ext cx="3657600" cy="274320"/>
          </a:xfrm>
          <a:prstGeom prst="rect">
            <a:avLst/>
          </a:prstGeom>
          <a:noFill/>
          <a:ln/>
        </p:spPr>
        <p:txBody>
          <a:bodyPr wrap="square" rtlCol="0" anchor="ctr"/>
          <a:lstStyle/>
          <a:p>
            <a:pPr marL="0" indent="0" algn="r">
              <a:buNone/>
            </a:pPr>
            <a:r>
              <a:rPr lang="en-US" sz="900" b="1" kern="0" spc="400" dirty="0">
                <a:solidFill>
                  <a:srgbClr val="5C5C5C"/>
                </a:solidFill>
                <a:latin typeface="Georgia" pitchFamily="34" charset="0"/>
                <a:ea typeface="Georgia" pitchFamily="34" charset="-122"/>
                <a:cs typeface="Georgia" pitchFamily="34" charset="-120"/>
              </a:rPr>
              <a:t>CAR FAULT DIAGNOSIS</a:t>
            </a:r>
            <a:endParaRPr lang="en-US" sz="900" dirty="0"/>
          </a:p>
        </p:txBody>
      </p:sp>
      <p:sp>
        <p:nvSpPr>
          <p:cNvPr id="6" name="Shape 4"/>
          <p:cNvSpPr/>
          <p:nvPr/>
        </p:nvSpPr>
        <p:spPr>
          <a:xfrm>
            <a:off x="640080" y="6446520"/>
            <a:ext cx="10911535" cy="0"/>
          </a:xfrm>
          <a:prstGeom prst="line">
            <a:avLst/>
          </a:prstGeom>
          <a:noFill/>
          <a:ln w="6350">
            <a:solidFill>
              <a:srgbClr val="1A1A1A"/>
            </a:solidFill>
            <a:prstDash val="solid"/>
          </a:ln>
        </p:spPr>
      </p:sp>
      <p:sp>
        <p:nvSpPr>
          <p:cNvPr id="7" name="Text 5"/>
          <p:cNvSpPr/>
          <p:nvPr/>
        </p:nvSpPr>
        <p:spPr>
          <a:xfrm>
            <a:off x="5547208" y="6510528"/>
            <a:ext cx="1097280" cy="274320"/>
          </a:xfrm>
          <a:prstGeom prst="rect">
            <a:avLst/>
          </a:prstGeom>
          <a:noFill/>
          <a:ln/>
        </p:spPr>
        <p:txBody>
          <a:bodyPr wrap="square" rtlCol="0" anchor="ctr"/>
          <a:lstStyle/>
          <a:p>
            <a:pPr marL="0" indent="0" algn="ctr">
              <a:buNone/>
            </a:pPr>
            <a:r>
              <a:rPr lang="en-US" sz="900" i="1" dirty="0">
                <a:solidFill>
                  <a:srgbClr val="5C5C5C"/>
                </a:solidFill>
                <a:latin typeface="Georgia" pitchFamily="34" charset="0"/>
                <a:ea typeface="Georgia" pitchFamily="34" charset="-122"/>
                <a:cs typeface="Georgia" pitchFamily="34" charset="-120"/>
              </a:rPr>
              <a:t>— 13 —</a:t>
            </a:r>
            <a:endParaRPr lang="en-US" sz="900" dirty="0"/>
          </a:p>
        </p:txBody>
      </p:sp>
      <p:sp>
        <p:nvSpPr>
          <p:cNvPr id="8" name="Text 6"/>
          <p:cNvSpPr/>
          <p:nvPr/>
        </p:nvSpPr>
        <p:spPr>
          <a:xfrm>
            <a:off x="640080" y="777240"/>
            <a:ext cx="4572000" cy="274320"/>
          </a:xfrm>
          <a:prstGeom prst="rect">
            <a:avLst/>
          </a:prstGeom>
          <a:noFill/>
          <a:ln/>
        </p:spPr>
        <p:txBody>
          <a:bodyPr wrap="square" rtlCol="0" anchor="ctr"/>
          <a:lstStyle/>
          <a:p>
            <a:pPr marL="0" indent="0">
              <a:buNone/>
            </a:pPr>
            <a:r>
              <a:rPr lang="en-US" sz="1100" b="1" kern="0" spc="600" dirty="0">
                <a:solidFill>
                  <a:srgbClr val="B85042"/>
                </a:solidFill>
                <a:latin typeface="Georgia" pitchFamily="34" charset="0"/>
                <a:ea typeface="Georgia" pitchFamily="34" charset="-122"/>
                <a:cs typeface="Georgia" pitchFamily="34" charset="-120"/>
              </a:rPr>
              <a:t>FIVE STREAMS, FIVE PROCEDURES</a:t>
            </a:r>
            <a:endParaRPr lang="en-US" sz="1100" dirty="0"/>
          </a:p>
        </p:txBody>
      </p:sp>
      <p:sp>
        <p:nvSpPr>
          <p:cNvPr id="9" name="Text 7"/>
          <p:cNvSpPr/>
          <p:nvPr/>
        </p:nvSpPr>
        <p:spPr>
          <a:xfrm>
            <a:off x="640080" y="1097280"/>
            <a:ext cx="10058400" cy="914400"/>
          </a:xfrm>
          <a:prstGeom prst="rect">
            <a:avLst/>
          </a:prstGeom>
          <a:noFill/>
          <a:ln/>
        </p:spPr>
        <p:txBody>
          <a:bodyPr wrap="square" rtlCol="0" anchor="ctr"/>
          <a:lstStyle/>
          <a:p>
            <a:pPr marL="0" indent="0" algn="l">
              <a:buNone/>
            </a:pPr>
            <a:r>
              <a:rPr lang="en-US" sz="3200" b="1" dirty="0">
                <a:solidFill>
                  <a:srgbClr val="1A1A1A"/>
                </a:solidFill>
                <a:latin typeface="Georgia" pitchFamily="34" charset="0"/>
                <a:ea typeface="Georgia" pitchFamily="34" charset="-122"/>
                <a:cs typeface="Georgia" pitchFamily="34" charset="-120"/>
              </a:rPr>
              <a:t>Making the data defensible.</a:t>
            </a:r>
            <a:endParaRPr lang="en-US" sz="3200" dirty="0"/>
          </a:p>
        </p:txBody>
      </p:sp>
      <p:sp>
        <p:nvSpPr>
          <p:cNvPr id="10" name="Text 8"/>
          <p:cNvSpPr/>
          <p:nvPr/>
        </p:nvSpPr>
        <p:spPr>
          <a:xfrm>
            <a:off x="640080" y="2468880"/>
            <a:ext cx="731520" cy="365760"/>
          </a:xfrm>
          <a:prstGeom prst="rect">
            <a:avLst/>
          </a:prstGeom>
          <a:noFill/>
          <a:ln/>
        </p:spPr>
        <p:txBody>
          <a:bodyPr wrap="square" rtlCol="0" anchor="ctr"/>
          <a:lstStyle/>
          <a:p>
            <a:pPr marL="0" indent="0">
              <a:buNone/>
            </a:pPr>
            <a:r>
              <a:rPr lang="en-US" sz="2200" b="1" i="1" dirty="0">
                <a:solidFill>
                  <a:srgbClr val="B85042"/>
                </a:solidFill>
                <a:latin typeface="Georgia" pitchFamily="34" charset="0"/>
                <a:ea typeface="Georgia" pitchFamily="34" charset="-122"/>
                <a:cs typeface="Georgia" pitchFamily="34" charset="-120"/>
              </a:rPr>
              <a:t>01</a:t>
            </a:r>
            <a:endParaRPr lang="en-US" sz="2200" dirty="0"/>
          </a:p>
        </p:txBody>
      </p:sp>
      <p:sp>
        <p:nvSpPr>
          <p:cNvPr id="11" name="Text 9"/>
          <p:cNvSpPr/>
          <p:nvPr/>
        </p:nvSpPr>
        <p:spPr>
          <a:xfrm>
            <a:off x="640080" y="2880360"/>
            <a:ext cx="2148840" cy="365760"/>
          </a:xfrm>
          <a:prstGeom prst="rect">
            <a:avLst/>
          </a:prstGeom>
          <a:noFill/>
          <a:ln/>
        </p:spPr>
        <p:txBody>
          <a:bodyPr wrap="square" rtlCol="0" anchor="ctr"/>
          <a:lstStyle/>
          <a:p>
            <a:pPr marL="0" indent="0">
              <a:buNone/>
            </a:pPr>
            <a:r>
              <a:rPr lang="en-US" sz="1600" b="1" dirty="0">
                <a:solidFill>
                  <a:srgbClr val="1A1A1A"/>
                </a:solidFill>
                <a:latin typeface="Georgia" pitchFamily="34" charset="0"/>
                <a:ea typeface="Georgia" pitchFamily="34" charset="-122"/>
                <a:cs typeface="Georgia" pitchFamily="34" charset="-120"/>
              </a:rPr>
              <a:t>Survey</a:t>
            </a:r>
            <a:endParaRPr lang="en-US" sz="1600" dirty="0"/>
          </a:p>
        </p:txBody>
      </p:sp>
      <p:sp>
        <p:nvSpPr>
          <p:cNvPr id="12" name="Text 10"/>
          <p:cNvSpPr/>
          <p:nvPr/>
        </p:nvSpPr>
        <p:spPr>
          <a:xfrm>
            <a:off x="640080" y="3429000"/>
            <a:ext cx="2103120" cy="2743200"/>
          </a:xfrm>
          <a:prstGeom prst="rect">
            <a:avLst/>
          </a:prstGeom>
          <a:noFill/>
          <a:ln/>
        </p:spPr>
        <p:txBody>
          <a:bodyPr wrap="square" rtlCol="0" anchor="t"/>
          <a:lstStyle/>
          <a:p>
            <a:pPr marL="342900" indent="-342900">
              <a:spcAft>
                <a:spcPts val="600"/>
              </a:spcAft>
              <a:buSzPct val="100000"/>
              <a:buChar char="—"/>
            </a:pPr>
            <a:r>
              <a:rPr lang="en-US" sz="1100" dirty="0">
                <a:solidFill>
                  <a:srgbClr val="1A1A1A"/>
                </a:solidFill>
                <a:latin typeface="Calibri" pitchFamily="34" charset="0"/>
                <a:ea typeface="Calibri" pitchFamily="34" charset="-122"/>
                <a:cs typeface="Calibri" pitchFamily="34" charset="-120"/>
              </a:rPr>
              <a:t>Drop responses &lt; 70% complete</a:t>
            </a:r>
            <a:endParaRPr lang="en-US" sz="1100" dirty="0"/>
          </a:p>
          <a:p>
            <a:pPr marL="342900" indent="-342900">
              <a:spcAft>
                <a:spcPts val="600"/>
              </a:spcAft>
              <a:buSzPct val="100000"/>
              <a:buChar char="—"/>
            </a:pPr>
            <a:r>
              <a:rPr lang="en-US" sz="1100" dirty="0">
                <a:solidFill>
                  <a:srgbClr val="1A1A1A"/>
                </a:solidFill>
                <a:latin typeface="Calibri" pitchFamily="34" charset="0"/>
                <a:ea typeface="Calibri" pitchFamily="34" charset="-122"/>
                <a:cs typeface="Calibri" pitchFamily="34" charset="-120"/>
              </a:rPr>
              <a:t>Remove duplicate submissions</a:t>
            </a:r>
            <a:endParaRPr lang="en-US" sz="1100" dirty="0"/>
          </a:p>
          <a:p>
            <a:pPr marL="342900" indent="-342900">
              <a:spcAft>
                <a:spcPts val="600"/>
              </a:spcAft>
              <a:buSzPct val="100000"/>
              <a:buChar char="—"/>
            </a:pPr>
            <a:r>
              <a:rPr lang="en-US" sz="1100" dirty="0">
                <a:solidFill>
                  <a:srgbClr val="1A1A1A"/>
                </a:solidFill>
                <a:latin typeface="Calibri" pitchFamily="34" charset="0"/>
                <a:ea typeface="Calibri" pitchFamily="34" charset="-122"/>
                <a:cs typeface="Calibri" pitchFamily="34" charset="-120"/>
              </a:rPr>
              <a:t>Normalise free-text spellings</a:t>
            </a:r>
            <a:endParaRPr lang="en-US" sz="1100" dirty="0"/>
          </a:p>
        </p:txBody>
      </p:sp>
      <p:sp>
        <p:nvSpPr>
          <p:cNvPr id="13" name="Text 11"/>
          <p:cNvSpPr/>
          <p:nvPr/>
        </p:nvSpPr>
        <p:spPr>
          <a:xfrm>
            <a:off x="2880360" y="2468880"/>
            <a:ext cx="731520" cy="365760"/>
          </a:xfrm>
          <a:prstGeom prst="rect">
            <a:avLst/>
          </a:prstGeom>
          <a:noFill/>
          <a:ln/>
        </p:spPr>
        <p:txBody>
          <a:bodyPr wrap="square" rtlCol="0" anchor="ctr"/>
          <a:lstStyle/>
          <a:p>
            <a:pPr marL="0" indent="0">
              <a:buNone/>
            </a:pPr>
            <a:r>
              <a:rPr lang="en-US" sz="2200" b="1" i="1" dirty="0">
                <a:solidFill>
                  <a:srgbClr val="B85042"/>
                </a:solidFill>
                <a:latin typeface="Georgia" pitchFamily="34" charset="0"/>
                <a:ea typeface="Georgia" pitchFamily="34" charset="-122"/>
                <a:cs typeface="Georgia" pitchFamily="34" charset="-120"/>
              </a:rPr>
              <a:t>02</a:t>
            </a:r>
            <a:endParaRPr lang="en-US" sz="2200" dirty="0"/>
          </a:p>
        </p:txBody>
      </p:sp>
      <p:sp>
        <p:nvSpPr>
          <p:cNvPr id="14" name="Text 12"/>
          <p:cNvSpPr/>
          <p:nvPr/>
        </p:nvSpPr>
        <p:spPr>
          <a:xfrm>
            <a:off x="2880360" y="2880360"/>
            <a:ext cx="2148840" cy="365760"/>
          </a:xfrm>
          <a:prstGeom prst="rect">
            <a:avLst/>
          </a:prstGeom>
          <a:noFill/>
          <a:ln/>
        </p:spPr>
        <p:txBody>
          <a:bodyPr wrap="square" rtlCol="0" anchor="ctr"/>
          <a:lstStyle/>
          <a:p>
            <a:pPr marL="0" indent="0">
              <a:buNone/>
            </a:pPr>
            <a:r>
              <a:rPr lang="en-US" sz="1600" b="1" dirty="0">
                <a:solidFill>
                  <a:srgbClr val="1A1A1A"/>
                </a:solidFill>
                <a:latin typeface="Georgia" pitchFamily="34" charset="0"/>
                <a:ea typeface="Georgia" pitchFamily="34" charset="-122"/>
                <a:cs typeface="Georgia" pitchFamily="34" charset="-120"/>
              </a:rPr>
              <a:t>Interviews</a:t>
            </a:r>
            <a:endParaRPr lang="en-US" sz="1600" dirty="0"/>
          </a:p>
        </p:txBody>
      </p:sp>
      <p:sp>
        <p:nvSpPr>
          <p:cNvPr id="15" name="Text 13"/>
          <p:cNvSpPr/>
          <p:nvPr/>
        </p:nvSpPr>
        <p:spPr>
          <a:xfrm>
            <a:off x="2880360" y="3429000"/>
            <a:ext cx="2103120" cy="2743200"/>
          </a:xfrm>
          <a:prstGeom prst="rect">
            <a:avLst/>
          </a:prstGeom>
          <a:noFill/>
          <a:ln/>
        </p:spPr>
        <p:txBody>
          <a:bodyPr wrap="square" rtlCol="0" anchor="t"/>
          <a:lstStyle/>
          <a:p>
            <a:pPr marL="342900" indent="-342900">
              <a:spcAft>
                <a:spcPts val="600"/>
              </a:spcAft>
              <a:buSzPct val="100000"/>
              <a:buChar char="—"/>
            </a:pPr>
            <a:r>
              <a:rPr lang="en-US" sz="1100" dirty="0">
                <a:solidFill>
                  <a:srgbClr val="1A1A1A"/>
                </a:solidFill>
                <a:latin typeface="Calibri" pitchFamily="34" charset="0"/>
                <a:ea typeface="Calibri" pitchFamily="34" charset="-122"/>
                <a:cs typeface="Calibri" pitchFamily="34" charset="-120"/>
              </a:rPr>
              <a:t>Verbatim transcription</a:t>
            </a:r>
            <a:endParaRPr lang="en-US" sz="1100" dirty="0"/>
          </a:p>
          <a:p>
            <a:pPr marL="342900" indent="-342900">
              <a:spcAft>
                <a:spcPts val="600"/>
              </a:spcAft>
              <a:buSzPct val="100000"/>
              <a:buChar char="—"/>
            </a:pPr>
            <a:r>
              <a:rPr lang="en-US" sz="1100" dirty="0">
                <a:solidFill>
                  <a:srgbClr val="1A1A1A"/>
                </a:solidFill>
                <a:latin typeface="Calibri" pitchFamily="34" charset="0"/>
                <a:ea typeface="Calibri" pitchFamily="34" charset="-122"/>
                <a:cs typeface="Calibri" pitchFamily="34" charset="-120"/>
              </a:rPr>
              <a:t>Strip filler &amp; off-topic content</a:t>
            </a:r>
            <a:endParaRPr lang="en-US" sz="1100" dirty="0"/>
          </a:p>
          <a:p>
            <a:pPr marL="342900" indent="-342900">
              <a:spcAft>
                <a:spcPts val="600"/>
              </a:spcAft>
              <a:buSzPct val="100000"/>
              <a:buChar char="—"/>
            </a:pPr>
            <a:r>
              <a:rPr lang="en-US" sz="1100" dirty="0">
                <a:solidFill>
                  <a:srgbClr val="1A1A1A"/>
                </a:solidFill>
                <a:latin typeface="Calibri" pitchFamily="34" charset="0"/>
                <a:ea typeface="Calibri" pitchFamily="34" charset="-122"/>
                <a:cs typeface="Calibri" pitchFamily="34" charset="-120"/>
              </a:rPr>
              <a:t>Anonymise where requested</a:t>
            </a:r>
            <a:endParaRPr lang="en-US" sz="1100" dirty="0"/>
          </a:p>
          <a:p>
            <a:pPr marL="342900" indent="-342900">
              <a:spcAft>
                <a:spcPts val="600"/>
              </a:spcAft>
              <a:buSzPct val="100000"/>
              <a:buChar char="—"/>
            </a:pPr>
            <a:r>
              <a:rPr lang="en-US" sz="1100" dirty="0">
                <a:solidFill>
                  <a:srgbClr val="1A1A1A"/>
                </a:solidFill>
                <a:latin typeface="Calibri" pitchFamily="34" charset="0"/>
                <a:ea typeface="Calibri" pitchFamily="34" charset="-122"/>
                <a:cs typeface="Calibri" pitchFamily="34" charset="-120"/>
              </a:rPr>
              <a:t>Code by theme</a:t>
            </a:r>
            <a:endParaRPr lang="en-US" sz="1100" dirty="0"/>
          </a:p>
        </p:txBody>
      </p:sp>
      <p:sp>
        <p:nvSpPr>
          <p:cNvPr id="16" name="Text 14"/>
          <p:cNvSpPr/>
          <p:nvPr/>
        </p:nvSpPr>
        <p:spPr>
          <a:xfrm>
            <a:off x="5120640" y="2468880"/>
            <a:ext cx="731520" cy="365760"/>
          </a:xfrm>
          <a:prstGeom prst="rect">
            <a:avLst/>
          </a:prstGeom>
          <a:noFill/>
          <a:ln/>
        </p:spPr>
        <p:txBody>
          <a:bodyPr wrap="square" rtlCol="0" anchor="ctr"/>
          <a:lstStyle/>
          <a:p>
            <a:pPr marL="0" indent="0">
              <a:buNone/>
            </a:pPr>
            <a:r>
              <a:rPr lang="en-US" sz="2200" b="1" i="1" dirty="0">
                <a:solidFill>
                  <a:srgbClr val="B85042"/>
                </a:solidFill>
                <a:latin typeface="Georgia" pitchFamily="34" charset="0"/>
                <a:ea typeface="Georgia" pitchFamily="34" charset="-122"/>
                <a:cs typeface="Georgia" pitchFamily="34" charset="-120"/>
              </a:rPr>
              <a:t>03</a:t>
            </a:r>
            <a:endParaRPr lang="en-US" sz="2200" dirty="0"/>
          </a:p>
        </p:txBody>
      </p:sp>
      <p:sp>
        <p:nvSpPr>
          <p:cNvPr id="17" name="Text 15"/>
          <p:cNvSpPr/>
          <p:nvPr/>
        </p:nvSpPr>
        <p:spPr>
          <a:xfrm>
            <a:off x="5120640" y="2880360"/>
            <a:ext cx="2148840" cy="365760"/>
          </a:xfrm>
          <a:prstGeom prst="rect">
            <a:avLst/>
          </a:prstGeom>
          <a:noFill/>
          <a:ln/>
        </p:spPr>
        <p:txBody>
          <a:bodyPr wrap="square" rtlCol="0" anchor="ctr"/>
          <a:lstStyle/>
          <a:p>
            <a:pPr marL="0" indent="0">
              <a:buNone/>
            </a:pPr>
            <a:r>
              <a:rPr lang="en-US" sz="1600" b="1" dirty="0">
                <a:solidFill>
                  <a:srgbClr val="1A1A1A"/>
                </a:solidFill>
                <a:latin typeface="Georgia" pitchFamily="34" charset="0"/>
                <a:ea typeface="Georgia" pitchFamily="34" charset="-122"/>
                <a:cs typeface="Georgia" pitchFamily="34" charset="-120"/>
              </a:rPr>
              <a:t>Images</a:t>
            </a:r>
            <a:endParaRPr lang="en-US" sz="1600" dirty="0"/>
          </a:p>
        </p:txBody>
      </p:sp>
      <p:sp>
        <p:nvSpPr>
          <p:cNvPr id="18" name="Text 16"/>
          <p:cNvSpPr/>
          <p:nvPr/>
        </p:nvSpPr>
        <p:spPr>
          <a:xfrm>
            <a:off x="5120640" y="3429000"/>
            <a:ext cx="2103120" cy="2743200"/>
          </a:xfrm>
          <a:prstGeom prst="rect">
            <a:avLst/>
          </a:prstGeom>
          <a:noFill/>
          <a:ln/>
        </p:spPr>
        <p:txBody>
          <a:bodyPr wrap="square" rtlCol="0" anchor="t"/>
          <a:lstStyle/>
          <a:p>
            <a:pPr marL="342900" indent="-342900">
              <a:spcAft>
                <a:spcPts val="600"/>
              </a:spcAft>
              <a:buSzPct val="100000"/>
              <a:buChar char="—"/>
            </a:pPr>
            <a:r>
              <a:rPr lang="en-US" sz="1100" dirty="0">
                <a:solidFill>
                  <a:srgbClr val="1A1A1A"/>
                </a:solidFill>
                <a:latin typeface="Calibri" pitchFamily="34" charset="0"/>
                <a:ea typeface="Calibri" pitchFamily="34" charset="-122"/>
                <a:cs typeface="Calibri" pitchFamily="34" charset="-120"/>
              </a:rPr>
              <a:t>Drop blurred / duplicate frames</a:t>
            </a:r>
            <a:endParaRPr lang="en-US" sz="1100" dirty="0"/>
          </a:p>
          <a:p>
            <a:pPr marL="342900" indent="-342900">
              <a:spcAft>
                <a:spcPts val="600"/>
              </a:spcAft>
              <a:buSzPct val="100000"/>
              <a:buChar char="—"/>
            </a:pPr>
            <a:r>
              <a:rPr lang="en-US" sz="1100" dirty="0">
                <a:solidFill>
                  <a:srgbClr val="1A1A1A"/>
                </a:solidFill>
                <a:latin typeface="Calibri" pitchFamily="34" charset="0"/>
                <a:ea typeface="Calibri" pitchFamily="34" charset="-122"/>
                <a:cs typeface="Calibri" pitchFamily="34" charset="-120"/>
              </a:rPr>
              <a:t>Crop to single symbol</a:t>
            </a:r>
            <a:endParaRPr lang="en-US" sz="1100" dirty="0"/>
          </a:p>
          <a:p>
            <a:pPr marL="342900" indent="-342900">
              <a:spcAft>
                <a:spcPts val="600"/>
              </a:spcAft>
              <a:buSzPct val="100000"/>
              <a:buChar char="—"/>
            </a:pPr>
            <a:r>
              <a:rPr lang="en-US" sz="1100" dirty="0">
                <a:solidFill>
                  <a:srgbClr val="1A1A1A"/>
                </a:solidFill>
                <a:latin typeface="Calibri" pitchFamily="34" charset="0"/>
                <a:ea typeface="Calibri" pitchFamily="34" charset="-122"/>
                <a:cs typeface="Calibri" pitchFamily="34" charset="-120"/>
              </a:rPr>
              <a:t>Balance class distribution</a:t>
            </a:r>
            <a:endParaRPr lang="en-US" sz="1100" dirty="0"/>
          </a:p>
          <a:p>
            <a:pPr marL="342900" indent="-342900">
              <a:spcAft>
                <a:spcPts val="600"/>
              </a:spcAft>
              <a:buSzPct val="100000"/>
              <a:buChar char="—"/>
            </a:pPr>
            <a:r>
              <a:rPr lang="en-US" sz="1100" dirty="0">
                <a:solidFill>
                  <a:srgbClr val="1A1A1A"/>
                </a:solidFill>
                <a:latin typeface="Calibri" pitchFamily="34" charset="0"/>
                <a:ea typeface="Calibri" pitchFamily="34" charset="-122"/>
                <a:cs typeface="Calibri" pitchFamily="34" charset="-120"/>
              </a:rPr>
              <a:t>Augment (rotate, brightness, noise)</a:t>
            </a:r>
            <a:endParaRPr lang="en-US" sz="1100" dirty="0"/>
          </a:p>
        </p:txBody>
      </p:sp>
      <p:sp>
        <p:nvSpPr>
          <p:cNvPr id="19" name="Text 17"/>
          <p:cNvSpPr/>
          <p:nvPr/>
        </p:nvSpPr>
        <p:spPr>
          <a:xfrm>
            <a:off x="7360920" y="2468880"/>
            <a:ext cx="731520" cy="365760"/>
          </a:xfrm>
          <a:prstGeom prst="rect">
            <a:avLst/>
          </a:prstGeom>
          <a:noFill/>
          <a:ln/>
        </p:spPr>
        <p:txBody>
          <a:bodyPr wrap="square" rtlCol="0" anchor="ctr"/>
          <a:lstStyle/>
          <a:p>
            <a:pPr marL="0" indent="0">
              <a:buNone/>
            </a:pPr>
            <a:r>
              <a:rPr lang="en-US" sz="2200" b="1" i="1" dirty="0">
                <a:solidFill>
                  <a:srgbClr val="B85042"/>
                </a:solidFill>
                <a:latin typeface="Georgia" pitchFamily="34" charset="0"/>
                <a:ea typeface="Georgia" pitchFamily="34" charset="-122"/>
                <a:cs typeface="Georgia" pitchFamily="34" charset="-120"/>
              </a:rPr>
              <a:t>04</a:t>
            </a:r>
            <a:endParaRPr lang="en-US" sz="2200" dirty="0"/>
          </a:p>
        </p:txBody>
      </p:sp>
      <p:sp>
        <p:nvSpPr>
          <p:cNvPr id="20" name="Text 18"/>
          <p:cNvSpPr/>
          <p:nvPr/>
        </p:nvSpPr>
        <p:spPr>
          <a:xfrm>
            <a:off x="7360920" y="2880360"/>
            <a:ext cx="2148840" cy="365760"/>
          </a:xfrm>
          <a:prstGeom prst="rect">
            <a:avLst/>
          </a:prstGeom>
          <a:noFill/>
          <a:ln/>
        </p:spPr>
        <p:txBody>
          <a:bodyPr wrap="square" rtlCol="0" anchor="ctr"/>
          <a:lstStyle/>
          <a:p>
            <a:pPr marL="0" indent="0">
              <a:buNone/>
            </a:pPr>
            <a:r>
              <a:rPr lang="en-US" sz="1600" b="1" dirty="0">
                <a:solidFill>
                  <a:srgbClr val="1A1A1A"/>
                </a:solidFill>
                <a:latin typeface="Georgia" pitchFamily="34" charset="0"/>
                <a:ea typeface="Georgia" pitchFamily="34" charset="-122"/>
                <a:cs typeface="Georgia" pitchFamily="34" charset="-120"/>
              </a:rPr>
              <a:t>Audio</a:t>
            </a:r>
            <a:endParaRPr lang="en-US" sz="1600" dirty="0"/>
          </a:p>
        </p:txBody>
      </p:sp>
      <p:sp>
        <p:nvSpPr>
          <p:cNvPr id="21" name="Text 19"/>
          <p:cNvSpPr/>
          <p:nvPr/>
        </p:nvSpPr>
        <p:spPr>
          <a:xfrm>
            <a:off x="7360920" y="3429000"/>
            <a:ext cx="2103120" cy="2743200"/>
          </a:xfrm>
          <a:prstGeom prst="rect">
            <a:avLst/>
          </a:prstGeom>
          <a:noFill/>
          <a:ln/>
        </p:spPr>
        <p:txBody>
          <a:bodyPr wrap="square" rtlCol="0" anchor="t"/>
          <a:lstStyle/>
          <a:p>
            <a:pPr marL="342900" indent="-342900">
              <a:spcAft>
                <a:spcPts val="600"/>
              </a:spcAft>
              <a:buSzPct val="100000"/>
              <a:buChar char="—"/>
            </a:pPr>
            <a:r>
              <a:rPr lang="en-US" sz="1100" dirty="0">
                <a:solidFill>
                  <a:srgbClr val="1A1A1A"/>
                </a:solidFill>
                <a:latin typeface="Calibri" pitchFamily="34" charset="0"/>
                <a:ea typeface="Calibri" pitchFamily="34" charset="-122"/>
                <a:cs typeface="Calibri" pitchFamily="34" charset="-120"/>
              </a:rPr>
              <a:t>Trim silence</a:t>
            </a:r>
            <a:endParaRPr lang="en-US" sz="1100" dirty="0"/>
          </a:p>
          <a:p>
            <a:pPr marL="342900" indent="-342900">
              <a:spcAft>
                <a:spcPts val="600"/>
              </a:spcAft>
              <a:buSzPct val="100000"/>
              <a:buChar char="—"/>
            </a:pPr>
            <a:r>
              <a:rPr lang="en-US" sz="1100" dirty="0">
                <a:solidFill>
                  <a:srgbClr val="1A1A1A"/>
                </a:solidFill>
                <a:latin typeface="Calibri" pitchFamily="34" charset="0"/>
                <a:ea typeface="Calibri" pitchFamily="34" charset="-122"/>
                <a:cs typeface="Calibri" pitchFamily="34" charset="-120"/>
              </a:rPr>
              <a:t>Exclude clips with speech / music</a:t>
            </a:r>
            <a:endParaRPr lang="en-US" sz="1100" dirty="0"/>
          </a:p>
          <a:p>
            <a:pPr marL="342900" indent="-342900">
              <a:spcAft>
                <a:spcPts val="600"/>
              </a:spcAft>
              <a:buSzPct val="100000"/>
              <a:buChar char="—"/>
            </a:pPr>
            <a:r>
              <a:rPr lang="en-US" sz="1100" dirty="0">
                <a:solidFill>
                  <a:srgbClr val="1A1A1A"/>
                </a:solidFill>
                <a:latin typeface="Calibri" pitchFamily="34" charset="0"/>
                <a:ea typeface="Calibri" pitchFamily="34" charset="-122"/>
                <a:cs typeface="Calibri" pitchFamily="34" charset="-120"/>
              </a:rPr>
              <a:t>Resample to 16 kHz, normalise</a:t>
            </a:r>
            <a:endParaRPr lang="en-US" sz="1100" dirty="0"/>
          </a:p>
          <a:p>
            <a:pPr marL="342900" indent="-342900">
              <a:spcAft>
                <a:spcPts val="600"/>
              </a:spcAft>
              <a:buSzPct val="100000"/>
              <a:buChar char="—"/>
            </a:pPr>
            <a:r>
              <a:rPr lang="en-US" sz="1100" dirty="0">
                <a:solidFill>
                  <a:srgbClr val="1A1A1A"/>
                </a:solidFill>
                <a:latin typeface="Calibri" pitchFamily="34" charset="0"/>
                <a:ea typeface="Calibri" pitchFamily="34" charset="-122"/>
                <a:cs typeface="Calibri" pitchFamily="34" charset="-120"/>
              </a:rPr>
              <a:t>Mechanic re-labelling</a:t>
            </a:r>
            <a:endParaRPr lang="en-US" sz="1100" dirty="0"/>
          </a:p>
        </p:txBody>
      </p:sp>
      <p:sp>
        <p:nvSpPr>
          <p:cNvPr id="22" name="Text 20"/>
          <p:cNvSpPr/>
          <p:nvPr/>
        </p:nvSpPr>
        <p:spPr>
          <a:xfrm>
            <a:off x="9601200" y="2468880"/>
            <a:ext cx="731520" cy="365760"/>
          </a:xfrm>
          <a:prstGeom prst="rect">
            <a:avLst/>
          </a:prstGeom>
          <a:noFill/>
          <a:ln/>
        </p:spPr>
        <p:txBody>
          <a:bodyPr wrap="square" rtlCol="0" anchor="ctr"/>
          <a:lstStyle/>
          <a:p>
            <a:pPr marL="0" indent="0">
              <a:buNone/>
            </a:pPr>
            <a:r>
              <a:rPr lang="en-US" sz="2200" b="1" i="1" dirty="0">
                <a:solidFill>
                  <a:srgbClr val="B85042"/>
                </a:solidFill>
                <a:latin typeface="Georgia" pitchFamily="34" charset="0"/>
                <a:ea typeface="Georgia" pitchFamily="34" charset="-122"/>
                <a:cs typeface="Georgia" pitchFamily="34" charset="-120"/>
              </a:rPr>
              <a:t>05</a:t>
            </a:r>
            <a:endParaRPr lang="en-US" sz="2200" dirty="0"/>
          </a:p>
        </p:txBody>
      </p:sp>
      <p:sp>
        <p:nvSpPr>
          <p:cNvPr id="23" name="Text 21"/>
          <p:cNvSpPr/>
          <p:nvPr/>
        </p:nvSpPr>
        <p:spPr>
          <a:xfrm>
            <a:off x="9601200" y="2880360"/>
            <a:ext cx="2148840" cy="365760"/>
          </a:xfrm>
          <a:prstGeom prst="rect">
            <a:avLst/>
          </a:prstGeom>
          <a:noFill/>
          <a:ln/>
        </p:spPr>
        <p:txBody>
          <a:bodyPr wrap="square" rtlCol="0" anchor="ctr"/>
          <a:lstStyle/>
          <a:p>
            <a:pPr marL="0" indent="0">
              <a:buNone/>
            </a:pPr>
            <a:r>
              <a:rPr lang="en-US" sz="1600" b="1" dirty="0">
                <a:solidFill>
                  <a:srgbClr val="1A1A1A"/>
                </a:solidFill>
                <a:latin typeface="Georgia" pitchFamily="34" charset="0"/>
                <a:ea typeface="Georgia" pitchFamily="34" charset="-122"/>
                <a:cs typeface="Georgia" pitchFamily="34" charset="-120"/>
              </a:rPr>
              <a:t>Knowledge base</a:t>
            </a:r>
            <a:endParaRPr lang="en-US" sz="1600" dirty="0"/>
          </a:p>
        </p:txBody>
      </p:sp>
      <p:sp>
        <p:nvSpPr>
          <p:cNvPr id="24" name="Text 22"/>
          <p:cNvSpPr/>
          <p:nvPr/>
        </p:nvSpPr>
        <p:spPr>
          <a:xfrm>
            <a:off x="9601200" y="3429000"/>
            <a:ext cx="2103120" cy="2743200"/>
          </a:xfrm>
          <a:prstGeom prst="rect">
            <a:avLst/>
          </a:prstGeom>
          <a:noFill/>
          <a:ln/>
        </p:spPr>
        <p:txBody>
          <a:bodyPr wrap="square" rtlCol="0" anchor="t"/>
          <a:lstStyle/>
          <a:p>
            <a:pPr marL="342900" indent="-342900">
              <a:spcAft>
                <a:spcPts val="600"/>
              </a:spcAft>
              <a:buSzPct val="100000"/>
              <a:buChar char="—"/>
            </a:pPr>
            <a:r>
              <a:rPr lang="en-US" sz="1100" dirty="0">
                <a:solidFill>
                  <a:srgbClr val="1A1A1A"/>
                </a:solidFill>
                <a:latin typeface="Calibri" pitchFamily="34" charset="0"/>
                <a:ea typeface="Calibri" pitchFamily="34" charset="-122"/>
                <a:cs typeface="Calibri" pitchFamily="34" charset="-120"/>
              </a:rPr>
              <a:t>Cross-check each entry × 2 sources</a:t>
            </a:r>
            <a:endParaRPr lang="en-US" sz="1100" dirty="0"/>
          </a:p>
          <a:p>
            <a:pPr marL="342900" indent="-342900">
              <a:spcAft>
                <a:spcPts val="600"/>
              </a:spcAft>
              <a:buSzPct val="100000"/>
              <a:buChar char="—"/>
            </a:pPr>
            <a:r>
              <a:rPr lang="en-US" sz="1100" dirty="0">
                <a:solidFill>
                  <a:srgbClr val="1A1A1A"/>
                </a:solidFill>
                <a:latin typeface="Calibri" pitchFamily="34" charset="0"/>
                <a:ea typeface="Calibri" pitchFamily="34" charset="-122"/>
                <a:cs typeface="Calibri" pitchFamily="34" charset="-120"/>
              </a:rPr>
              <a:t>Drop contradictions</a:t>
            </a:r>
            <a:endParaRPr lang="en-US" sz="1100" dirty="0"/>
          </a:p>
          <a:p>
            <a:pPr marL="342900" indent="-342900">
              <a:spcAft>
                <a:spcPts val="600"/>
              </a:spcAft>
              <a:buSzPct val="100000"/>
              <a:buChar char="—"/>
            </a:pPr>
            <a:r>
              <a:rPr lang="en-US" sz="1100" dirty="0">
                <a:solidFill>
                  <a:srgbClr val="1A1A1A"/>
                </a:solidFill>
                <a:latin typeface="Calibri" pitchFamily="34" charset="0"/>
                <a:ea typeface="Calibri" pitchFamily="34" charset="-122"/>
                <a:cs typeface="Calibri" pitchFamily="34" charset="-120"/>
              </a:rPr>
              <a:t>Standardise urgency tiers</a:t>
            </a:r>
            <a:endParaRPr lang="en-US" sz="1100" dirty="0"/>
          </a:p>
          <a:p>
            <a:pPr marL="342900" indent="-342900">
              <a:spcAft>
                <a:spcPts val="600"/>
              </a:spcAft>
              <a:buSzPct val="100000"/>
              <a:buChar char="—"/>
            </a:pPr>
            <a:r>
              <a:rPr lang="en-US" sz="1100" dirty="0">
                <a:solidFill>
                  <a:srgbClr val="1A1A1A"/>
                </a:solidFill>
                <a:latin typeface="Calibri" pitchFamily="34" charset="0"/>
                <a:ea typeface="Calibri" pitchFamily="34" charset="-122"/>
                <a:cs typeface="Calibri" pitchFamily="34" charset="-120"/>
              </a:rPr>
              <a:t>Flag ambiguity for review</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1A1A"/>
        </a:solidFill>
        <a:effectLst/>
      </p:bgPr>
    </p:bg>
    <p:spTree>
      <p:nvGrpSpPr>
        <p:cNvPr id="1" name=""/>
        <p:cNvGrpSpPr/>
        <p:nvPr/>
      </p:nvGrpSpPr>
      <p:grpSpPr>
        <a:xfrm>
          <a:off x="0" y="0"/>
          <a:ext cx="0" cy="0"/>
          <a:chOff x="0" y="0"/>
          <a:chExt cx="0" cy="0"/>
        </a:xfrm>
      </p:grpSpPr>
      <p:sp>
        <p:nvSpPr>
          <p:cNvPr id="2" name="Shape 0"/>
          <p:cNvSpPr/>
          <p:nvPr/>
        </p:nvSpPr>
        <p:spPr>
          <a:xfrm>
            <a:off x="0" y="1280160"/>
            <a:ext cx="12191695" cy="36576"/>
          </a:xfrm>
          <a:prstGeom prst="rect">
            <a:avLst/>
          </a:prstGeom>
          <a:solidFill>
            <a:srgbClr val="C9A961"/>
          </a:solidFill>
          <a:ln/>
        </p:spPr>
      </p:sp>
      <p:sp>
        <p:nvSpPr>
          <p:cNvPr id="3" name="Text 1"/>
          <p:cNvSpPr/>
          <p:nvPr/>
        </p:nvSpPr>
        <p:spPr>
          <a:xfrm>
            <a:off x="457200" y="1463040"/>
            <a:ext cx="5486400" cy="5029200"/>
          </a:xfrm>
          <a:prstGeom prst="rect">
            <a:avLst/>
          </a:prstGeom>
          <a:noFill/>
          <a:ln/>
        </p:spPr>
        <p:txBody>
          <a:bodyPr wrap="square" rtlCol="0" anchor="t"/>
          <a:lstStyle/>
          <a:p>
            <a:pPr marL="0" indent="0">
              <a:buNone/>
            </a:pPr>
            <a:r>
              <a:rPr lang="en-US" sz="28000" b="1" dirty="0">
                <a:solidFill>
                  <a:srgbClr val="B85042"/>
                </a:solidFill>
                <a:latin typeface="Georgia" pitchFamily="34" charset="0"/>
                <a:ea typeface="Georgia" pitchFamily="34" charset="-122"/>
                <a:cs typeface="Georgia" pitchFamily="34" charset="-120"/>
              </a:rPr>
              <a:t>04</a:t>
            </a:r>
            <a:endParaRPr lang="en-US" sz="28000" dirty="0"/>
          </a:p>
        </p:txBody>
      </p:sp>
      <p:sp>
        <p:nvSpPr>
          <p:cNvPr id="4" name="Text 2"/>
          <p:cNvSpPr/>
          <p:nvPr/>
        </p:nvSpPr>
        <p:spPr>
          <a:xfrm>
            <a:off x="5943600" y="2377440"/>
            <a:ext cx="5486400" cy="365760"/>
          </a:xfrm>
          <a:prstGeom prst="rect">
            <a:avLst/>
          </a:prstGeom>
          <a:noFill/>
          <a:ln/>
        </p:spPr>
        <p:txBody>
          <a:bodyPr wrap="square" rtlCol="0" anchor="ctr"/>
          <a:lstStyle/>
          <a:p>
            <a:pPr marL="0" indent="0">
              <a:buNone/>
            </a:pPr>
            <a:r>
              <a:rPr lang="en-US" sz="1400" b="1" kern="0" spc="800" dirty="0">
                <a:solidFill>
                  <a:srgbClr val="C9A961"/>
                </a:solidFill>
                <a:latin typeface="Georgia" pitchFamily="34" charset="0"/>
                <a:ea typeface="Georgia" pitchFamily="34" charset="-122"/>
                <a:cs typeface="Georgia" pitchFamily="34" charset="-120"/>
              </a:rPr>
              <a:t>PART FOUR</a:t>
            </a:r>
            <a:endParaRPr lang="en-US" sz="1400" dirty="0"/>
          </a:p>
        </p:txBody>
      </p:sp>
      <p:sp>
        <p:nvSpPr>
          <p:cNvPr id="5" name="Text 3"/>
          <p:cNvSpPr/>
          <p:nvPr/>
        </p:nvSpPr>
        <p:spPr>
          <a:xfrm>
            <a:off x="5943600" y="2743200"/>
            <a:ext cx="5943600" cy="914400"/>
          </a:xfrm>
          <a:prstGeom prst="rect">
            <a:avLst/>
          </a:prstGeom>
          <a:noFill/>
          <a:ln/>
        </p:spPr>
        <p:txBody>
          <a:bodyPr wrap="square" rtlCol="0" anchor="ctr"/>
          <a:lstStyle/>
          <a:p>
            <a:pPr marL="0" indent="0">
              <a:buNone/>
            </a:pPr>
            <a:r>
              <a:rPr lang="en-US" sz="5600" b="1" dirty="0">
                <a:solidFill>
                  <a:srgbClr val="F5EFE6"/>
                </a:solidFill>
                <a:latin typeface="Georgia" pitchFamily="34" charset="0"/>
                <a:ea typeface="Georgia" pitchFamily="34" charset="-122"/>
                <a:cs typeface="Georgia" pitchFamily="34" charset="-120"/>
              </a:rPr>
              <a:t>User</a:t>
            </a:r>
            <a:endParaRPr lang="en-US" sz="5600" dirty="0"/>
          </a:p>
        </p:txBody>
      </p:sp>
      <p:sp>
        <p:nvSpPr>
          <p:cNvPr id="6" name="Text 4"/>
          <p:cNvSpPr/>
          <p:nvPr/>
        </p:nvSpPr>
        <p:spPr>
          <a:xfrm>
            <a:off x="5943600" y="3520440"/>
            <a:ext cx="5943600" cy="914400"/>
          </a:xfrm>
          <a:prstGeom prst="rect">
            <a:avLst/>
          </a:prstGeom>
          <a:noFill/>
          <a:ln/>
        </p:spPr>
        <p:txBody>
          <a:bodyPr wrap="square" rtlCol="0" anchor="ctr"/>
          <a:lstStyle/>
          <a:p>
            <a:pPr marL="0" indent="0">
              <a:buNone/>
            </a:pPr>
            <a:r>
              <a:rPr lang="en-US" sz="5600" b="1" i="1" dirty="0">
                <a:solidFill>
                  <a:srgbClr val="B85042"/>
                </a:solidFill>
                <a:latin typeface="Georgia" pitchFamily="34" charset="0"/>
                <a:ea typeface="Georgia" pitchFamily="34" charset="-122"/>
                <a:cs typeface="Georgia" pitchFamily="34" charset="-120"/>
              </a:rPr>
              <a:t>Reluctance.</a:t>
            </a:r>
            <a:endParaRPr lang="en-US" sz="5600" dirty="0"/>
          </a:p>
        </p:txBody>
      </p:sp>
      <p:sp>
        <p:nvSpPr>
          <p:cNvPr id="7" name="Text 5"/>
          <p:cNvSpPr/>
          <p:nvPr/>
        </p:nvSpPr>
        <p:spPr>
          <a:xfrm>
            <a:off x="5943600" y="4709160"/>
            <a:ext cx="5943600" cy="548640"/>
          </a:xfrm>
          <a:prstGeom prst="rect">
            <a:avLst/>
          </a:prstGeom>
          <a:noFill/>
          <a:ln/>
        </p:spPr>
        <p:txBody>
          <a:bodyPr wrap="square" rtlCol="0" anchor="ctr"/>
          <a:lstStyle/>
          <a:p>
            <a:pPr marL="0" indent="0">
              <a:buNone/>
            </a:pPr>
            <a:r>
              <a:rPr lang="en-US" sz="1400" i="1" dirty="0">
                <a:solidFill>
                  <a:srgbClr val="F5EFE6"/>
                </a:solidFill>
                <a:latin typeface="Georgia" pitchFamily="34" charset="0"/>
                <a:ea typeface="Georgia" pitchFamily="34" charset="-122"/>
                <a:cs typeface="Georgia" pitchFamily="34" charset="-120"/>
              </a:rPr>
              <a:t>A useful product is not an adopted one. Six barriers  and how we'll cross them.</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EFE6"/>
        </a:solidFill>
        <a:effectLst/>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B85042"/>
          </a:solidFill>
          <a:ln/>
        </p:spPr>
      </p:sp>
      <p:sp>
        <p:nvSpPr>
          <p:cNvPr id="3" name="Shape 1"/>
          <p:cNvSpPr/>
          <p:nvPr/>
        </p:nvSpPr>
        <p:spPr>
          <a:xfrm>
            <a:off x="640080" y="411480"/>
            <a:ext cx="10911535" cy="0"/>
          </a:xfrm>
          <a:prstGeom prst="line">
            <a:avLst/>
          </a:prstGeom>
          <a:noFill/>
          <a:ln w="9525">
            <a:solidFill>
              <a:srgbClr val="1A1A1A"/>
            </a:solidFill>
            <a:prstDash val="solid"/>
          </a:ln>
        </p:spPr>
      </p:sp>
      <p:sp>
        <p:nvSpPr>
          <p:cNvPr id="4" name="Text 2"/>
          <p:cNvSpPr/>
          <p:nvPr/>
        </p:nvSpPr>
        <p:spPr>
          <a:xfrm>
            <a:off x="640080" y="137160"/>
            <a:ext cx="6400800" cy="274320"/>
          </a:xfrm>
          <a:prstGeom prst="rect">
            <a:avLst/>
          </a:prstGeom>
          <a:noFill/>
          <a:ln/>
        </p:spPr>
        <p:txBody>
          <a:bodyPr wrap="square" rtlCol="0" anchor="ctr"/>
          <a:lstStyle/>
          <a:p>
            <a:pPr marL="0" indent="0">
              <a:buNone/>
            </a:pPr>
            <a:r>
              <a:rPr lang="en-US" sz="900" b="1" kern="0" spc="400" dirty="0">
                <a:solidFill>
                  <a:srgbClr val="1A1A1A"/>
                </a:solidFill>
                <a:latin typeface="Georgia" pitchFamily="34" charset="0"/>
                <a:ea typeface="Georgia" pitchFamily="34" charset="-122"/>
                <a:cs typeface="Georgia" pitchFamily="34" charset="-120"/>
              </a:rPr>
              <a:t>04 / USER RELUCTANCE</a:t>
            </a:r>
            <a:endParaRPr lang="en-US" sz="900" dirty="0"/>
          </a:p>
        </p:txBody>
      </p:sp>
      <p:sp>
        <p:nvSpPr>
          <p:cNvPr id="5" name="Text 3"/>
          <p:cNvSpPr/>
          <p:nvPr/>
        </p:nvSpPr>
        <p:spPr>
          <a:xfrm>
            <a:off x="7894015" y="137160"/>
            <a:ext cx="3657600" cy="274320"/>
          </a:xfrm>
          <a:prstGeom prst="rect">
            <a:avLst/>
          </a:prstGeom>
          <a:noFill/>
          <a:ln/>
        </p:spPr>
        <p:txBody>
          <a:bodyPr wrap="square" rtlCol="0" anchor="ctr"/>
          <a:lstStyle/>
          <a:p>
            <a:pPr marL="0" indent="0" algn="r">
              <a:buNone/>
            </a:pPr>
            <a:r>
              <a:rPr lang="en-US" sz="900" b="1" kern="0" spc="400" dirty="0">
                <a:solidFill>
                  <a:srgbClr val="5C5C5C"/>
                </a:solidFill>
                <a:latin typeface="Georgia" pitchFamily="34" charset="0"/>
                <a:ea typeface="Georgia" pitchFamily="34" charset="-122"/>
                <a:cs typeface="Georgia" pitchFamily="34" charset="-120"/>
              </a:rPr>
              <a:t>CAR FAULT DIAGNOSIS</a:t>
            </a:r>
            <a:endParaRPr lang="en-US" sz="900" dirty="0"/>
          </a:p>
        </p:txBody>
      </p:sp>
      <p:sp>
        <p:nvSpPr>
          <p:cNvPr id="6" name="Shape 4"/>
          <p:cNvSpPr/>
          <p:nvPr/>
        </p:nvSpPr>
        <p:spPr>
          <a:xfrm>
            <a:off x="640080" y="6446520"/>
            <a:ext cx="10911535" cy="0"/>
          </a:xfrm>
          <a:prstGeom prst="line">
            <a:avLst/>
          </a:prstGeom>
          <a:noFill/>
          <a:ln w="6350">
            <a:solidFill>
              <a:srgbClr val="1A1A1A"/>
            </a:solidFill>
            <a:prstDash val="solid"/>
          </a:ln>
        </p:spPr>
      </p:sp>
      <p:sp>
        <p:nvSpPr>
          <p:cNvPr id="7" name="Text 5"/>
          <p:cNvSpPr/>
          <p:nvPr/>
        </p:nvSpPr>
        <p:spPr>
          <a:xfrm>
            <a:off x="5547208" y="6510528"/>
            <a:ext cx="1097280" cy="274320"/>
          </a:xfrm>
          <a:prstGeom prst="rect">
            <a:avLst/>
          </a:prstGeom>
          <a:noFill/>
          <a:ln/>
        </p:spPr>
        <p:txBody>
          <a:bodyPr wrap="square" rtlCol="0" anchor="ctr"/>
          <a:lstStyle/>
          <a:p>
            <a:pPr marL="0" indent="0" algn="ctr">
              <a:buNone/>
            </a:pPr>
            <a:r>
              <a:rPr lang="en-US" sz="900" i="1" dirty="0">
                <a:solidFill>
                  <a:srgbClr val="5C5C5C"/>
                </a:solidFill>
                <a:latin typeface="Georgia" pitchFamily="34" charset="0"/>
                <a:ea typeface="Georgia" pitchFamily="34" charset="-122"/>
                <a:cs typeface="Georgia" pitchFamily="34" charset="-120"/>
              </a:rPr>
              <a:t>— 15 —</a:t>
            </a:r>
            <a:endParaRPr lang="en-US" sz="900" dirty="0"/>
          </a:p>
        </p:txBody>
      </p:sp>
      <p:sp>
        <p:nvSpPr>
          <p:cNvPr id="8" name="Text 6"/>
          <p:cNvSpPr/>
          <p:nvPr/>
        </p:nvSpPr>
        <p:spPr>
          <a:xfrm>
            <a:off x="640080" y="777240"/>
            <a:ext cx="4572000" cy="274320"/>
          </a:xfrm>
          <a:prstGeom prst="rect">
            <a:avLst/>
          </a:prstGeom>
          <a:noFill/>
          <a:ln/>
        </p:spPr>
        <p:txBody>
          <a:bodyPr wrap="square" rtlCol="0" anchor="ctr"/>
          <a:lstStyle/>
          <a:p>
            <a:pPr marL="0" indent="0">
              <a:buNone/>
            </a:pPr>
            <a:r>
              <a:rPr lang="en-US" sz="1100" b="1" kern="0" spc="600" dirty="0">
                <a:solidFill>
                  <a:srgbClr val="B85042"/>
                </a:solidFill>
                <a:latin typeface="Georgia" pitchFamily="34" charset="0"/>
                <a:ea typeface="Georgia" pitchFamily="34" charset="-122"/>
                <a:cs typeface="Georgia" pitchFamily="34" charset="-120"/>
              </a:rPr>
              <a:t>BARRIER → MITIGATION</a:t>
            </a:r>
            <a:endParaRPr lang="en-US" sz="1100" dirty="0"/>
          </a:p>
        </p:txBody>
      </p:sp>
      <p:sp>
        <p:nvSpPr>
          <p:cNvPr id="9" name="Text 7"/>
          <p:cNvSpPr/>
          <p:nvPr/>
        </p:nvSpPr>
        <p:spPr>
          <a:xfrm>
            <a:off x="640080" y="1097280"/>
            <a:ext cx="10058400" cy="914400"/>
          </a:xfrm>
          <a:prstGeom prst="rect">
            <a:avLst/>
          </a:prstGeom>
          <a:noFill/>
          <a:ln/>
        </p:spPr>
        <p:txBody>
          <a:bodyPr wrap="square" rtlCol="0" anchor="ctr"/>
          <a:lstStyle/>
          <a:p>
            <a:pPr marL="0" indent="0" algn="l">
              <a:buNone/>
            </a:pPr>
            <a:r>
              <a:rPr lang="en-US" sz="3200" b="1" dirty="0">
                <a:solidFill>
                  <a:srgbClr val="1A1A1A"/>
                </a:solidFill>
                <a:latin typeface="Georgia" pitchFamily="34" charset="0"/>
                <a:ea typeface="Georgia" pitchFamily="34" charset="-122"/>
                <a:cs typeface="Georgia" pitchFamily="34" charset="-120"/>
              </a:rPr>
              <a:t>Six adoption frictions.</a:t>
            </a:r>
            <a:endParaRPr lang="en-US" sz="3200" dirty="0"/>
          </a:p>
        </p:txBody>
      </p:sp>
      <p:sp>
        <p:nvSpPr>
          <p:cNvPr id="10" name="Text 8"/>
          <p:cNvSpPr/>
          <p:nvPr/>
        </p:nvSpPr>
        <p:spPr>
          <a:xfrm>
            <a:off x="640080" y="2468880"/>
            <a:ext cx="640080" cy="365760"/>
          </a:xfrm>
          <a:prstGeom prst="rect">
            <a:avLst/>
          </a:prstGeom>
          <a:noFill/>
          <a:ln/>
        </p:spPr>
        <p:txBody>
          <a:bodyPr wrap="square" rtlCol="0" anchor="ctr"/>
          <a:lstStyle/>
          <a:p>
            <a:pPr marL="0" indent="0">
              <a:buNone/>
            </a:pPr>
            <a:r>
              <a:rPr lang="en-US" sz="2000" b="1" i="1" dirty="0">
                <a:solidFill>
                  <a:srgbClr val="B85042"/>
                </a:solidFill>
                <a:latin typeface="Georgia" pitchFamily="34" charset="0"/>
                <a:ea typeface="Georgia" pitchFamily="34" charset="-122"/>
                <a:cs typeface="Georgia" pitchFamily="34" charset="-120"/>
              </a:rPr>
              <a:t>01</a:t>
            </a:r>
            <a:endParaRPr lang="en-US" sz="2000" dirty="0"/>
          </a:p>
        </p:txBody>
      </p:sp>
      <p:sp>
        <p:nvSpPr>
          <p:cNvPr id="11" name="Text 9"/>
          <p:cNvSpPr/>
          <p:nvPr/>
        </p:nvSpPr>
        <p:spPr>
          <a:xfrm>
            <a:off x="1280160" y="2468880"/>
            <a:ext cx="4846320" cy="365760"/>
          </a:xfrm>
          <a:prstGeom prst="rect">
            <a:avLst/>
          </a:prstGeom>
          <a:noFill/>
          <a:ln/>
        </p:spPr>
        <p:txBody>
          <a:bodyPr wrap="square" rtlCol="0" anchor="ctr"/>
          <a:lstStyle/>
          <a:p>
            <a:pPr marL="0" indent="0">
              <a:buNone/>
            </a:pPr>
            <a:r>
              <a:rPr lang="en-US" sz="1600" b="1" dirty="0">
                <a:solidFill>
                  <a:srgbClr val="1A1A1A"/>
                </a:solidFill>
                <a:latin typeface="Georgia" pitchFamily="34" charset="0"/>
                <a:ea typeface="Georgia" pitchFamily="34" charset="-122"/>
                <a:cs typeface="Georgia" pitchFamily="34" charset="-120"/>
              </a:rPr>
              <a:t>Trust in AI diagnoses</a:t>
            </a:r>
            <a:endParaRPr lang="en-US" sz="1600" dirty="0"/>
          </a:p>
        </p:txBody>
      </p:sp>
      <p:sp>
        <p:nvSpPr>
          <p:cNvPr id="12" name="Text 10"/>
          <p:cNvSpPr/>
          <p:nvPr/>
        </p:nvSpPr>
        <p:spPr>
          <a:xfrm>
            <a:off x="1280160" y="2880360"/>
            <a:ext cx="4846320" cy="594360"/>
          </a:xfrm>
          <a:prstGeom prst="rect">
            <a:avLst/>
          </a:prstGeom>
          <a:noFill/>
          <a:ln/>
        </p:spPr>
        <p:txBody>
          <a:bodyPr wrap="square" rtlCol="0" anchor="t"/>
          <a:lstStyle/>
          <a:p>
            <a:pPr marL="0" indent="0">
              <a:buNone/>
            </a:pPr>
            <a:r>
              <a:rPr lang="en-US" sz="1200" i="1" dirty="0">
                <a:solidFill>
                  <a:srgbClr val="2B2B2B"/>
                </a:solidFill>
                <a:latin typeface="Calibri" pitchFamily="34" charset="0"/>
                <a:ea typeface="Calibri" pitchFamily="34" charset="-122"/>
                <a:cs typeface="Calibri" pitchFamily="34" charset="-120"/>
              </a:rPr>
              <a:t>Show ranked candidates with confidence scores; link to expert tutorials.</a:t>
            </a:r>
            <a:endParaRPr lang="en-US" sz="1200" dirty="0"/>
          </a:p>
        </p:txBody>
      </p:sp>
      <p:sp>
        <p:nvSpPr>
          <p:cNvPr id="13" name="Text 11"/>
          <p:cNvSpPr/>
          <p:nvPr/>
        </p:nvSpPr>
        <p:spPr>
          <a:xfrm>
            <a:off x="640080" y="3611880"/>
            <a:ext cx="640080" cy="365760"/>
          </a:xfrm>
          <a:prstGeom prst="rect">
            <a:avLst/>
          </a:prstGeom>
          <a:noFill/>
          <a:ln/>
        </p:spPr>
        <p:txBody>
          <a:bodyPr wrap="square" rtlCol="0" anchor="ctr"/>
          <a:lstStyle/>
          <a:p>
            <a:pPr marL="0" indent="0">
              <a:buNone/>
            </a:pPr>
            <a:r>
              <a:rPr lang="en-US" sz="2000" b="1" i="1" dirty="0">
                <a:solidFill>
                  <a:srgbClr val="B85042"/>
                </a:solidFill>
                <a:latin typeface="Georgia" pitchFamily="34" charset="0"/>
                <a:ea typeface="Georgia" pitchFamily="34" charset="-122"/>
                <a:cs typeface="Georgia" pitchFamily="34" charset="-120"/>
              </a:rPr>
              <a:t>02</a:t>
            </a:r>
            <a:endParaRPr lang="en-US" sz="2000" dirty="0"/>
          </a:p>
        </p:txBody>
      </p:sp>
      <p:sp>
        <p:nvSpPr>
          <p:cNvPr id="14" name="Text 12"/>
          <p:cNvSpPr/>
          <p:nvPr/>
        </p:nvSpPr>
        <p:spPr>
          <a:xfrm>
            <a:off x="1280160" y="3611880"/>
            <a:ext cx="4846320" cy="365760"/>
          </a:xfrm>
          <a:prstGeom prst="rect">
            <a:avLst/>
          </a:prstGeom>
          <a:noFill/>
          <a:ln/>
        </p:spPr>
        <p:txBody>
          <a:bodyPr wrap="square" rtlCol="0" anchor="ctr"/>
          <a:lstStyle/>
          <a:p>
            <a:pPr marL="0" indent="0">
              <a:buNone/>
            </a:pPr>
            <a:r>
              <a:rPr lang="en-US" sz="1600" b="1" dirty="0">
                <a:solidFill>
                  <a:srgbClr val="1A1A1A"/>
                </a:solidFill>
                <a:latin typeface="Georgia" pitchFamily="34" charset="0"/>
                <a:ea typeface="Georgia" pitchFamily="34" charset="-122"/>
                <a:cs typeface="Georgia" pitchFamily="34" charset="-120"/>
              </a:rPr>
              <a:t>Privacy concerns</a:t>
            </a:r>
            <a:endParaRPr lang="en-US" sz="1600" dirty="0"/>
          </a:p>
        </p:txBody>
      </p:sp>
      <p:sp>
        <p:nvSpPr>
          <p:cNvPr id="15" name="Text 13"/>
          <p:cNvSpPr/>
          <p:nvPr/>
        </p:nvSpPr>
        <p:spPr>
          <a:xfrm>
            <a:off x="1280160" y="4023360"/>
            <a:ext cx="4846320" cy="594360"/>
          </a:xfrm>
          <a:prstGeom prst="rect">
            <a:avLst/>
          </a:prstGeom>
          <a:noFill/>
          <a:ln/>
        </p:spPr>
        <p:txBody>
          <a:bodyPr wrap="square" rtlCol="0" anchor="t"/>
          <a:lstStyle/>
          <a:p>
            <a:pPr marL="0" indent="0">
              <a:buNone/>
            </a:pPr>
            <a:r>
              <a:rPr lang="en-US" sz="1200" i="1" dirty="0">
                <a:solidFill>
                  <a:srgbClr val="2B2B2B"/>
                </a:solidFill>
                <a:latin typeface="Calibri" pitchFamily="34" charset="0"/>
                <a:ea typeface="Calibri" pitchFamily="34" charset="-122"/>
                <a:cs typeface="Calibri" pitchFamily="34" charset="-120"/>
              </a:rPr>
              <a:t>On-device inference; opt-in remote sharing; transparent permission rationale.</a:t>
            </a:r>
            <a:endParaRPr lang="en-US" sz="1200" dirty="0"/>
          </a:p>
        </p:txBody>
      </p:sp>
      <p:sp>
        <p:nvSpPr>
          <p:cNvPr id="16" name="Text 14"/>
          <p:cNvSpPr/>
          <p:nvPr/>
        </p:nvSpPr>
        <p:spPr>
          <a:xfrm>
            <a:off x="640080" y="4754880"/>
            <a:ext cx="640080" cy="365760"/>
          </a:xfrm>
          <a:prstGeom prst="rect">
            <a:avLst/>
          </a:prstGeom>
          <a:noFill/>
          <a:ln/>
        </p:spPr>
        <p:txBody>
          <a:bodyPr wrap="square" rtlCol="0" anchor="ctr"/>
          <a:lstStyle/>
          <a:p>
            <a:pPr marL="0" indent="0">
              <a:buNone/>
            </a:pPr>
            <a:r>
              <a:rPr lang="en-US" sz="2000" b="1" i="1" dirty="0">
                <a:solidFill>
                  <a:srgbClr val="B85042"/>
                </a:solidFill>
                <a:latin typeface="Georgia" pitchFamily="34" charset="0"/>
                <a:ea typeface="Georgia" pitchFamily="34" charset="-122"/>
                <a:cs typeface="Georgia" pitchFamily="34" charset="-120"/>
              </a:rPr>
              <a:t>03</a:t>
            </a:r>
            <a:endParaRPr lang="en-US" sz="2000" dirty="0"/>
          </a:p>
        </p:txBody>
      </p:sp>
      <p:sp>
        <p:nvSpPr>
          <p:cNvPr id="17" name="Text 15"/>
          <p:cNvSpPr/>
          <p:nvPr/>
        </p:nvSpPr>
        <p:spPr>
          <a:xfrm>
            <a:off x="1280160" y="4754880"/>
            <a:ext cx="4846320" cy="365760"/>
          </a:xfrm>
          <a:prstGeom prst="rect">
            <a:avLst/>
          </a:prstGeom>
          <a:noFill/>
          <a:ln/>
        </p:spPr>
        <p:txBody>
          <a:bodyPr wrap="square" rtlCol="0" anchor="ctr"/>
          <a:lstStyle/>
          <a:p>
            <a:pPr marL="0" indent="0">
              <a:buNone/>
            </a:pPr>
            <a:r>
              <a:rPr lang="en-US" sz="1600" b="1" dirty="0">
                <a:solidFill>
                  <a:srgbClr val="1A1A1A"/>
                </a:solidFill>
                <a:latin typeface="Georgia" pitchFamily="34" charset="0"/>
                <a:ea typeface="Georgia" pitchFamily="34" charset="-122"/>
                <a:cs typeface="Georgia" pitchFamily="34" charset="-120"/>
              </a:rPr>
              <a:t>Limited tech literacy</a:t>
            </a:r>
            <a:endParaRPr lang="en-US" sz="1600" dirty="0"/>
          </a:p>
        </p:txBody>
      </p:sp>
      <p:sp>
        <p:nvSpPr>
          <p:cNvPr id="18" name="Text 16"/>
          <p:cNvSpPr/>
          <p:nvPr/>
        </p:nvSpPr>
        <p:spPr>
          <a:xfrm>
            <a:off x="1280160" y="5166360"/>
            <a:ext cx="4846320" cy="594360"/>
          </a:xfrm>
          <a:prstGeom prst="rect">
            <a:avLst/>
          </a:prstGeom>
          <a:noFill/>
          <a:ln/>
        </p:spPr>
        <p:txBody>
          <a:bodyPr wrap="square" rtlCol="0" anchor="t"/>
          <a:lstStyle/>
          <a:p>
            <a:pPr marL="0" indent="0">
              <a:buNone/>
            </a:pPr>
            <a:r>
              <a:rPr lang="en-US" sz="1200" i="1" dirty="0">
                <a:solidFill>
                  <a:srgbClr val="2B2B2B"/>
                </a:solidFill>
                <a:latin typeface="Calibri" pitchFamily="34" charset="0"/>
                <a:ea typeface="Calibri" pitchFamily="34" charset="-122"/>
                <a:cs typeface="Calibri" pitchFamily="34" charset="-120"/>
              </a:rPr>
              <a:t>Icon-driven UI; plain language by default; local-language labels.</a:t>
            </a:r>
            <a:endParaRPr lang="en-US" sz="1200" dirty="0"/>
          </a:p>
        </p:txBody>
      </p:sp>
      <p:sp>
        <p:nvSpPr>
          <p:cNvPr id="19" name="Text 17"/>
          <p:cNvSpPr/>
          <p:nvPr/>
        </p:nvSpPr>
        <p:spPr>
          <a:xfrm>
            <a:off x="6309360" y="2468880"/>
            <a:ext cx="640080" cy="365760"/>
          </a:xfrm>
          <a:prstGeom prst="rect">
            <a:avLst/>
          </a:prstGeom>
          <a:noFill/>
          <a:ln/>
        </p:spPr>
        <p:txBody>
          <a:bodyPr wrap="square" rtlCol="0" anchor="ctr"/>
          <a:lstStyle/>
          <a:p>
            <a:pPr marL="0" indent="0">
              <a:buNone/>
            </a:pPr>
            <a:r>
              <a:rPr lang="en-US" sz="2000" b="1" i="1" dirty="0">
                <a:solidFill>
                  <a:srgbClr val="B85042"/>
                </a:solidFill>
                <a:latin typeface="Georgia" pitchFamily="34" charset="0"/>
                <a:ea typeface="Georgia" pitchFamily="34" charset="-122"/>
                <a:cs typeface="Georgia" pitchFamily="34" charset="-120"/>
              </a:rPr>
              <a:t>04</a:t>
            </a:r>
            <a:endParaRPr lang="en-US" sz="2000" dirty="0"/>
          </a:p>
        </p:txBody>
      </p:sp>
      <p:sp>
        <p:nvSpPr>
          <p:cNvPr id="20" name="Text 18"/>
          <p:cNvSpPr/>
          <p:nvPr/>
        </p:nvSpPr>
        <p:spPr>
          <a:xfrm>
            <a:off x="6949440" y="2468880"/>
            <a:ext cx="4846320" cy="365760"/>
          </a:xfrm>
          <a:prstGeom prst="rect">
            <a:avLst/>
          </a:prstGeom>
          <a:noFill/>
          <a:ln/>
        </p:spPr>
        <p:txBody>
          <a:bodyPr wrap="square" rtlCol="0" anchor="ctr"/>
          <a:lstStyle/>
          <a:p>
            <a:pPr marL="0" indent="0">
              <a:buNone/>
            </a:pPr>
            <a:r>
              <a:rPr lang="en-US" sz="1600" b="1" dirty="0">
                <a:solidFill>
                  <a:srgbClr val="1A1A1A"/>
                </a:solidFill>
                <a:latin typeface="Georgia" pitchFamily="34" charset="0"/>
                <a:ea typeface="Georgia" pitchFamily="34" charset="-122"/>
                <a:cs typeface="Georgia" pitchFamily="34" charset="-120"/>
              </a:rPr>
              <a:t>Data &amp; battery cost</a:t>
            </a:r>
            <a:endParaRPr lang="en-US" sz="1600" dirty="0"/>
          </a:p>
        </p:txBody>
      </p:sp>
      <p:sp>
        <p:nvSpPr>
          <p:cNvPr id="21" name="Text 19"/>
          <p:cNvSpPr/>
          <p:nvPr/>
        </p:nvSpPr>
        <p:spPr>
          <a:xfrm>
            <a:off x="6949440" y="2880360"/>
            <a:ext cx="4846320" cy="594360"/>
          </a:xfrm>
          <a:prstGeom prst="rect">
            <a:avLst/>
          </a:prstGeom>
          <a:noFill/>
          <a:ln/>
        </p:spPr>
        <p:txBody>
          <a:bodyPr wrap="square" rtlCol="0" anchor="t"/>
          <a:lstStyle/>
          <a:p>
            <a:pPr marL="0" indent="0">
              <a:buNone/>
            </a:pPr>
            <a:r>
              <a:rPr lang="en-US" sz="1200" i="1" dirty="0">
                <a:solidFill>
                  <a:srgbClr val="2B2B2B"/>
                </a:solidFill>
                <a:latin typeface="Calibri" pitchFamily="34" charset="0"/>
                <a:ea typeface="Calibri" pitchFamily="34" charset="-122"/>
                <a:cs typeface="Calibri" pitchFamily="34" charset="-120"/>
              </a:rPr>
              <a:t>Offline-first; preloaded models; on-demand video downloads.</a:t>
            </a:r>
            <a:endParaRPr lang="en-US" sz="1200" dirty="0"/>
          </a:p>
        </p:txBody>
      </p:sp>
      <p:sp>
        <p:nvSpPr>
          <p:cNvPr id="22" name="Text 20"/>
          <p:cNvSpPr/>
          <p:nvPr/>
        </p:nvSpPr>
        <p:spPr>
          <a:xfrm>
            <a:off x="6309360" y="3611880"/>
            <a:ext cx="640080" cy="365760"/>
          </a:xfrm>
          <a:prstGeom prst="rect">
            <a:avLst/>
          </a:prstGeom>
          <a:noFill/>
          <a:ln/>
        </p:spPr>
        <p:txBody>
          <a:bodyPr wrap="square" rtlCol="0" anchor="ctr"/>
          <a:lstStyle/>
          <a:p>
            <a:pPr marL="0" indent="0">
              <a:buNone/>
            </a:pPr>
            <a:r>
              <a:rPr lang="en-US" sz="2000" b="1" i="1" dirty="0">
                <a:solidFill>
                  <a:srgbClr val="B85042"/>
                </a:solidFill>
                <a:latin typeface="Georgia" pitchFamily="34" charset="0"/>
                <a:ea typeface="Georgia" pitchFamily="34" charset="-122"/>
                <a:cs typeface="Georgia" pitchFamily="34" charset="-120"/>
              </a:rPr>
              <a:t>05</a:t>
            </a:r>
            <a:endParaRPr lang="en-US" sz="2000" dirty="0"/>
          </a:p>
        </p:txBody>
      </p:sp>
      <p:sp>
        <p:nvSpPr>
          <p:cNvPr id="23" name="Text 21"/>
          <p:cNvSpPr/>
          <p:nvPr/>
        </p:nvSpPr>
        <p:spPr>
          <a:xfrm>
            <a:off x="6949440" y="3611880"/>
            <a:ext cx="4846320" cy="365760"/>
          </a:xfrm>
          <a:prstGeom prst="rect">
            <a:avLst/>
          </a:prstGeom>
          <a:noFill/>
          <a:ln/>
        </p:spPr>
        <p:txBody>
          <a:bodyPr wrap="square" rtlCol="0" anchor="ctr"/>
          <a:lstStyle/>
          <a:p>
            <a:pPr marL="0" indent="0">
              <a:buNone/>
            </a:pPr>
            <a:r>
              <a:rPr lang="en-US" sz="1600" b="1" dirty="0">
                <a:solidFill>
                  <a:srgbClr val="1A1A1A"/>
                </a:solidFill>
                <a:latin typeface="Georgia" pitchFamily="34" charset="0"/>
                <a:ea typeface="Georgia" pitchFamily="34" charset="-122"/>
                <a:cs typeface="Georgia" pitchFamily="34" charset="-120"/>
              </a:rPr>
              <a:t>Preference for mechanics</a:t>
            </a:r>
            <a:endParaRPr lang="en-US" sz="1600" dirty="0"/>
          </a:p>
        </p:txBody>
      </p:sp>
      <p:sp>
        <p:nvSpPr>
          <p:cNvPr id="24" name="Text 22"/>
          <p:cNvSpPr/>
          <p:nvPr/>
        </p:nvSpPr>
        <p:spPr>
          <a:xfrm>
            <a:off x="6949440" y="4023360"/>
            <a:ext cx="4846320" cy="594360"/>
          </a:xfrm>
          <a:prstGeom prst="rect">
            <a:avLst/>
          </a:prstGeom>
          <a:noFill/>
          <a:ln/>
        </p:spPr>
        <p:txBody>
          <a:bodyPr wrap="square" rtlCol="0" anchor="t"/>
          <a:lstStyle/>
          <a:p>
            <a:pPr marL="0" indent="0">
              <a:buNone/>
            </a:pPr>
            <a:r>
              <a:rPr lang="en-US" sz="1200" i="1" dirty="0">
                <a:solidFill>
                  <a:srgbClr val="2B2B2B"/>
                </a:solidFill>
                <a:latin typeface="Calibri" pitchFamily="34" charset="0"/>
                <a:ea typeface="Calibri" pitchFamily="34" charset="-122"/>
                <a:cs typeface="Calibri" pitchFamily="34" charset="-120"/>
              </a:rPr>
              <a:t>Position as assistant, not replacement; surface referral info.</a:t>
            </a:r>
            <a:endParaRPr lang="en-US" sz="1200" dirty="0"/>
          </a:p>
        </p:txBody>
      </p:sp>
      <p:sp>
        <p:nvSpPr>
          <p:cNvPr id="25" name="Text 23"/>
          <p:cNvSpPr/>
          <p:nvPr/>
        </p:nvSpPr>
        <p:spPr>
          <a:xfrm>
            <a:off x="6309360" y="4754880"/>
            <a:ext cx="640080" cy="365760"/>
          </a:xfrm>
          <a:prstGeom prst="rect">
            <a:avLst/>
          </a:prstGeom>
          <a:noFill/>
          <a:ln/>
        </p:spPr>
        <p:txBody>
          <a:bodyPr wrap="square" rtlCol="0" anchor="ctr"/>
          <a:lstStyle/>
          <a:p>
            <a:pPr marL="0" indent="0">
              <a:buNone/>
            </a:pPr>
            <a:r>
              <a:rPr lang="en-US" sz="2000" b="1" i="1" dirty="0">
                <a:solidFill>
                  <a:srgbClr val="B85042"/>
                </a:solidFill>
                <a:latin typeface="Georgia" pitchFamily="34" charset="0"/>
                <a:ea typeface="Georgia" pitchFamily="34" charset="-122"/>
                <a:cs typeface="Georgia" pitchFamily="34" charset="-120"/>
              </a:rPr>
              <a:t>06</a:t>
            </a:r>
            <a:endParaRPr lang="en-US" sz="2000" dirty="0"/>
          </a:p>
        </p:txBody>
      </p:sp>
      <p:sp>
        <p:nvSpPr>
          <p:cNvPr id="26" name="Text 24"/>
          <p:cNvSpPr/>
          <p:nvPr/>
        </p:nvSpPr>
        <p:spPr>
          <a:xfrm>
            <a:off x="6949440" y="4754880"/>
            <a:ext cx="4846320" cy="365760"/>
          </a:xfrm>
          <a:prstGeom prst="rect">
            <a:avLst/>
          </a:prstGeom>
          <a:noFill/>
          <a:ln/>
        </p:spPr>
        <p:txBody>
          <a:bodyPr wrap="square" rtlCol="0" anchor="ctr"/>
          <a:lstStyle/>
          <a:p>
            <a:pPr marL="0" indent="0">
              <a:buNone/>
            </a:pPr>
            <a:r>
              <a:rPr lang="en-US" sz="1600" b="1" dirty="0">
                <a:solidFill>
                  <a:srgbClr val="1A1A1A"/>
                </a:solidFill>
                <a:latin typeface="Georgia" pitchFamily="34" charset="0"/>
                <a:ea typeface="Georgia" pitchFamily="34" charset="-122"/>
                <a:cs typeface="Georgia" pitchFamily="34" charset="-120"/>
              </a:rPr>
              <a:t>Device compatibility</a:t>
            </a:r>
            <a:endParaRPr lang="en-US" sz="1600" dirty="0"/>
          </a:p>
        </p:txBody>
      </p:sp>
      <p:sp>
        <p:nvSpPr>
          <p:cNvPr id="27" name="Text 25"/>
          <p:cNvSpPr/>
          <p:nvPr/>
        </p:nvSpPr>
        <p:spPr>
          <a:xfrm>
            <a:off x="6949440" y="5166360"/>
            <a:ext cx="4846320" cy="594360"/>
          </a:xfrm>
          <a:prstGeom prst="rect">
            <a:avLst/>
          </a:prstGeom>
          <a:noFill/>
          <a:ln/>
        </p:spPr>
        <p:txBody>
          <a:bodyPr wrap="square" rtlCol="0" anchor="t"/>
          <a:lstStyle/>
          <a:p>
            <a:pPr marL="0" indent="0">
              <a:buNone/>
            </a:pPr>
            <a:r>
              <a:rPr lang="en-US" sz="1200" i="1" dirty="0">
                <a:solidFill>
                  <a:srgbClr val="2B2B2B"/>
                </a:solidFill>
                <a:latin typeface="Calibri" pitchFamily="34" charset="0"/>
                <a:ea typeface="Calibri" pitchFamily="34" charset="-122"/>
                <a:cs typeface="Calibri" pitchFamily="34" charset="-120"/>
              </a:rPr>
              <a:t>Compact APK; quantised models for entry-level Android.</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EFE6"/>
        </a:solidFill>
        <a:effectLst/>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B85042"/>
          </a:solidFill>
          <a:ln/>
        </p:spPr>
      </p:sp>
      <p:sp>
        <p:nvSpPr>
          <p:cNvPr id="3" name="Shape 1"/>
          <p:cNvSpPr/>
          <p:nvPr/>
        </p:nvSpPr>
        <p:spPr>
          <a:xfrm>
            <a:off x="640080" y="411480"/>
            <a:ext cx="10911535" cy="0"/>
          </a:xfrm>
          <a:prstGeom prst="line">
            <a:avLst/>
          </a:prstGeom>
          <a:noFill/>
          <a:ln w="9525">
            <a:solidFill>
              <a:srgbClr val="1A1A1A"/>
            </a:solidFill>
            <a:prstDash val="solid"/>
          </a:ln>
        </p:spPr>
      </p:sp>
      <p:sp>
        <p:nvSpPr>
          <p:cNvPr id="4" name="Text 2"/>
          <p:cNvSpPr/>
          <p:nvPr/>
        </p:nvSpPr>
        <p:spPr>
          <a:xfrm>
            <a:off x="640080" y="137160"/>
            <a:ext cx="6400800" cy="274320"/>
          </a:xfrm>
          <a:prstGeom prst="rect">
            <a:avLst/>
          </a:prstGeom>
          <a:noFill/>
          <a:ln/>
        </p:spPr>
        <p:txBody>
          <a:bodyPr wrap="square" rtlCol="0" anchor="ctr"/>
          <a:lstStyle/>
          <a:p>
            <a:pPr marL="0" indent="0">
              <a:buNone/>
            </a:pPr>
            <a:r>
              <a:rPr lang="en-US" sz="900" b="1" kern="0" spc="400" dirty="0">
                <a:solidFill>
                  <a:srgbClr val="1A1A1A"/>
                </a:solidFill>
                <a:latin typeface="Georgia" pitchFamily="34" charset="0"/>
                <a:ea typeface="Georgia" pitchFamily="34" charset="-122"/>
                <a:cs typeface="Georgia" pitchFamily="34" charset="-120"/>
              </a:rPr>
              <a:t>OUTCOME</a:t>
            </a:r>
            <a:endParaRPr lang="en-US" sz="900" dirty="0"/>
          </a:p>
        </p:txBody>
      </p:sp>
      <p:sp>
        <p:nvSpPr>
          <p:cNvPr id="5" name="Text 3"/>
          <p:cNvSpPr/>
          <p:nvPr/>
        </p:nvSpPr>
        <p:spPr>
          <a:xfrm>
            <a:off x="7894015" y="137160"/>
            <a:ext cx="3657600" cy="274320"/>
          </a:xfrm>
          <a:prstGeom prst="rect">
            <a:avLst/>
          </a:prstGeom>
          <a:noFill/>
          <a:ln/>
        </p:spPr>
        <p:txBody>
          <a:bodyPr wrap="square" rtlCol="0" anchor="ctr"/>
          <a:lstStyle/>
          <a:p>
            <a:pPr marL="0" indent="0" algn="r">
              <a:buNone/>
            </a:pPr>
            <a:r>
              <a:rPr lang="en-US" sz="900" b="1" kern="0" spc="400" dirty="0">
                <a:solidFill>
                  <a:srgbClr val="5C5C5C"/>
                </a:solidFill>
                <a:latin typeface="Georgia" pitchFamily="34" charset="0"/>
                <a:ea typeface="Georgia" pitchFamily="34" charset="-122"/>
                <a:cs typeface="Georgia" pitchFamily="34" charset="-120"/>
              </a:rPr>
              <a:t>CAR FAULT DIAGNOSIS</a:t>
            </a:r>
            <a:endParaRPr lang="en-US" sz="900" dirty="0"/>
          </a:p>
        </p:txBody>
      </p:sp>
      <p:sp>
        <p:nvSpPr>
          <p:cNvPr id="6" name="Shape 4"/>
          <p:cNvSpPr/>
          <p:nvPr/>
        </p:nvSpPr>
        <p:spPr>
          <a:xfrm>
            <a:off x="640080" y="6446520"/>
            <a:ext cx="10911535" cy="0"/>
          </a:xfrm>
          <a:prstGeom prst="line">
            <a:avLst/>
          </a:prstGeom>
          <a:noFill/>
          <a:ln w="6350">
            <a:solidFill>
              <a:srgbClr val="1A1A1A"/>
            </a:solidFill>
            <a:prstDash val="solid"/>
          </a:ln>
        </p:spPr>
      </p:sp>
      <p:sp>
        <p:nvSpPr>
          <p:cNvPr id="7" name="Text 5"/>
          <p:cNvSpPr/>
          <p:nvPr/>
        </p:nvSpPr>
        <p:spPr>
          <a:xfrm>
            <a:off x="5547208" y="6510528"/>
            <a:ext cx="1097280" cy="274320"/>
          </a:xfrm>
          <a:prstGeom prst="rect">
            <a:avLst/>
          </a:prstGeom>
          <a:noFill/>
          <a:ln/>
        </p:spPr>
        <p:txBody>
          <a:bodyPr wrap="square" rtlCol="0" anchor="ctr"/>
          <a:lstStyle/>
          <a:p>
            <a:pPr marL="0" indent="0" algn="ctr">
              <a:buNone/>
            </a:pPr>
            <a:r>
              <a:rPr lang="en-US" sz="900" i="1" dirty="0">
                <a:solidFill>
                  <a:srgbClr val="5C5C5C"/>
                </a:solidFill>
                <a:latin typeface="Georgia" pitchFamily="34" charset="0"/>
                <a:ea typeface="Georgia" pitchFamily="34" charset="-122"/>
                <a:cs typeface="Georgia" pitchFamily="34" charset="-120"/>
              </a:rPr>
              <a:t>— 16 —</a:t>
            </a:r>
            <a:endParaRPr lang="en-US" sz="900" dirty="0"/>
          </a:p>
        </p:txBody>
      </p:sp>
      <p:sp>
        <p:nvSpPr>
          <p:cNvPr id="8" name="Text 6"/>
          <p:cNvSpPr/>
          <p:nvPr/>
        </p:nvSpPr>
        <p:spPr>
          <a:xfrm>
            <a:off x="640080" y="777240"/>
            <a:ext cx="5486400" cy="274320"/>
          </a:xfrm>
          <a:prstGeom prst="rect">
            <a:avLst/>
          </a:prstGeom>
          <a:noFill/>
          <a:ln/>
        </p:spPr>
        <p:txBody>
          <a:bodyPr wrap="square" rtlCol="0" anchor="ctr"/>
          <a:lstStyle/>
          <a:p>
            <a:pPr marL="0" indent="0">
              <a:buNone/>
            </a:pPr>
            <a:r>
              <a:rPr lang="en-US" sz="1100" b="1" kern="0" spc="600" dirty="0">
                <a:solidFill>
                  <a:srgbClr val="B85042"/>
                </a:solidFill>
                <a:latin typeface="Georgia" pitchFamily="34" charset="0"/>
                <a:ea typeface="Georgia" pitchFamily="34" charset="-122"/>
                <a:cs typeface="Georgia" pitchFamily="34" charset="-120"/>
              </a:rPr>
              <a:t>WHAT WE LEARNED, WHAT WE'LL BUILD</a:t>
            </a:r>
            <a:endParaRPr lang="en-US" sz="1100" dirty="0"/>
          </a:p>
        </p:txBody>
      </p:sp>
      <p:sp>
        <p:nvSpPr>
          <p:cNvPr id="9" name="Text 7"/>
          <p:cNvSpPr/>
          <p:nvPr/>
        </p:nvSpPr>
        <p:spPr>
          <a:xfrm>
            <a:off x="640080" y="1097280"/>
            <a:ext cx="10058400" cy="914400"/>
          </a:xfrm>
          <a:prstGeom prst="rect">
            <a:avLst/>
          </a:prstGeom>
          <a:noFill/>
          <a:ln/>
        </p:spPr>
        <p:txBody>
          <a:bodyPr wrap="square" rtlCol="0" anchor="ctr"/>
          <a:lstStyle/>
          <a:p>
            <a:pPr marL="0" indent="0" algn="l">
              <a:buNone/>
            </a:pPr>
            <a:r>
              <a:rPr lang="en-US" sz="3800" b="1" dirty="0">
                <a:solidFill>
                  <a:srgbClr val="1A1A1A"/>
                </a:solidFill>
                <a:latin typeface="Georgia" pitchFamily="34" charset="0"/>
                <a:ea typeface="Georgia" pitchFamily="34" charset="-122"/>
                <a:cs typeface="Georgia" pitchFamily="34" charset="-120"/>
              </a:rPr>
              <a:t>Requirements,</a:t>
            </a:r>
            <a:endParaRPr lang="en-US" sz="3800" dirty="0"/>
          </a:p>
        </p:txBody>
      </p:sp>
      <p:sp>
        <p:nvSpPr>
          <p:cNvPr id="10" name="Text 8"/>
          <p:cNvSpPr/>
          <p:nvPr/>
        </p:nvSpPr>
        <p:spPr>
          <a:xfrm>
            <a:off x="640080" y="1600200"/>
            <a:ext cx="10058400" cy="914400"/>
          </a:xfrm>
          <a:prstGeom prst="rect">
            <a:avLst/>
          </a:prstGeom>
          <a:noFill/>
          <a:ln/>
        </p:spPr>
        <p:txBody>
          <a:bodyPr wrap="square" rtlCol="0" anchor="ctr"/>
          <a:lstStyle/>
          <a:p>
            <a:pPr marL="0" indent="0" algn="l">
              <a:buNone/>
            </a:pPr>
            <a:r>
              <a:rPr lang="en-US" sz="3800" b="1" dirty="0">
                <a:solidFill>
                  <a:srgbClr val="B85042"/>
                </a:solidFill>
                <a:latin typeface="Georgia" pitchFamily="34" charset="0"/>
                <a:ea typeface="Georgia" pitchFamily="34" charset="-122"/>
                <a:cs typeface="Georgia" pitchFamily="34" charset="-120"/>
              </a:rPr>
              <a:t>elicited.</a:t>
            </a:r>
            <a:endParaRPr lang="en-US" sz="3800" dirty="0"/>
          </a:p>
        </p:txBody>
      </p:sp>
      <p:sp>
        <p:nvSpPr>
          <p:cNvPr id="11" name="Text 9"/>
          <p:cNvSpPr/>
          <p:nvPr/>
        </p:nvSpPr>
        <p:spPr>
          <a:xfrm>
            <a:off x="640080" y="2651760"/>
            <a:ext cx="5486400" cy="274320"/>
          </a:xfrm>
          <a:prstGeom prst="rect">
            <a:avLst/>
          </a:prstGeom>
          <a:noFill/>
          <a:ln/>
        </p:spPr>
        <p:txBody>
          <a:bodyPr wrap="square" rtlCol="0" anchor="ctr"/>
          <a:lstStyle/>
          <a:p>
            <a:pPr marL="0" indent="0">
              <a:buNone/>
            </a:pPr>
            <a:r>
              <a:rPr lang="en-US" sz="1100" b="1" kern="0" spc="600" dirty="0">
                <a:solidFill>
                  <a:srgbClr val="B85042"/>
                </a:solidFill>
                <a:latin typeface="Georgia" pitchFamily="34" charset="0"/>
                <a:ea typeface="Georgia" pitchFamily="34" charset="-122"/>
                <a:cs typeface="Georgia" pitchFamily="34" charset="-120"/>
              </a:rPr>
              <a:t>FUNCTIONAL</a:t>
            </a:r>
            <a:endParaRPr lang="en-US" sz="1100" dirty="0"/>
          </a:p>
        </p:txBody>
      </p:sp>
      <p:sp>
        <p:nvSpPr>
          <p:cNvPr id="12" name="Text 10"/>
          <p:cNvSpPr/>
          <p:nvPr/>
        </p:nvSpPr>
        <p:spPr>
          <a:xfrm>
            <a:off x="640080" y="3108960"/>
            <a:ext cx="5486400" cy="3200400"/>
          </a:xfrm>
          <a:prstGeom prst="rect">
            <a:avLst/>
          </a:prstGeom>
          <a:noFill/>
          <a:ln/>
        </p:spPr>
        <p:txBody>
          <a:bodyPr wrap="square" rtlCol="0" anchor="t"/>
          <a:lstStyle/>
          <a:p>
            <a:pPr marL="342900" indent="-342900">
              <a:spcAft>
                <a:spcPts val="800"/>
              </a:spcAft>
              <a:buSzPct val="100000"/>
              <a:buChar char="—"/>
            </a:pPr>
            <a:r>
              <a:rPr lang="en-US" sz="1200" dirty="0">
                <a:solidFill>
                  <a:srgbClr val="1A1A1A"/>
                </a:solidFill>
                <a:latin typeface="Calibri" pitchFamily="34" charset="0"/>
                <a:ea typeface="Calibri" pitchFamily="34" charset="-122"/>
                <a:cs typeface="Calibri" pitchFamily="34" charset="-120"/>
              </a:rPr>
              <a:t>Capture &amp; identify dashboard warning lights via camera</a:t>
            </a:r>
            <a:endParaRPr lang="en-US" sz="1200" dirty="0"/>
          </a:p>
          <a:p>
            <a:pPr marL="342900" indent="-342900">
              <a:spcAft>
                <a:spcPts val="800"/>
              </a:spcAft>
              <a:buSzPct val="100000"/>
              <a:buChar char="—"/>
            </a:pPr>
            <a:r>
              <a:rPr lang="en-US" sz="1200" dirty="0">
                <a:solidFill>
                  <a:srgbClr val="1A1A1A"/>
                </a:solidFill>
                <a:latin typeface="Calibri" pitchFamily="34" charset="0"/>
                <a:ea typeface="Calibri" pitchFamily="34" charset="-122"/>
                <a:cs typeface="Calibri" pitchFamily="34" charset="-120"/>
              </a:rPr>
              <a:t>Record &amp; classify engine sounds via microphone</a:t>
            </a:r>
            <a:endParaRPr lang="en-US" sz="1200" dirty="0"/>
          </a:p>
          <a:p>
            <a:pPr marL="342900" indent="-342900">
              <a:spcAft>
                <a:spcPts val="800"/>
              </a:spcAft>
              <a:buSzPct val="100000"/>
              <a:buChar char="—"/>
            </a:pPr>
            <a:r>
              <a:rPr lang="en-US" sz="1200" dirty="0">
                <a:solidFill>
                  <a:srgbClr val="1A1A1A"/>
                </a:solidFill>
                <a:latin typeface="Calibri" pitchFamily="34" charset="0"/>
                <a:ea typeface="Calibri" pitchFamily="34" charset="-122"/>
                <a:cs typeface="Calibri" pitchFamily="34" charset="-120"/>
              </a:rPr>
              <a:t>Plain-language explanation, urgency, and recommended action per fault</a:t>
            </a:r>
            <a:endParaRPr lang="en-US" sz="1200" dirty="0"/>
          </a:p>
          <a:p>
            <a:pPr marL="342900" indent="-342900">
              <a:spcAft>
                <a:spcPts val="800"/>
              </a:spcAft>
              <a:buSzPct val="100000"/>
              <a:buChar char="—"/>
            </a:pPr>
            <a:r>
              <a:rPr lang="en-US" sz="1200" dirty="0">
                <a:solidFill>
                  <a:srgbClr val="1A1A1A"/>
                </a:solidFill>
                <a:latin typeface="Calibri" pitchFamily="34" charset="0"/>
                <a:ea typeface="Calibri" pitchFamily="34" charset="-122"/>
                <a:cs typeface="Calibri" pitchFamily="34" charset="-120"/>
              </a:rPr>
              <a:t>Expert-verified video tutorials per fault</a:t>
            </a:r>
            <a:endParaRPr lang="en-US" sz="1200" dirty="0"/>
          </a:p>
          <a:p>
            <a:pPr marL="342900" indent="-342900">
              <a:spcAft>
                <a:spcPts val="800"/>
              </a:spcAft>
              <a:buSzPct val="100000"/>
              <a:buChar char="—"/>
            </a:pPr>
            <a:r>
              <a:rPr lang="en-US" sz="1200" dirty="0">
                <a:solidFill>
                  <a:srgbClr val="1A1A1A"/>
                </a:solidFill>
                <a:latin typeface="Calibri" pitchFamily="34" charset="0"/>
                <a:ea typeface="Calibri" pitchFamily="34" charset="-122"/>
                <a:cs typeface="Calibri" pitchFamily="34" charset="-120"/>
              </a:rPr>
              <a:t>Local diagnostic history, browsable</a:t>
            </a:r>
            <a:endParaRPr lang="en-US" sz="1200" dirty="0"/>
          </a:p>
        </p:txBody>
      </p:sp>
      <p:sp>
        <p:nvSpPr>
          <p:cNvPr id="13" name="Text 11"/>
          <p:cNvSpPr/>
          <p:nvPr/>
        </p:nvSpPr>
        <p:spPr>
          <a:xfrm>
            <a:off x="6400800" y="2651760"/>
            <a:ext cx="5486400" cy="274320"/>
          </a:xfrm>
          <a:prstGeom prst="rect">
            <a:avLst/>
          </a:prstGeom>
          <a:noFill/>
          <a:ln/>
        </p:spPr>
        <p:txBody>
          <a:bodyPr wrap="square" rtlCol="0" anchor="ctr"/>
          <a:lstStyle/>
          <a:p>
            <a:pPr marL="0" indent="0">
              <a:buNone/>
            </a:pPr>
            <a:r>
              <a:rPr lang="en-US" sz="1100" b="1" kern="0" spc="600" dirty="0">
                <a:solidFill>
                  <a:srgbClr val="B85042"/>
                </a:solidFill>
                <a:latin typeface="Georgia" pitchFamily="34" charset="0"/>
                <a:ea typeface="Georgia" pitchFamily="34" charset="-122"/>
                <a:cs typeface="Georgia" pitchFamily="34" charset="-120"/>
              </a:rPr>
              <a:t>NON-FUNCTIONAL</a:t>
            </a:r>
            <a:endParaRPr lang="en-US" sz="1100" dirty="0"/>
          </a:p>
        </p:txBody>
      </p:sp>
      <p:sp>
        <p:nvSpPr>
          <p:cNvPr id="14" name="Text 12"/>
          <p:cNvSpPr/>
          <p:nvPr/>
        </p:nvSpPr>
        <p:spPr>
          <a:xfrm>
            <a:off x="6400800" y="3108960"/>
            <a:ext cx="5486400" cy="3200400"/>
          </a:xfrm>
          <a:prstGeom prst="rect">
            <a:avLst/>
          </a:prstGeom>
          <a:noFill/>
          <a:ln/>
        </p:spPr>
        <p:txBody>
          <a:bodyPr wrap="square" rtlCol="0" anchor="t"/>
          <a:lstStyle/>
          <a:p>
            <a:pPr marL="342900" indent="-342900">
              <a:spcAft>
                <a:spcPts val="800"/>
              </a:spcAft>
              <a:buSzPct val="100000"/>
              <a:buChar char="—"/>
            </a:pPr>
            <a:r>
              <a:rPr lang="en-US" sz="1200" dirty="0">
                <a:solidFill>
                  <a:srgbClr val="1A1A1A"/>
                </a:solidFill>
                <a:latin typeface="Calibri" pitchFamily="34" charset="0"/>
                <a:ea typeface="Calibri" pitchFamily="34" charset="-122"/>
                <a:cs typeface="Calibri" pitchFamily="34" charset="-120"/>
              </a:rPr>
              <a:t>Core diagnostic features operate offline</a:t>
            </a:r>
            <a:endParaRPr lang="en-US" sz="1200" dirty="0"/>
          </a:p>
          <a:p>
            <a:pPr marL="342900" indent="-342900">
              <a:spcAft>
                <a:spcPts val="800"/>
              </a:spcAft>
              <a:buSzPct val="100000"/>
              <a:buChar char="—"/>
            </a:pPr>
            <a:r>
              <a:rPr lang="en-US" sz="1200" dirty="0">
                <a:solidFill>
                  <a:srgbClr val="1A1A1A"/>
                </a:solidFill>
                <a:latin typeface="Calibri" pitchFamily="34" charset="0"/>
                <a:ea typeface="Calibri" pitchFamily="34" charset="-122"/>
                <a:cs typeface="Calibri" pitchFamily="34" charset="-120"/>
              </a:rPr>
              <a:t>End-to-end interaction completes in under 5 seconds</a:t>
            </a:r>
            <a:endParaRPr lang="en-US" sz="1200" dirty="0"/>
          </a:p>
          <a:p>
            <a:pPr marL="342900" indent="-342900">
              <a:spcAft>
                <a:spcPts val="800"/>
              </a:spcAft>
              <a:buSzPct val="100000"/>
              <a:buChar char="—"/>
            </a:pPr>
            <a:r>
              <a:rPr lang="en-US" sz="1200" dirty="0">
                <a:solidFill>
                  <a:srgbClr val="1A1A1A"/>
                </a:solidFill>
                <a:latin typeface="Calibri" pitchFamily="34" charset="0"/>
                <a:ea typeface="Calibri" pitchFamily="34" charset="-122"/>
                <a:cs typeface="Calibri" pitchFamily="34" charset="-120"/>
              </a:rPr>
              <a:t>Simple-language UX by default; technical detail on demand</a:t>
            </a:r>
            <a:endParaRPr lang="en-US" sz="1200" dirty="0"/>
          </a:p>
          <a:p>
            <a:pPr marL="342900" indent="-342900">
              <a:spcAft>
                <a:spcPts val="800"/>
              </a:spcAft>
              <a:buSzPct val="100000"/>
              <a:buChar char="—"/>
            </a:pPr>
            <a:r>
              <a:rPr lang="en-US" sz="1200" dirty="0">
                <a:solidFill>
                  <a:srgbClr val="1A1A1A"/>
                </a:solidFill>
                <a:latin typeface="Calibri" pitchFamily="34" charset="0"/>
                <a:ea typeface="Calibri" pitchFamily="34" charset="-122"/>
                <a:cs typeface="Calibri" pitchFamily="34" charset="-120"/>
              </a:rPr>
              <a:t>Permissions requested only when needed, with rationale</a:t>
            </a:r>
            <a:endParaRPr lang="en-US" sz="1200" dirty="0"/>
          </a:p>
          <a:p>
            <a:pPr marL="342900" indent="-342900">
              <a:spcAft>
                <a:spcPts val="800"/>
              </a:spcAft>
              <a:buSzPct val="100000"/>
              <a:buChar char="—"/>
            </a:pPr>
            <a:r>
              <a:rPr lang="en-US" sz="1200" dirty="0">
                <a:solidFill>
                  <a:srgbClr val="1A1A1A"/>
                </a:solidFill>
                <a:latin typeface="Calibri" pitchFamily="34" charset="0"/>
                <a:ea typeface="Calibri" pitchFamily="34" charset="-122"/>
                <a:cs typeface="Calibri" pitchFamily="34" charset="-120"/>
              </a:rPr>
              <a:t>Compact storage footprint for entry-level Android</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EFE6"/>
        </a:solidFill>
        <a:effectLst/>
      </p:bgPr>
    </p:bg>
    <p:spTree>
      <p:nvGrpSpPr>
        <p:cNvPr id="1" name=""/>
        <p:cNvGrpSpPr/>
        <p:nvPr/>
      </p:nvGrpSpPr>
      <p:grpSpPr>
        <a:xfrm>
          <a:off x="0" y="0"/>
          <a:ext cx="0" cy="0"/>
          <a:chOff x="0" y="0"/>
          <a:chExt cx="0" cy="0"/>
        </a:xfrm>
      </p:grpSpPr>
      <p:sp>
        <p:nvSpPr>
          <p:cNvPr id="2" name="Shape 0"/>
          <p:cNvSpPr/>
          <p:nvPr/>
        </p:nvSpPr>
        <p:spPr>
          <a:xfrm>
            <a:off x="6095848" y="3086100"/>
            <a:ext cx="6095848" cy="3771900"/>
          </a:xfrm>
          <a:prstGeom prst="rect">
            <a:avLst/>
          </a:prstGeom>
          <a:solidFill>
            <a:srgbClr val="B85042"/>
          </a:solidFill>
          <a:ln/>
        </p:spPr>
      </p:sp>
      <p:sp>
        <p:nvSpPr>
          <p:cNvPr id="3" name="Shape 1"/>
          <p:cNvSpPr/>
          <p:nvPr/>
        </p:nvSpPr>
        <p:spPr>
          <a:xfrm>
            <a:off x="0" y="914400"/>
            <a:ext cx="12191695" cy="54864"/>
          </a:xfrm>
          <a:prstGeom prst="rect">
            <a:avLst/>
          </a:prstGeom>
          <a:solidFill>
            <a:srgbClr val="C9A961"/>
          </a:solidFill>
          <a:ln/>
        </p:spPr>
      </p:sp>
      <p:sp>
        <p:nvSpPr>
          <p:cNvPr id="4" name="Text 2"/>
          <p:cNvSpPr/>
          <p:nvPr/>
        </p:nvSpPr>
        <p:spPr>
          <a:xfrm>
            <a:off x="640080" y="1371600"/>
            <a:ext cx="8229600" cy="1645920"/>
          </a:xfrm>
          <a:prstGeom prst="rect">
            <a:avLst/>
          </a:prstGeom>
          <a:noFill/>
          <a:ln/>
        </p:spPr>
        <p:txBody>
          <a:bodyPr wrap="square" rtlCol="0" anchor="ctr"/>
          <a:lstStyle/>
          <a:p>
            <a:pPr marL="0" indent="0">
              <a:buNone/>
            </a:pPr>
            <a:r>
              <a:rPr lang="en-US" sz="13000" b="1" dirty="0">
                <a:solidFill>
                  <a:srgbClr val="1A1A1A"/>
                </a:solidFill>
                <a:latin typeface="Georgia" pitchFamily="34" charset="0"/>
                <a:ea typeface="Georgia" pitchFamily="34" charset="-122"/>
                <a:cs typeface="Georgia" pitchFamily="34" charset="-120"/>
              </a:rPr>
              <a:t>Thank</a:t>
            </a:r>
            <a:endParaRPr lang="en-US" sz="13000" dirty="0"/>
          </a:p>
        </p:txBody>
      </p:sp>
      <p:sp>
        <p:nvSpPr>
          <p:cNvPr id="5" name="Text 3"/>
          <p:cNvSpPr/>
          <p:nvPr/>
        </p:nvSpPr>
        <p:spPr>
          <a:xfrm>
            <a:off x="640080" y="3108960"/>
            <a:ext cx="8229600" cy="1645920"/>
          </a:xfrm>
          <a:prstGeom prst="rect">
            <a:avLst/>
          </a:prstGeom>
          <a:noFill/>
          <a:ln/>
        </p:spPr>
        <p:txBody>
          <a:bodyPr wrap="square" rtlCol="0" anchor="ctr"/>
          <a:lstStyle/>
          <a:p>
            <a:pPr marL="0" indent="0">
              <a:buNone/>
            </a:pPr>
            <a:r>
              <a:rPr lang="en-US" sz="13000" b="1" i="1" dirty="0">
                <a:solidFill>
                  <a:srgbClr val="B85042"/>
                </a:solidFill>
                <a:latin typeface="Georgia" pitchFamily="34" charset="0"/>
                <a:ea typeface="Georgia" pitchFamily="34" charset="-122"/>
                <a:cs typeface="Georgia" pitchFamily="34" charset="-120"/>
              </a:rPr>
              <a:t>you.</a:t>
            </a:r>
            <a:endParaRPr lang="en-US" sz="13000" dirty="0"/>
          </a:p>
        </p:txBody>
      </p:sp>
      <p:sp>
        <p:nvSpPr>
          <p:cNvPr id="9" name="Text 7"/>
          <p:cNvSpPr/>
          <p:nvPr/>
        </p:nvSpPr>
        <p:spPr>
          <a:xfrm>
            <a:off x="6553048" y="5074920"/>
            <a:ext cx="5486400" cy="1463040"/>
          </a:xfrm>
          <a:prstGeom prst="rect">
            <a:avLst/>
          </a:prstGeom>
          <a:noFill/>
          <a:ln/>
        </p:spPr>
        <p:txBody>
          <a:bodyPr wrap="square" rtlCol="0" anchor="ctr"/>
          <a:lstStyle/>
          <a:p>
            <a:pPr marL="0" indent="0">
              <a:buNone/>
            </a:pPr>
            <a:r>
              <a:rPr lang="en-US" sz="2000" b="1" kern="0" spc="500" dirty="0">
                <a:solidFill>
                  <a:srgbClr val="F5EFE6"/>
                </a:solidFill>
                <a:latin typeface="Georgia" pitchFamily="34" charset="0"/>
                <a:ea typeface="Georgia" pitchFamily="34" charset="-122"/>
                <a:cs typeface="Georgia" pitchFamily="34" charset="-120"/>
              </a:rPr>
              <a:t>CEF 440  ·  TASK 2  ·  CAR FAULT DIAGNOSIS</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TotalTime>
  <Words>1160</Words>
  <Application>Microsoft Office PowerPoint</Application>
  <PresentationFormat>Widescreen</PresentationFormat>
  <Paragraphs>270</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CEF 440 — Task 2 Requirement Gathering</dc:title>
  <dc:subject>PptxGenJS Presentation</dc:subject>
  <dc:creator>PptxGenJS</dc:creator>
  <cp:lastModifiedBy>Achuo Placid</cp:lastModifiedBy>
  <cp:revision>9</cp:revision>
  <dcterms:created xsi:type="dcterms:W3CDTF">2026-04-27T07:18:12Z</dcterms:created>
  <dcterms:modified xsi:type="dcterms:W3CDTF">2026-04-27T10:54:05Z</dcterms:modified>
</cp:coreProperties>
</file>