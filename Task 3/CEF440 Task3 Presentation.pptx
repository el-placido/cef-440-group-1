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>
        <p:scale>
          <a:sx n="63" d="100"/>
          <a:sy n="63" d="100"/>
        </p:scale>
        <p:origin x="804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571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B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0160"/>
            <a:ext cx="7558851" cy="68580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371600"/>
            <a:ext cx="7558851" cy="36576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4" name="Shape 2"/>
          <p:cNvSpPr/>
          <p:nvPr/>
        </p:nvSpPr>
        <p:spPr>
          <a:xfrm>
            <a:off x="7558851" y="1371600"/>
            <a:ext cx="4632844" cy="36576"/>
          </a:xfrm>
          <a:prstGeom prst="rect">
            <a:avLst/>
          </a:prstGeom>
          <a:solidFill>
            <a:srgbClr val="E8B85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BUEA  ·  FACULTY OF ENGINEERING &amp; TECHNOLOGY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kern="0" spc="3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CEF 440  ·  ACADEMIC YEAR 2025 /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548640" y="2606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Analysis.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54864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Requirements Specification for the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40690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Application for Car Fault Diagnosis.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5760720"/>
            <a:ext cx="914400" cy="0"/>
          </a:xfrm>
          <a:prstGeom prst="line">
            <a:avLst/>
          </a:prstGeom>
          <a:noFill/>
          <a:ln w="19050">
            <a:solidFill>
              <a:srgbClr val="C894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585216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1 Department of Computer Engineering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016051" y="1691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600" dirty="0">
                <a:solidFill>
                  <a:srgbClr val="E8B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16051" y="1920240"/>
            <a:ext cx="41148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0" dirty="0"/>
          </a:p>
        </p:txBody>
      </p:sp>
      <p:sp>
        <p:nvSpPr>
          <p:cNvPr id="16" name="Text 14"/>
          <p:cNvSpPr/>
          <p:nvPr/>
        </p:nvSpPr>
        <p:spPr>
          <a:xfrm>
            <a:off x="8016051" y="4521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16051" y="4846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Sub-tasks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016051" y="51206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Review &amp; analyse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16051" y="53492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Inconsistencies &amp; gaps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016051" y="55778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Prioritisation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16051" y="58064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Classification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016051" y="6035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SRS development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016051" y="62636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Validation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1887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E8B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162495" y="11887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CEF 440  ·  TASK 3  ·  CAR FAULT DIAGNOSIS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6492240"/>
            <a:ext cx="11277295" cy="0"/>
          </a:xfrm>
          <a:prstGeom prst="line">
            <a:avLst/>
          </a:prstGeom>
          <a:noFill/>
          <a:ln w="6350">
            <a:solidFill>
              <a:srgbClr val="1B2B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277295" y="653796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BUEA  ·  FET  ·  COMPUTER ENGINEERING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9144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INSIDE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sub-tasks. One specification.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548640" cy="54864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4688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246888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Analysis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276148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Completeness, clarity, feasibility, dependencies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3108960"/>
            <a:ext cx="548640" cy="54864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1089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310896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Inconsistencies &amp; Gaps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80160" y="340156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Reconciling contradictions and filling missing requirements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548640" cy="54864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749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80160" y="374904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Prioritisation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80160" y="404164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MoSCoW-based ranking of importance and feasibility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48640" y="4389120"/>
            <a:ext cx="548640" cy="54864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389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80160" y="438912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280160" y="468172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and non-functional requirements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548640" y="5029200"/>
            <a:ext cx="548640" cy="54864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5029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80160" y="502920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SRS Development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280160" y="532180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830-style specification with acceptance criteria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548640" y="5669280"/>
            <a:ext cx="548640" cy="54864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56692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80160" y="566928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280160" y="5961888"/>
            <a:ext cx="10058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Walkthrough, prototype review and stakeholder sign-off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1887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E8B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TASK 2 TO TASK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162495" y="11887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CEF 440  ·  TASK 3  ·  CAR FAULT DIAGNOSIS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6492240"/>
            <a:ext cx="11277295" cy="0"/>
          </a:xfrm>
          <a:prstGeom prst="line">
            <a:avLst/>
          </a:prstGeom>
          <a:noFill/>
          <a:ln w="6350">
            <a:solidFill>
              <a:srgbClr val="1B2B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277295" y="653796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BUEA  ·  FET  ·  COMPUTER ENGINEERING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9144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requirements. Now we analyse them.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48640" y="22860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TASK 2 PRODUCED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724912"/>
            <a:ext cx="91440" cy="91440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6060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valid survey responses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090672"/>
            <a:ext cx="91440" cy="91440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971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interviews (6 mechanics, 10 drivers)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456432"/>
            <a:ext cx="91440" cy="91440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3375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garage observation sessions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822192"/>
            <a:ext cx="91440" cy="91440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7033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functional and non-functional needs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187952"/>
            <a:ext cx="91440" cy="91440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069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for ML components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943600" y="384048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0" y="22860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TASK 3 WILL PRODUCE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858000" y="2724912"/>
            <a:ext cx="91440" cy="9144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24" name="Text 22"/>
          <p:cNvSpPr/>
          <p:nvPr/>
        </p:nvSpPr>
        <p:spPr>
          <a:xfrm>
            <a:off x="7086600" y="26060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and reconciled requirements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858000" y="3090672"/>
            <a:ext cx="91440" cy="9144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26" name="Text 24"/>
          <p:cNvSpPr/>
          <p:nvPr/>
        </p:nvSpPr>
        <p:spPr>
          <a:xfrm>
            <a:off x="7086600" y="2971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Prioritised backlog (MoSCoW)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858000" y="3456432"/>
            <a:ext cx="91440" cy="9144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28" name="Text 26"/>
          <p:cNvSpPr/>
          <p:nvPr/>
        </p:nvSpPr>
        <p:spPr>
          <a:xfrm>
            <a:off x="7086600" y="33375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vs non-functional split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858000" y="3822192"/>
            <a:ext cx="91440" cy="9144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30" name="Text 28"/>
          <p:cNvSpPr/>
          <p:nvPr/>
        </p:nvSpPr>
        <p:spPr>
          <a:xfrm>
            <a:off x="7086600" y="37033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SRS in IEEE 830 form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858000" y="4187952"/>
            <a:ext cx="91440" cy="9144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32" name="Text 30"/>
          <p:cNvSpPr/>
          <p:nvPr/>
        </p:nvSpPr>
        <p:spPr>
          <a:xfrm>
            <a:off x="7086600" y="4069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sign-off matrix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B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14400"/>
            <a:ext cx="12191695" cy="36576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0"/>
            <a:ext cx="12191695" cy="36576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5486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0" b="1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0" dirty="0"/>
          </a:p>
        </p:txBody>
      </p:sp>
      <p:sp>
        <p:nvSpPr>
          <p:cNvPr id="5" name="Text 3"/>
          <p:cNvSpPr/>
          <p:nvPr/>
        </p:nvSpPr>
        <p:spPr>
          <a:xfrm>
            <a:off x="5943600" y="23774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E8B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0" y="274320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Analysis.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943600" y="429768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lenses on every requirement: completeness, clarity, feasibility, dependency.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1887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E8B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REVIEW &amp; ANALYSIS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162495" y="11887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CEF 440  ·  TASK 3  ·  CAR FAULT DIAGNOSIS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6492240"/>
            <a:ext cx="11277295" cy="0"/>
          </a:xfrm>
          <a:prstGeom prst="line">
            <a:avLst/>
          </a:prstGeom>
          <a:noFill/>
          <a:ln w="6350">
            <a:solidFill>
              <a:srgbClr val="1B2B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277295" y="653796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BUEA  ·  FET  ·  COMPUTER ENGINEERING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9144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QUALITY LENSES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2446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audited every requirement.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548640" y="2286000"/>
            <a:ext cx="5394960" cy="18288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286000"/>
            <a:ext cx="73152" cy="182880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4231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" y="278892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at least one requirement cover every concern raised in Task 2?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338328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gaps found and filled — graceful degradation, diagnosis sharing, maintenance reminders.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309360" y="2286000"/>
            <a:ext cx="5394960" cy="18288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16" name="Shape 14"/>
          <p:cNvSpPr/>
          <p:nvPr/>
        </p:nvSpPr>
        <p:spPr>
          <a:xfrm>
            <a:off x="6309360" y="2286000"/>
            <a:ext cx="73152" cy="182880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4231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278892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each requirement a single declarative sentence with measurable thresholds?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83680" y="338328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terms like 'fast' and 'easy' replaced with concrete targets.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389120"/>
            <a:ext cx="5394960" cy="18288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389120"/>
            <a:ext cx="73152" cy="182880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5262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2960" y="48920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Algorithmic, platform and resource — can we actually deliver this?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22960" y="548640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 interviews validated the audio-classification approach; constraints translated into NFRs.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309360" y="4389120"/>
            <a:ext cx="5394960" cy="18288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26" name="Shape 24"/>
          <p:cNvSpPr/>
          <p:nvPr/>
        </p:nvSpPr>
        <p:spPr>
          <a:xfrm>
            <a:off x="6309360" y="4389120"/>
            <a:ext cx="73152" cy="182880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0" y="45262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83680" y="489204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requirements rely on others being satisfied first?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83680" y="548640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map drives implementation ordering; documented in the SRS.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1887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E8B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REVIEW &amp; ANALYSIS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162495" y="11887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CEF 440  ·  TASK 3  ·  CAR FAULT DIAGNOSIS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6492240"/>
            <a:ext cx="11277295" cy="0"/>
          </a:xfrm>
          <a:prstGeom prst="line">
            <a:avLst/>
          </a:prstGeom>
          <a:noFill/>
          <a:ln w="6350">
            <a:solidFill>
              <a:srgbClr val="1B2B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277295" y="653796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BUEA  ·  FET  ·  COMPUTER ENGINEERING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9144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MAP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depends on what.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2743200" y="3154680"/>
            <a:ext cx="2286000" cy="914400"/>
          </a:xfrm>
          <a:prstGeom prst="line">
            <a:avLst/>
          </a:prstGeom>
          <a:noFill/>
          <a:ln w="12700">
            <a:solidFill>
              <a:srgbClr val="5C5C5C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 flipV="1">
            <a:off x="2743200" y="4343400"/>
            <a:ext cx="2204716" cy="640080"/>
          </a:xfrm>
          <a:prstGeom prst="line">
            <a:avLst/>
          </a:prstGeom>
          <a:noFill/>
          <a:ln w="12700">
            <a:solidFill>
              <a:srgbClr val="5C5C5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858000" y="4069080"/>
            <a:ext cx="1828800" cy="0"/>
          </a:xfrm>
          <a:prstGeom prst="line">
            <a:avLst/>
          </a:prstGeom>
          <a:noFill/>
          <a:ln w="12700">
            <a:solidFill>
              <a:srgbClr val="5C5C5C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858000" y="4069080"/>
            <a:ext cx="1828800" cy="0"/>
          </a:xfrm>
          <a:prstGeom prst="line">
            <a:avLst/>
          </a:prstGeom>
          <a:noFill/>
          <a:ln w="12700">
            <a:solidFill>
              <a:srgbClr val="5C5C5C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flipH="1">
            <a:off x="10149840" y="4069080"/>
            <a:ext cx="365760" cy="941832"/>
          </a:xfrm>
          <a:prstGeom prst="line">
            <a:avLst/>
          </a:prstGeom>
          <a:noFill/>
          <a:ln w="12700">
            <a:solidFill>
              <a:srgbClr val="5C5C5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14400" y="2743200"/>
            <a:ext cx="1828800" cy="82296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27432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FR-01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classifier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4400" y="4572000"/>
            <a:ext cx="1828800" cy="82296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5720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FR-02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classifier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029200" y="3657600"/>
            <a:ext cx="1828800" cy="822960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0" y="36576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FR-04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explanation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686800" y="2286000"/>
            <a:ext cx="1828800" cy="822960"/>
          </a:xfrm>
          <a:prstGeom prst="rect">
            <a:avLst/>
          </a:prstGeom>
          <a:solidFill>
            <a:srgbClr val="2E4373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0" y="22860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FR-05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tutorial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3657600"/>
            <a:ext cx="1828800" cy="822960"/>
          </a:xfrm>
          <a:prstGeom prst="rect">
            <a:avLst/>
          </a:prstGeom>
          <a:solidFill>
            <a:srgbClr val="2E4373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0" y="365760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FR-06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history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778240" y="4869180"/>
            <a:ext cx="1828800" cy="822960"/>
          </a:xfrm>
          <a:prstGeom prst="rect">
            <a:avLst/>
          </a:prstGeom>
          <a:solidFill>
            <a:srgbClr val="2E4373"/>
          </a:solidFill>
          <a:ln/>
        </p:spPr>
      </p:sp>
      <p:sp>
        <p:nvSpPr>
          <p:cNvPr id="26" name="Text 24"/>
          <p:cNvSpPr/>
          <p:nvPr/>
        </p:nvSpPr>
        <p:spPr>
          <a:xfrm>
            <a:off x="8737295" y="486918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FR-07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diagnosis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5715000"/>
            <a:ext cx="228600" cy="22860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28" name="Text 26"/>
          <p:cNvSpPr/>
          <p:nvPr/>
        </p:nvSpPr>
        <p:spPr>
          <a:xfrm>
            <a:off x="868680" y="5669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 (input/classifier)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480560" y="5715000"/>
            <a:ext cx="228600" cy="228600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30" name="Text 28"/>
          <p:cNvSpPr/>
          <p:nvPr/>
        </p:nvSpPr>
        <p:spPr>
          <a:xfrm>
            <a:off x="4800600" y="5669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 (presentation)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412480" y="5715000"/>
            <a:ext cx="228600" cy="228600"/>
          </a:xfrm>
          <a:prstGeom prst="rect">
            <a:avLst/>
          </a:prstGeom>
          <a:solidFill>
            <a:srgbClr val="2E4373"/>
          </a:solidFill>
          <a:ln/>
        </p:spPr>
      </p:sp>
      <p:sp>
        <p:nvSpPr>
          <p:cNvPr id="32" name="Text 30"/>
          <p:cNvSpPr/>
          <p:nvPr/>
        </p:nvSpPr>
        <p:spPr>
          <a:xfrm>
            <a:off x="8732520" y="5669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</a:t>
            </a: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(downstream features)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B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14400"/>
            <a:ext cx="12191695" cy="36576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0"/>
            <a:ext cx="12191695" cy="36576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5486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0" b="1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0" dirty="0"/>
          </a:p>
        </p:txBody>
      </p:sp>
      <p:sp>
        <p:nvSpPr>
          <p:cNvPr id="5" name="Text 3"/>
          <p:cNvSpPr/>
          <p:nvPr/>
        </p:nvSpPr>
        <p:spPr>
          <a:xfrm>
            <a:off x="5943600" y="23774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600" dirty="0">
                <a:solidFill>
                  <a:srgbClr val="E8B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0" y="274320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Inconsistencies &amp; Gaps.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943600" y="4297680"/>
            <a:ext cx="6339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elicited material disagreed with itself, and what was missing entirely.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1887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E8B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INCONSISTENCIES &amp; GAPS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162495" y="11887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CEF 440  ·  TASK 3  ·  CAR FAULT DIAGNOSIS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6492240"/>
            <a:ext cx="11277295" cy="0"/>
          </a:xfrm>
          <a:prstGeom prst="line">
            <a:avLst/>
          </a:prstGeom>
          <a:noFill/>
          <a:ln w="6350">
            <a:solidFill>
              <a:srgbClr val="1B2B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277295" y="653796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BUEA  ·  FET  ·  COMPUTER ENGINEERING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9144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5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FOUND, WHAT WE FIXED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Reconciling the requirement set.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548640" y="2103120"/>
            <a:ext cx="3749040" cy="41148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1031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500" dirty="0">
                <a:solidFill>
                  <a:srgbClr val="E8B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INCONSISTENCIES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2514600"/>
            <a:ext cx="3749040" cy="36576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6517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expectations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92608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 wanted &lt; 3 s, 44% accepted 3-5 s. Reconciled to a single 5 s ceiling, with a soft 3 s target for the dashboard scan.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3611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vs updated content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388620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 want offline; users also want fresh content. Split into offline core + optional online layer.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480560" y="2103120"/>
            <a:ext cx="3749040" cy="41148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18" name="Text 16"/>
          <p:cNvSpPr/>
          <p:nvPr/>
        </p:nvSpPr>
        <p:spPr>
          <a:xfrm>
            <a:off x="4480560" y="21031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500" dirty="0">
                <a:solidFill>
                  <a:srgbClr val="E8B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AMBIGUITIES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480560" y="2514600"/>
            <a:ext cx="3749040" cy="36576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6517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diagnosis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292608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as top-1 ≥ 70% and top-3 ≥ 90% on the evaluation set.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63440" y="3611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language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663440" y="388620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Replaced with Flesch-Kincaid grade ≤ 8 by default, with optional technical view.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63440" y="45720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Urgency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663440" y="484632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Collapsed into LOW / MEDIUM / HIGH with explicit definitions.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412480" y="2103120"/>
            <a:ext cx="3749040" cy="41148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1031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500" dirty="0">
                <a:solidFill>
                  <a:srgbClr val="E8B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412480" y="2514600"/>
            <a:ext cx="3749040" cy="36576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29" name="Text 27"/>
          <p:cNvSpPr/>
          <p:nvPr/>
        </p:nvSpPr>
        <p:spPr>
          <a:xfrm>
            <a:off x="8595360" y="26517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denial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595360" y="292608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FR-08 graceful degradation.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595360" y="361188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595360" y="388620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NFR-05 on-device processing by default.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595360" y="45720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API floor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595360" y="484632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NFR-08 (Android 8.0+).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595360" y="55321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coverage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595360" y="5806440"/>
            <a:ext cx="33832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NFR-09 with French hooks.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B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14400"/>
            <a:ext cx="12191695" cy="36576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0"/>
            <a:ext cx="12191695" cy="36576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5486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0" b="1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0" dirty="0"/>
          </a:p>
        </p:txBody>
      </p:sp>
      <p:sp>
        <p:nvSpPr>
          <p:cNvPr id="5" name="Text 3"/>
          <p:cNvSpPr/>
          <p:nvPr/>
        </p:nvSpPr>
        <p:spPr>
          <a:xfrm>
            <a:off x="5943600" y="23774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kern="0" spc="600" dirty="0">
                <a:solidFill>
                  <a:srgbClr val="E8B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43600" y="274320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Prioritisation.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943600" y="4251960"/>
            <a:ext cx="652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MoSCoW: which requirements ship in this release, and which wait for the next.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1887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E8B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PRIORITISATION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162495" y="11887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CEF 440  ·  TASK 3  ·  CAR FAULT DIAGNOSIS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6492240"/>
            <a:ext cx="11277295" cy="0"/>
          </a:xfrm>
          <a:prstGeom prst="line">
            <a:avLst/>
          </a:prstGeom>
          <a:noFill/>
          <a:ln w="6350">
            <a:solidFill>
              <a:srgbClr val="1B2B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277295" y="653796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BUEA  ·  FET  ·  COMPUTER ENGINEERING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9144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kern="0" spc="5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MoSCoW METHOD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by Importance and Feasibility.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48640" y="2103120"/>
            <a:ext cx="2788920" cy="64008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1488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48640" y="2468880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requirements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2788920" cy="36576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288036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FR-01 Image classifier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33832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FR-02 Audio classifier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38862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FR-04 Display explanation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FR-06 Local history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489204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NFR-01 Offline operation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31520" y="539496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NFR-03 ≤ 5s latency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1520" y="58978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NFR-04 Simple UI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474720" y="2103120"/>
            <a:ext cx="2788920" cy="640080"/>
          </a:xfrm>
          <a:prstGeom prst="rect">
            <a:avLst/>
          </a:prstGeom>
          <a:solidFill>
            <a:srgbClr val="2E4373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0" y="21488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474720" y="2468880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requirements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474720" y="2743200"/>
            <a:ext cx="2788920" cy="36576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0" y="288036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FR-05 Video tutorials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657600" y="33832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FR-07 Share diagnosis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657600" y="38862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FR-08 Graceful degradation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657600" y="438912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NFR-05 On-device privacy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657600" y="489204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NFR-06 Update capability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400800" y="2103120"/>
            <a:ext cx="2788920" cy="640080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21488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400800" y="2468880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requirements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400800" y="2743200"/>
            <a:ext cx="2788920" cy="36576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34" name="Text 32"/>
          <p:cNvSpPr/>
          <p:nvPr/>
        </p:nvSpPr>
        <p:spPr>
          <a:xfrm>
            <a:off x="6583680" y="288036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FR-09 Maintenance reminders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583680" y="33832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FR-10 Voice input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583680" y="38862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NFR-09 French localisation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326880" y="2103120"/>
            <a:ext cx="2788920" cy="640080"/>
          </a:xfrm>
          <a:prstGeom prst="rect">
            <a:avLst/>
          </a:prstGeom>
          <a:solidFill>
            <a:srgbClr val="5C5C5C"/>
          </a:solidFill>
          <a:ln/>
        </p:spPr>
      </p:sp>
      <p:sp>
        <p:nvSpPr>
          <p:cNvPr id="38" name="Text 36"/>
          <p:cNvSpPr/>
          <p:nvPr/>
        </p:nvSpPr>
        <p:spPr>
          <a:xfrm>
            <a:off x="9326880" y="2148840"/>
            <a:ext cx="2788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kern="0" spc="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WON'T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9326880" y="2468880"/>
            <a:ext cx="2788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requirements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326880" y="2743200"/>
            <a:ext cx="2788920" cy="36576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41" name="Text 39"/>
          <p:cNvSpPr/>
          <p:nvPr/>
        </p:nvSpPr>
        <p:spPr>
          <a:xfrm>
            <a:off x="9509760" y="288036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FR-11 Live mechanic chat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509760" y="338328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FR-12 OBD-II hardware integration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B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14400"/>
            <a:ext cx="12191695" cy="36576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0"/>
            <a:ext cx="12191695" cy="36576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5486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0" b="1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0" dirty="0"/>
          </a:p>
        </p:txBody>
      </p:sp>
      <p:sp>
        <p:nvSpPr>
          <p:cNvPr id="5" name="Text 3"/>
          <p:cNvSpPr/>
          <p:nvPr/>
        </p:nvSpPr>
        <p:spPr>
          <a:xfrm>
            <a:off x="5943600" y="23774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kern="0" spc="600" dirty="0">
                <a:solidFill>
                  <a:srgbClr val="E8B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43600" y="274320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943600" y="429768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capabilities versus quality constraints.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1887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E8B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CLASSIFICATION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162495" y="11887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CEF 440  ·  TASK 3  ·  CAR FAULT DIAGNOSIS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6492240"/>
            <a:ext cx="11277295" cy="0"/>
          </a:xfrm>
          <a:prstGeom prst="line">
            <a:avLst/>
          </a:prstGeom>
          <a:noFill/>
          <a:ln w="6350">
            <a:solidFill>
              <a:srgbClr val="1B2B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277295" y="653796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BUEA  ·  FET  ·  COMPUTER ENGINEERING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9144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vs NON-FUNCTIONAL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does. How it must behave.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 ·  10 requirements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834640"/>
            <a:ext cx="73152" cy="274320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743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capture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606040" y="27432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image, microphone audio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246120"/>
            <a:ext cx="73152" cy="274320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1546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606040" y="31546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 symbols + fault categories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73152" cy="274320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3566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606040" y="3566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Explanation, urgency, recommended action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069080"/>
            <a:ext cx="73152" cy="274320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3977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606040" y="39776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Expert-verified videos per fault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480560"/>
            <a:ext cx="73152" cy="274320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43891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2606040" y="43891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diagnostic record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892040"/>
            <a:ext cx="73152" cy="274320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48006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606040" y="48006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WhatsApp, SMS, e-mail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5303520"/>
            <a:ext cx="73152" cy="274320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31" name="Text 29"/>
          <p:cNvSpPr/>
          <p:nvPr/>
        </p:nvSpPr>
        <p:spPr>
          <a:xfrm>
            <a:off x="777240" y="52120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606040" y="52120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degradation on bad input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6263640" y="2103120"/>
            <a:ext cx="5486400" cy="548640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34" name="Text 32"/>
          <p:cNvSpPr/>
          <p:nvPr/>
        </p:nvSpPr>
        <p:spPr>
          <a:xfrm>
            <a:off x="6263640" y="210312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 ·  10 requirements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263640" y="2834640"/>
            <a:ext cx="73152" cy="27432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36" name="Text 34"/>
          <p:cNvSpPr/>
          <p:nvPr/>
        </p:nvSpPr>
        <p:spPr>
          <a:xfrm>
            <a:off x="6492240" y="2743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8321040" y="27432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 5 s end-to-end; offline core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63640" y="3246120"/>
            <a:ext cx="73152" cy="27432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39" name="Text 37"/>
          <p:cNvSpPr/>
          <p:nvPr/>
        </p:nvSpPr>
        <p:spPr>
          <a:xfrm>
            <a:off x="6492240" y="31546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31546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Icon-led; FK grade ≤ 8 default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6263640" y="3657600"/>
            <a:ext cx="73152" cy="27432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42" name="Text 40"/>
          <p:cNvSpPr/>
          <p:nvPr/>
        </p:nvSpPr>
        <p:spPr>
          <a:xfrm>
            <a:off x="6492240" y="3566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321040" y="356616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 ≥ 70%, Top-3 ≥ 90%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263640" y="4069080"/>
            <a:ext cx="73152" cy="27432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45" name="Text 43"/>
          <p:cNvSpPr/>
          <p:nvPr/>
        </p:nvSpPr>
        <p:spPr>
          <a:xfrm>
            <a:off x="6492240" y="3977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8321040" y="397764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8.0+; ≤ 80 MB APK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263640" y="4480560"/>
            <a:ext cx="73152" cy="27432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48" name="Text 46"/>
          <p:cNvSpPr/>
          <p:nvPr/>
        </p:nvSpPr>
        <p:spPr>
          <a:xfrm>
            <a:off x="6492240" y="43891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8321040" y="438912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by default; opt-in sharing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6263640" y="4892040"/>
            <a:ext cx="73152" cy="27432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51" name="Text 49"/>
          <p:cNvSpPr/>
          <p:nvPr/>
        </p:nvSpPr>
        <p:spPr>
          <a:xfrm>
            <a:off x="6492240" y="48006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Maintainability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8321040" y="480060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 updatable components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263640" y="5303520"/>
            <a:ext cx="73152" cy="27432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54" name="Text 52"/>
          <p:cNvSpPr/>
          <p:nvPr/>
        </p:nvSpPr>
        <p:spPr>
          <a:xfrm>
            <a:off x="6492240" y="52120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Localisation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8321040" y="5212080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at launch, French hooks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B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14400"/>
            <a:ext cx="12191695" cy="36576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0"/>
            <a:ext cx="12191695" cy="36576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5486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0" b="1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8000" dirty="0"/>
          </a:p>
        </p:txBody>
      </p:sp>
      <p:sp>
        <p:nvSpPr>
          <p:cNvPr id="5" name="Text 3"/>
          <p:cNvSpPr/>
          <p:nvPr/>
        </p:nvSpPr>
        <p:spPr>
          <a:xfrm>
            <a:off x="5943600" y="23774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kern="0" spc="600" dirty="0">
                <a:solidFill>
                  <a:srgbClr val="E8B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43600" y="274320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SRS Development.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673600" y="4352544"/>
            <a:ext cx="766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830 specification; every requirement with ID, priority, source, dependencies and acceptance criteria.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1887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E8B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SRS DEVELOPMENT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162495" y="11887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CEF 440  ·  TASK 3  ·  CAR FAULT DIAGNOSIS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6492240"/>
            <a:ext cx="11277295" cy="0"/>
          </a:xfrm>
          <a:prstGeom prst="line">
            <a:avLst/>
          </a:prstGeom>
          <a:noFill/>
          <a:ln w="6350">
            <a:solidFill>
              <a:srgbClr val="1B2B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277295" y="653796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BUEA  ·  FET  ·  COMPUTER ENGINEERING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9144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5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FUNCTIONAL REQUIREMENTS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requirement is specified.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548640" y="2103120"/>
            <a:ext cx="822960" cy="41148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10312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371600" y="2103120"/>
            <a:ext cx="5852160" cy="41148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2103120"/>
            <a:ext cx="5852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223760" y="2103120"/>
            <a:ext cx="1097280" cy="41148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15" name="Text 13"/>
          <p:cNvSpPr/>
          <p:nvPr/>
        </p:nvSpPr>
        <p:spPr>
          <a:xfrm>
            <a:off x="7223760" y="2103120"/>
            <a:ext cx="1097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321040" y="2103120"/>
            <a:ext cx="1371600" cy="41148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210312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DEPENDS ON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692640" y="2103120"/>
            <a:ext cx="2011680" cy="41148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19" name="Text 17"/>
          <p:cNvSpPr/>
          <p:nvPr/>
        </p:nvSpPr>
        <p:spPr>
          <a:xfrm>
            <a:off x="9692640" y="21031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2514600"/>
            <a:ext cx="82296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25146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FR-01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371600" y="2514600"/>
            <a:ext cx="585216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23" name="Text 21"/>
          <p:cNvSpPr/>
          <p:nvPr/>
        </p:nvSpPr>
        <p:spPr>
          <a:xfrm>
            <a:off x="1417320" y="25146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shall capture a dashboard image and identify warning symbols within it.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23760" y="2514600"/>
            <a:ext cx="109728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25" name="Text 23"/>
          <p:cNvSpPr/>
          <p:nvPr/>
        </p:nvSpPr>
        <p:spPr>
          <a:xfrm>
            <a:off x="7269480" y="25146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321040" y="2514600"/>
            <a:ext cx="137160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27" name="Text 25"/>
          <p:cNvSpPr/>
          <p:nvPr/>
        </p:nvSpPr>
        <p:spPr>
          <a:xfrm>
            <a:off x="8366760" y="25146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9692640" y="2514600"/>
            <a:ext cx="201168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29" name="Text 27"/>
          <p:cNvSpPr/>
          <p:nvPr/>
        </p:nvSpPr>
        <p:spPr>
          <a:xfrm>
            <a:off x="9738360" y="25146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 ≥ 70%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2971800"/>
            <a:ext cx="82296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" y="29718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FR-02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371600" y="2971800"/>
            <a:ext cx="585216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29718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shall record an engine sound and classify it into a known fault category.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223760" y="2971800"/>
            <a:ext cx="109728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35" name="Text 33"/>
          <p:cNvSpPr/>
          <p:nvPr/>
        </p:nvSpPr>
        <p:spPr>
          <a:xfrm>
            <a:off x="7269480" y="29718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8321040" y="2971800"/>
            <a:ext cx="137160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37" name="Text 35"/>
          <p:cNvSpPr/>
          <p:nvPr/>
        </p:nvSpPr>
        <p:spPr>
          <a:xfrm>
            <a:off x="8366760" y="29718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692640" y="2971800"/>
            <a:ext cx="201168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39" name="Text 37"/>
          <p:cNvSpPr/>
          <p:nvPr/>
        </p:nvSpPr>
        <p:spPr>
          <a:xfrm>
            <a:off x="9738360" y="29718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 ≥ 65%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548640" y="3429000"/>
            <a:ext cx="82296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41" name="Text 39"/>
          <p:cNvSpPr/>
          <p:nvPr/>
        </p:nvSpPr>
        <p:spPr>
          <a:xfrm>
            <a:off x="594360" y="34290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FR-04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1371600" y="3429000"/>
            <a:ext cx="585216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43" name="Text 41"/>
          <p:cNvSpPr/>
          <p:nvPr/>
        </p:nvSpPr>
        <p:spPr>
          <a:xfrm>
            <a:off x="1417320" y="34290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shall display, per fault, a plain-language explanation, urgency and recommended action.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7223760" y="3429000"/>
            <a:ext cx="109728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45" name="Text 43"/>
          <p:cNvSpPr/>
          <p:nvPr/>
        </p:nvSpPr>
        <p:spPr>
          <a:xfrm>
            <a:off x="7269480" y="34290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8321040" y="3429000"/>
            <a:ext cx="137160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47" name="Text 45"/>
          <p:cNvSpPr/>
          <p:nvPr/>
        </p:nvSpPr>
        <p:spPr>
          <a:xfrm>
            <a:off x="8366760" y="34290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FR-01, FR-02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9692640" y="3429000"/>
            <a:ext cx="201168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49" name="Text 47"/>
          <p:cNvSpPr/>
          <p:nvPr/>
        </p:nvSpPr>
        <p:spPr>
          <a:xfrm>
            <a:off x="9738360" y="34290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present for every classification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51" name="Text 49"/>
          <p:cNvSpPr/>
          <p:nvPr/>
        </p:nvSpPr>
        <p:spPr>
          <a:xfrm>
            <a:off x="594360" y="38862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FR-05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1371600" y="3886200"/>
            <a:ext cx="585216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53" name="Text 51"/>
          <p:cNvSpPr/>
          <p:nvPr/>
        </p:nvSpPr>
        <p:spPr>
          <a:xfrm>
            <a:off x="1417320" y="38862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shall link to expert-verified video tutorials when network is available.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7223760" y="3886200"/>
            <a:ext cx="109728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55" name="Text 53"/>
          <p:cNvSpPr/>
          <p:nvPr/>
        </p:nvSpPr>
        <p:spPr>
          <a:xfrm>
            <a:off x="7269480" y="38862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8321040" y="3886200"/>
            <a:ext cx="137160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57" name="Text 55"/>
          <p:cNvSpPr/>
          <p:nvPr/>
        </p:nvSpPr>
        <p:spPr>
          <a:xfrm>
            <a:off x="8366760" y="3886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FR-04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9692640" y="3886200"/>
            <a:ext cx="201168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59" name="Text 57"/>
          <p:cNvSpPr/>
          <p:nvPr/>
        </p:nvSpPr>
        <p:spPr>
          <a:xfrm>
            <a:off x="9738360" y="38862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available for ≥ 90% of faults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548640" y="4343400"/>
            <a:ext cx="82296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61" name="Text 59"/>
          <p:cNvSpPr/>
          <p:nvPr/>
        </p:nvSpPr>
        <p:spPr>
          <a:xfrm>
            <a:off x="594360" y="43434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FR-06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1371600" y="4343400"/>
            <a:ext cx="585216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63" name="Text 61"/>
          <p:cNvSpPr/>
          <p:nvPr/>
        </p:nvSpPr>
        <p:spPr>
          <a:xfrm>
            <a:off x="1417320" y="43434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shall persist a local history of diagnostic events.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7223760" y="4343400"/>
            <a:ext cx="109728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65" name="Text 63"/>
          <p:cNvSpPr/>
          <p:nvPr/>
        </p:nvSpPr>
        <p:spPr>
          <a:xfrm>
            <a:off x="7269480" y="43434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8321040" y="4343400"/>
            <a:ext cx="137160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67" name="Text 65"/>
          <p:cNvSpPr/>
          <p:nvPr/>
        </p:nvSpPr>
        <p:spPr>
          <a:xfrm>
            <a:off x="8366760" y="43434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FR-04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9692640" y="4343400"/>
            <a:ext cx="201168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69" name="Text 67"/>
          <p:cNvSpPr/>
          <p:nvPr/>
        </p:nvSpPr>
        <p:spPr>
          <a:xfrm>
            <a:off x="9738360" y="43434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events persisted across sessions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548640" y="4800600"/>
            <a:ext cx="82296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71" name="Text 69"/>
          <p:cNvSpPr/>
          <p:nvPr/>
        </p:nvSpPr>
        <p:spPr>
          <a:xfrm>
            <a:off x="594360" y="48006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FR-07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1371600" y="4800600"/>
            <a:ext cx="585216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73" name="Text 71"/>
          <p:cNvSpPr/>
          <p:nvPr/>
        </p:nvSpPr>
        <p:spPr>
          <a:xfrm>
            <a:off x="1417320" y="48006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shall share a diagnosis through external channels (WhatsApp, SMS).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7223760" y="4800600"/>
            <a:ext cx="109728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75" name="Text 73"/>
          <p:cNvSpPr/>
          <p:nvPr/>
        </p:nvSpPr>
        <p:spPr>
          <a:xfrm>
            <a:off x="7269480" y="48006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1400" dirty="0"/>
          </a:p>
        </p:txBody>
      </p:sp>
      <p:sp>
        <p:nvSpPr>
          <p:cNvPr id="76" name="Shape 74"/>
          <p:cNvSpPr/>
          <p:nvPr/>
        </p:nvSpPr>
        <p:spPr>
          <a:xfrm>
            <a:off x="8321040" y="4800600"/>
            <a:ext cx="137160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77" name="Text 75"/>
          <p:cNvSpPr/>
          <p:nvPr/>
        </p:nvSpPr>
        <p:spPr>
          <a:xfrm>
            <a:off x="8366760" y="48006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FR-04 or FR-06</a:t>
            </a:r>
            <a:endParaRPr lang="en-US" sz="1400" dirty="0"/>
          </a:p>
        </p:txBody>
      </p:sp>
      <p:sp>
        <p:nvSpPr>
          <p:cNvPr id="78" name="Shape 76"/>
          <p:cNvSpPr/>
          <p:nvPr/>
        </p:nvSpPr>
        <p:spPr>
          <a:xfrm>
            <a:off x="9692640" y="4800600"/>
            <a:ext cx="201168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79" name="Text 77"/>
          <p:cNvSpPr/>
          <p:nvPr/>
        </p:nvSpPr>
        <p:spPr>
          <a:xfrm>
            <a:off x="9738360" y="48006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succeeds via ≥ 3 native intents</a:t>
            </a:r>
            <a:endParaRPr lang="en-US" sz="1400" dirty="0"/>
          </a:p>
        </p:txBody>
      </p:sp>
      <p:sp>
        <p:nvSpPr>
          <p:cNvPr id="80" name="Shape 78"/>
          <p:cNvSpPr/>
          <p:nvPr/>
        </p:nvSpPr>
        <p:spPr>
          <a:xfrm>
            <a:off x="548640" y="5257800"/>
            <a:ext cx="82296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81" name="Text 79"/>
          <p:cNvSpPr/>
          <p:nvPr/>
        </p:nvSpPr>
        <p:spPr>
          <a:xfrm>
            <a:off x="594360" y="52578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FR-08</a:t>
            </a:r>
            <a:endParaRPr lang="en-US" sz="1400" dirty="0"/>
          </a:p>
        </p:txBody>
      </p:sp>
      <p:sp>
        <p:nvSpPr>
          <p:cNvPr id="82" name="Shape 80"/>
          <p:cNvSpPr/>
          <p:nvPr/>
        </p:nvSpPr>
        <p:spPr>
          <a:xfrm>
            <a:off x="1371600" y="5257800"/>
            <a:ext cx="585216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83" name="Text 81"/>
          <p:cNvSpPr/>
          <p:nvPr/>
        </p:nvSpPr>
        <p:spPr>
          <a:xfrm>
            <a:off x="1417320" y="52578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shall degrade gracefully on poor input or denied permissions.</a:t>
            </a:r>
            <a:endParaRPr lang="en-US" sz="1400" dirty="0"/>
          </a:p>
        </p:txBody>
      </p:sp>
      <p:sp>
        <p:nvSpPr>
          <p:cNvPr id="84" name="Shape 82"/>
          <p:cNvSpPr/>
          <p:nvPr/>
        </p:nvSpPr>
        <p:spPr>
          <a:xfrm>
            <a:off x="7223760" y="5257800"/>
            <a:ext cx="109728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85" name="Text 83"/>
          <p:cNvSpPr/>
          <p:nvPr/>
        </p:nvSpPr>
        <p:spPr>
          <a:xfrm>
            <a:off x="7269480" y="52578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8321040" y="5257800"/>
            <a:ext cx="137160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87" name="Text 85"/>
          <p:cNvSpPr/>
          <p:nvPr/>
        </p:nvSpPr>
        <p:spPr>
          <a:xfrm>
            <a:off x="8366760" y="52578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FR-01, FR-02</a:t>
            </a: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9692640" y="5257800"/>
            <a:ext cx="201168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89" name="Text 87"/>
          <p:cNvSpPr/>
          <p:nvPr/>
        </p:nvSpPr>
        <p:spPr>
          <a:xfrm>
            <a:off x="9738360" y="525780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crash; informative dialog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1887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E8B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SRS DEVELOPMENT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162495" y="11887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CEF 440  ·  TASK 3  ·  CAR FAULT DIAGNOSIS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6492240"/>
            <a:ext cx="11277295" cy="0"/>
          </a:xfrm>
          <a:prstGeom prst="line">
            <a:avLst/>
          </a:prstGeom>
          <a:noFill/>
          <a:ln w="6350">
            <a:solidFill>
              <a:srgbClr val="1B2B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277295" y="653796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BUEA  ·  FET  ·  COMPUTER ENGINEERING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914400"/>
            <a:ext cx="716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5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NON-FUNCTIONAL REQUIREMENTS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Constraints, with Measurable Thresholds.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548640" y="2103120"/>
            <a:ext cx="822960" cy="411480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10312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371600" y="2103120"/>
            <a:ext cx="5852160" cy="411480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13" name="Text 11"/>
          <p:cNvSpPr/>
          <p:nvPr/>
        </p:nvSpPr>
        <p:spPr>
          <a:xfrm>
            <a:off x="1371600" y="2103120"/>
            <a:ext cx="5852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223760" y="2103120"/>
            <a:ext cx="1097280" cy="411480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15" name="Text 13"/>
          <p:cNvSpPr/>
          <p:nvPr/>
        </p:nvSpPr>
        <p:spPr>
          <a:xfrm>
            <a:off x="7096760" y="2103120"/>
            <a:ext cx="1351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321040" y="2103120"/>
            <a:ext cx="3383280" cy="411480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17" name="Text 15"/>
          <p:cNvSpPr/>
          <p:nvPr/>
        </p:nvSpPr>
        <p:spPr>
          <a:xfrm>
            <a:off x="8321040" y="21031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2514600"/>
            <a:ext cx="82296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25146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NFR-01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371600" y="2514600"/>
            <a:ext cx="585216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25146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shall execute its core diagnostic functions without network connectivity.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223760" y="2514600"/>
            <a:ext cx="109728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23" name="Text 21"/>
          <p:cNvSpPr/>
          <p:nvPr/>
        </p:nvSpPr>
        <p:spPr>
          <a:xfrm>
            <a:off x="7269480" y="25146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321040" y="2514600"/>
            <a:ext cx="338328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25" name="Text 23"/>
          <p:cNvSpPr/>
          <p:nvPr/>
        </p:nvSpPr>
        <p:spPr>
          <a:xfrm>
            <a:off x="8366760" y="2514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flows complete in airplane mode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2971800"/>
            <a:ext cx="82296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29718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NFR-03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1371600" y="2971800"/>
            <a:ext cx="585216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29" name="Text 27"/>
          <p:cNvSpPr/>
          <p:nvPr/>
        </p:nvSpPr>
        <p:spPr>
          <a:xfrm>
            <a:off x="1417320" y="29718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shall complete a single diagnostic interaction within 5 seconds on a mid-range device.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223760" y="2971800"/>
            <a:ext cx="109728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31" name="Text 29"/>
          <p:cNvSpPr/>
          <p:nvPr/>
        </p:nvSpPr>
        <p:spPr>
          <a:xfrm>
            <a:off x="7269480" y="29718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321040" y="2971800"/>
            <a:ext cx="338328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33" name="Text 31"/>
          <p:cNvSpPr/>
          <p:nvPr/>
        </p:nvSpPr>
        <p:spPr>
          <a:xfrm>
            <a:off x="8366760" y="29718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latency ≤ 5 s on reference device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48640" y="3429000"/>
            <a:ext cx="82296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" y="34290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NFR-04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1371600" y="3429000"/>
            <a:ext cx="585216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37" name="Text 35"/>
          <p:cNvSpPr/>
          <p:nvPr/>
        </p:nvSpPr>
        <p:spPr>
          <a:xfrm>
            <a:off x="1417320" y="34290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shall provide a simple, icon-driven UI at Flesch-Kincaid grade ≤ 8.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223760" y="3429000"/>
            <a:ext cx="109728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39" name="Text 37"/>
          <p:cNvSpPr/>
          <p:nvPr/>
        </p:nvSpPr>
        <p:spPr>
          <a:xfrm>
            <a:off x="7269480" y="34290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321040" y="3429000"/>
            <a:ext cx="338328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41" name="Text 39"/>
          <p:cNvSpPr/>
          <p:nvPr/>
        </p:nvSpPr>
        <p:spPr>
          <a:xfrm>
            <a:off x="8366760" y="34290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default screens meet readability target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548640" y="3886200"/>
            <a:ext cx="82296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43" name="Text 41"/>
          <p:cNvSpPr/>
          <p:nvPr/>
        </p:nvSpPr>
        <p:spPr>
          <a:xfrm>
            <a:off x="594360" y="38862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NFR-05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1371600" y="3886200"/>
            <a:ext cx="585216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45" name="Text 43"/>
          <p:cNvSpPr/>
          <p:nvPr/>
        </p:nvSpPr>
        <p:spPr>
          <a:xfrm>
            <a:off x="1417320" y="38862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shall process camera and microphone input on-device by default.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7223760" y="3886200"/>
            <a:ext cx="109728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47" name="Text 45"/>
          <p:cNvSpPr/>
          <p:nvPr/>
        </p:nvSpPr>
        <p:spPr>
          <a:xfrm>
            <a:off x="7269480" y="38862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8321040" y="3886200"/>
            <a:ext cx="338328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49" name="Text 47"/>
          <p:cNvSpPr/>
          <p:nvPr/>
        </p:nvSpPr>
        <p:spPr>
          <a:xfrm>
            <a:off x="8366760" y="3886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outbound call before user consent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548640" y="4343400"/>
            <a:ext cx="82296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51" name="Text 49"/>
          <p:cNvSpPr/>
          <p:nvPr/>
        </p:nvSpPr>
        <p:spPr>
          <a:xfrm>
            <a:off x="594360" y="43434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NFR-06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1371600" y="4343400"/>
            <a:ext cx="585216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53" name="Text 51"/>
          <p:cNvSpPr/>
          <p:nvPr/>
        </p:nvSpPr>
        <p:spPr>
          <a:xfrm>
            <a:off x="1417320" y="43434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package shall not exceed 80 MB.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7223760" y="4343400"/>
            <a:ext cx="109728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55" name="Text 53"/>
          <p:cNvSpPr/>
          <p:nvPr/>
        </p:nvSpPr>
        <p:spPr>
          <a:xfrm>
            <a:off x="7269480" y="43434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8321040" y="4343400"/>
            <a:ext cx="338328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57" name="Text 55"/>
          <p:cNvSpPr/>
          <p:nvPr/>
        </p:nvSpPr>
        <p:spPr>
          <a:xfrm>
            <a:off x="8366760" y="4343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APK ≤ 80 MB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548640" y="4800600"/>
            <a:ext cx="82296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59" name="Text 57"/>
          <p:cNvSpPr/>
          <p:nvPr/>
        </p:nvSpPr>
        <p:spPr>
          <a:xfrm>
            <a:off x="594360" y="48006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NFR-07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1371600" y="4800600"/>
            <a:ext cx="585216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61" name="Text 59"/>
          <p:cNvSpPr/>
          <p:nvPr/>
        </p:nvSpPr>
        <p:spPr>
          <a:xfrm>
            <a:off x="1417320" y="48006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shall achieve top-1 ≥ 70% and top-3 ≥ 90% accuracy.</a:t>
            </a:r>
            <a:endParaRPr lang="en-US" sz="1400" dirty="0"/>
          </a:p>
        </p:txBody>
      </p:sp>
      <p:sp>
        <p:nvSpPr>
          <p:cNvPr id="62" name="Shape 60"/>
          <p:cNvSpPr/>
          <p:nvPr/>
        </p:nvSpPr>
        <p:spPr>
          <a:xfrm>
            <a:off x="7223760" y="4800600"/>
            <a:ext cx="109728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63" name="Text 61"/>
          <p:cNvSpPr/>
          <p:nvPr/>
        </p:nvSpPr>
        <p:spPr>
          <a:xfrm>
            <a:off x="7269480" y="48006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1400" dirty="0"/>
          </a:p>
        </p:txBody>
      </p:sp>
      <p:sp>
        <p:nvSpPr>
          <p:cNvPr id="64" name="Shape 62"/>
          <p:cNvSpPr/>
          <p:nvPr/>
        </p:nvSpPr>
        <p:spPr>
          <a:xfrm>
            <a:off x="8321040" y="4800600"/>
            <a:ext cx="3383280" cy="45720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65" name="Text 63"/>
          <p:cNvSpPr/>
          <p:nvPr/>
        </p:nvSpPr>
        <p:spPr>
          <a:xfrm>
            <a:off x="8366760" y="4800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on held-out evaluation set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548640" y="5257800"/>
            <a:ext cx="82296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67" name="Text 65"/>
          <p:cNvSpPr/>
          <p:nvPr/>
        </p:nvSpPr>
        <p:spPr>
          <a:xfrm>
            <a:off x="594360" y="52578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NFR-08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1371600" y="5257800"/>
            <a:ext cx="585216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69" name="Text 67"/>
          <p:cNvSpPr/>
          <p:nvPr/>
        </p:nvSpPr>
        <p:spPr>
          <a:xfrm>
            <a:off x="1417320" y="525780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shall run on Android 8.0 (API 26) and above.</a:t>
            </a:r>
            <a:endParaRPr lang="en-US" sz="1400" dirty="0"/>
          </a:p>
        </p:txBody>
      </p:sp>
      <p:sp>
        <p:nvSpPr>
          <p:cNvPr id="70" name="Shape 68"/>
          <p:cNvSpPr/>
          <p:nvPr/>
        </p:nvSpPr>
        <p:spPr>
          <a:xfrm>
            <a:off x="7223760" y="5257800"/>
            <a:ext cx="109728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71" name="Text 69"/>
          <p:cNvSpPr/>
          <p:nvPr/>
        </p:nvSpPr>
        <p:spPr>
          <a:xfrm>
            <a:off x="7269480" y="525780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8321040" y="5257800"/>
            <a:ext cx="3383280" cy="4572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73" name="Text 71"/>
          <p:cNvSpPr/>
          <p:nvPr/>
        </p:nvSpPr>
        <p:spPr>
          <a:xfrm>
            <a:off x="8366760" y="52578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tests pass on minimum device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B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914400"/>
            <a:ext cx="12191695" cy="36576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943600"/>
            <a:ext cx="12191695" cy="36576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5486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0" b="1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8000" dirty="0"/>
          </a:p>
        </p:txBody>
      </p:sp>
      <p:sp>
        <p:nvSpPr>
          <p:cNvPr id="5" name="Text 3"/>
          <p:cNvSpPr/>
          <p:nvPr/>
        </p:nvSpPr>
        <p:spPr>
          <a:xfrm>
            <a:off x="5943600" y="23774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kern="0" spc="600" dirty="0">
                <a:solidFill>
                  <a:srgbClr val="E8B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SIX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943600" y="274320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Validation.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943600" y="4297680"/>
            <a:ext cx="6675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F5F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Confirming with stakeholders that we are building the right product.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4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1887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500" dirty="0">
                <a:solidFill>
                  <a:srgbClr val="E8B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VALIDATION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162495" y="11887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CEF 440  ·  TASK 3  ·  CAR FAULT DIAGNOSIS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6492240"/>
            <a:ext cx="11277295" cy="0"/>
          </a:xfrm>
          <a:prstGeom prst="line">
            <a:avLst/>
          </a:prstGeom>
          <a:noFill/>
          <a:ln w="6350">
            <a:solidFill>
              <a:srgbClr val="1B2B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277295" y="6537960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5379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BUEA  ·  FET  ·  COMPUTER ENGINEERING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9144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5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METHODS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Confirmed Every Requirement.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548640" y="2103120"/>
            <a:ext cx="3703320" cy="64008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1945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463040" y="219456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2743200"/>
            <a:ext cx="3703320" cy="329184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036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3108960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requirement read aloud with its source quoted from Task 2 evidence. 2 drivers + 2 mechanics challenged ambiguous or infeasible items.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" y="470916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77240" y="49377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minor revisions: tightened FR-04, adjusted FR-01 latency target, added HIGH urgency examples.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389120" y="2103120"/>
            <a:ext cx="3703320" cy="64008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0" y="21945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303520" y="219456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Review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89120" y="2743200"/>
            <a:ext cx="3703320" cy="329184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22" name="Text 20"/>
          <p:cNvSpPr/>
          <p:nvPr/>
        </p:nvSpPr>
        <p:spPr>
          <a:xfrm>
            <a:off x="4617720" y="288036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617720" y="3108960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Low-fidelity wireframes paired with the requirements they satisfy. Five drivers from the original survey reviewed each screen.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17720" y="470916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617720" y="49377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Engine-sound flow needed clearer guidance on phone position, added to FR-02 acceptance criteria.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229600" y="2103120"/>
            <a:ext cx="3703320" cy="640080"/>
          </a:xfrm>
          <a:prstGeom prst="rect">
            <a:avLst/>
          </a:prstGeom>
          <a:solidFill>
            <a:srgbClr val="1B2B4E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0" y="2194560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9144000" y="219456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 Matrix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8229600" y="2743200"/>
            <a:ext cx="3703320" cy="3291840"/>
          </a:xfrm>
          <a:prstGeom prst="rect">
            <a:avLst/>
          </a:prstGeom>
          <a:solidFill>
            <a:srgbClr val="EBE8DF"/>
          </a:solidFill>
          <a:ln/>
        </p:spPr>
      </p:sp>
      <p:sp>
        <p:nvSpPr>
          <p:cNvPr id="30" name="Text 28"/>
          <p:cNvSpPr/>
          <p:nvPr/>
        </p:nvSpPr>
        <p:spPr>
          <a:xfrm>
            <a:off x="8458200" y="288036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458200" y="3108960"/>
            <a:ext cx="32461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requirement entered into a matrix with the validating stakeholder. Reviewed by the team members.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458200" y="4709160"/>
            <a:ext cx="3246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458200" y="49377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Must and Should items approved. Two Could items deferred and moved to possible release. Zero rejections.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B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771900"/>
            <a:ext cx="12191695" cy="3086100"/>
          </a:xfrm>
          <a:prstGeom prst="rect">
            <a:avLst/>
          </a:prstGeom>
          <a:solidFill>
            <a:srgbClr val="F5F4F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771900"/>
            <a:ext cx="12191695" cy="45720"/>
          </a:xfrm>
          <a:prstGeom prst="rect">
            <a:avLst/>
          </a:prstGeom>
          <a:solidFill>
            <a:srgbClr val="C8941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kern="0" spc="500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leave Task 3 with.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specified requirements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480560" y="182880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0" dirty="0"/>
          </a:p>
        </p:txBody>
      </p:sp>
      <p:sp>
        <p:nvSpPr>
          <p:cNvPr id="9" name="Text 7"/>
          <p:cNvSpPr/>
          <p:nvPr/>
        </p:nvSpPr>
        <p:spPr>
          <a:xfrm>
            <a:off x="4480560" y="2834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priorities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412480" y="182880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C89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0" dirty="0"/>
          </a:p>
        </p:txBody>
      </p:sp>
      <p:sp>
        <p:nvSpPr>
          <p:cNvPr id="11" name="Text 9"/>
          <p:cNvSpPr/>
          <p:nvPr/>
        </p:nvSpPr>
        <p:spPr>
          <a:xfrm>
            <a:off x="8412480" y="28346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approval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920240" y="469773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0" b="1" dirty="0">
                <a:solidFill>
                  <a:srgbClr val="1B2B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</a:t>
            </a:r>
            <a:endParaRPr lang="en-US" sz="11500" dirty="0"/>
          </a:p>
        </p:txBody>
      </p:sp>
      <p:sp>
        <p:nvSpPr>
          <p:cNvPr id="15" name="Text 13"/>
          <p:cNvSpPr/>
          <p:nvPr/>
        </p:nvSpPr>
        <p:spPr>
          <a:xfrm>
            <a:off x="8686800" y="42976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686800" y="466344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8000" dirty="0"/>
          </a:p>
        </p:txBody>
      </p:sp>
      <p:sp>
        <p:nvSpPr>
          <p:cNvPr id="17" name="Text 15"/>
          <p:cNvSpPr/>
          <p:nvPr/>
        </p:nvSpPr>
        <p:spPr>
          <a:xfrm>
            <a:off x="8686800" y="61722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CEF 440  ·  TASK 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1371</TotalTime>
  <Words>1533</Words>
  <Application>Microsoft Office PowerPoint</Application>
  <PresentationFormat>Widescreen</PresentationFormat>
  <Paragraphs>355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CEF 440 — Task 3 Requirement Analysis</dc:title>
  <dc:subject>PptxGenJS Presentation</dc:subject>
  <dc:creator>PptxGenJS</dc:creator>
  <cp:lastModifiedBy>Achuo Placid</cp:lastModifiedBy>
  <cp:revision>23</cp:revision>
  <dcterms:created xsi:type="dcterms:W3CDTF">2026-05-08T09:49:15Z</dcterms:created>
  <dcterms:modified xsi:type="dcterms:W3CDTF">2026-05-11T11:37:17Z</dcterms:modified>
</cp:coreProperties>
</file>